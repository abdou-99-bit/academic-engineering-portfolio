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1" r:id="rId4"/>
    <p:sldId id="258" r:id="rId5"/>
    <p:sldId id="259" r:id="rId6"/>
    <p:sldId id="260" r:id="rId7"/>
    <p:sldId id="269" r:id="rId8"/>
    <p:sldId id="270" r:id="rId9"/>
  </p:sldIdLst>
  <p:sldSz cx="9144000" cy="5143500" type="screen16x9"/>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42" d="100"/>
          <a:sy n="142" d="100"/>
        </p:scale>
        <p:origin x="-660" y="-102"/>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1597819"/>
            <a:ext cx="7772400" cy="1102519"/>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B4C71EC6-210F-42DE-9C53-41977AD35B3D}" type="datetimeFigureOut">
              <a:rPr lang="ru-RU" smtClean="0"/>
              <a:t>03.11.2025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B4C71EC6-210F-42DE-9C53-41977AD35B3D}" type="datetimeFigureOut">
              <a:rPr lang="ru-RU" smtClean="0"/>
              <a:t>03.11.2025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3305176"/>
            <a:ext cx="7772400" cy="1021556"/>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B4C71EC6-210F-42DE-9C53-41977AD35B3D}" type="datetimeFigureOut">
              <a:rPr lang="ru-RU" smtClean="0"/>
              <a:t>03.11.2025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B4C71EC6-210F-42DE-9C53-41977AD35B3D}" type="datetimeFigureOut">
              <a:rPr lang="ru-RU" smtClean="0"/>
              <a:t>03.11.2025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Содержимое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Содержимое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B4C71EC6-210F-42DE-9C53-41977AD35B3D}" type="datetimeFigureOut">
              <a:rPr lang="ru-RU" smtClean="0"/>
              <a:t>03.11.2025</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B4C71EC6-210F-42DE-9C53-41977AD35B3D}" type="datetimeFigureOut">
              <a:rPr lang="ru-RU" smtClean="0"/>
              <a:t>03.11.2025</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B4C71EC6-210F-42DE-9C53-41977AD35B3D}" type="datetimeFigureOut">
              <a:rPr lang="ru-RU" smtClean="0"/>
              <a:t>03.11.2025</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1" y="204787"/>
            <a:ext cx="3008313" cy="871538"/>
          </a:xfrm>
        </p:spPr>
        <p:txBody>
          <a:bodyPr anchor="b"/>
          <a:lstStyle>
            <a:lvl1pPr algn="l">
              <a:defRPr sz="2000" b="1"/>
            </a:lvl1pPr>
          </a:lstStyle>
          <a:p>
            <a:r>
              <a:rPr lang="ru-RU" smtClean="0"/>
              <a:t>Образец заголовка</a:t>
            </a:r>
            <a:endParaRPr lang="ru-RU"/>
          </a:p>
        </p:txBody>
      </p:sp>
      <p:sp>
        <p:nvSpPr>
          <p:cNvPr id="3" name="Содержимое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B4C71EC6-210F-42DE-9C53-41977AD35B3D}" type="datetimeFigureOut">
              <a:rPr lang="ru-RU" smtClean="0"/>
              <a:t>03.11.2025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3600450"/>
            <a:ext cx="5486400" cy="425054"/>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B4C71EC6-210F-42DE-9C53-41977AD35B3D}" type="datetimeFigureOut">
              <a:rPr lang="ru-RU" smtClean="0"/>
              <a:t>03.11.2025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B4C71EC6-210F-42DE-9C53-41977AD35B3D}" type="datetimeFigureOut">
              <a:rPr lang="ru-RU" smtClean="0"/>
              <a:t>03.11.2025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05979"/>
            <a:ext cx="2057400" cy="4388644"/>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05979"/>
            <a:ext cx="6019800" cy="4388644"/>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B4C71EC6-210F-42DE-9C53-41977AD35B3D}" type="datetimeFigureOut">
              <a:rPr lang="ru-RU" smtClean="0"/>
              <a:t>03.11.2025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B4C71EC6-210F-42DE-9C53-41977AD35B3D}" type="datetimeFigureOut">
              <a:rPr lang="ru-RU" smtClean="0"/>
              <a:t>03.11.2025</a:t>
            </a:fld>
            <a:endParaRPr lang="ru-RU"/>
          </a:p>
        </p:txBody>
      </p:sp>
      <p:sp>
        <p:nvSpPr>
          <p:cNvPr id="5" name="Нижний колонтитул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19B0651-EE4F-4900-A07F-96A6BFA9D0F0}" type="slidenum">
              <a:rPr lang="ru-RU" smtClean="0"/>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normAutofit/>
          </a:bodyPr>
          <a:lstStyle/>
          <a:p>
            <a:r>
              <a:rPr lang="en-US" dirty="0" smtClean="0"/>
              <a:t>SQL Selecting</a:t>
            </a:r>
            <a:r>
              <a:rPr lang="ru-RU" dirty="0" smtClean="0"/>
              <a:t>.</a:t>
            </a:r>
            <a:r>
              <a:rPr lang="en-US" dirty="0" smtClean="0"/>
              <a:t>JOIN</a:t>
            </a:r>
            <a:endParaRPr lang="en-US" dirty="0"/>
          </a:p>
        </p:txBody>
      </p:sp>
      <p:sp>
        <p:nvSpPr>
          <p:cNvPr id="3" name="Подзаголовок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418071047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95536" y="51470"/>
            <a:ext cx="8229600" cy="288032"/>
          </a:xfrm>
        </p:spPr>
        <p:txBody>
          <a:bodyPr>
            <a:noAutofit/>
          </a:bodyPr>
          <a:lstStyle/>
          <a:p>
            <a:r>
              <a:rPr lang="en-US" sz="2400" dirty="0"/>
              <a:t>INNER JOIN</a:t>
            </a: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483517"/>
            <a:ext cx="4824536" cy="4444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Рисунок 3" descr="https://ucarecdn.com/95045d96-412d-4e10-88f2-7ac6b13fada6/"/>
          <p:cNvPicPr/>
          <p:nvPr/>
        </p:nvPicPr>
        <p:blipFill>
          <a:blip r:embed="rId3">
            <a:extLst>
              <a:ext uri="{28A0092B-C50C-407E-A947-70E740481C1C}">
                <a14:useLocalDpi xmlns:a14="http://schemas.microsoft.com/office/drawing/2010/main" val="0"/>
              </a:ext>
            </a:extLst>
          </a:blip>
          <a:srcRect/>
          <a:stretch>
            <a:fillRect/>
          </a:stretch>
        </p:blipFill>
        <p:spPr bwMode="auto">
          <a:xfrm>
            <a:off x="5796136" y="1059582"/>
            <a:ext cx="2971800" cy="2733675"/>
          </a:xfrm>
          <a:prstGeom prst="rect">
            <a:avLst/>
          </a:prstGeom>
          <a:noFill/>
          <a:ln>
            <a:noFill/>
          </a:ln>
        </p:spPr>
      </p:pic>
    </p:spTree>
    <p:extLst>
      <p:ext uri="{BB962C8B-B14F-4D97-AF65-F5344CB8AC3E}">
        <p14:creationId xmlns:p14="http://schemas.microsoft.com/office/powerpoint/2010/main" val="277082112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95536" y="51470"/>
            <a:ext cx="8229600" cy="288032"/>
          </a:xfrm>
        </p:spPr>
        <p:txBody>
          <a:bodyPr>
            <a:noAutofit/>
          </a:bodyPr>
          <a:lstStyle/>
          <a:p>
            <a:r>
              <a:rPr lang="en-US" sz="2400" dirty="0"/>
              <a:t>INNER JOIN</a:t>
            </a:r>
          </a:p>
        </p:txBody>
      </p:sp>
      <p:sp>
        <p:nvSpPr>
          <p:cNvPr id="3" name="Объект 2"/>
          <p:cNvSpPr>
            <a:spLocks noGrp="1"/>
          </p:cNvSpPr>
          <p:nvPr>
            <p:ph idx="1"/>
          </p:nvPr>
        </p:nvSpPr>
        <p:spPr>
          <a:xfrm>
            <a:off x="467544" y="339502"/>
            <a:ext cx="8229600" cy="4752528"/>
          </a:xfrm>
        </p:spPr>
        <p:txBody>
          <a:bodyPr>
            <a:normAutofit fontScale="70000" lnSpcReduction="20000"/>
          </a:bodyPr>
          <a:lstStyle/>
          <a:p>
            <a:pPr marL="0" indent="0">
              <a:buNone/>
            </a:pPr>
            <a:r>
              <a:rPr lang="en-US" sz="1400" dirty="0" smtClean="0"/>
              <a:t>The </a:t>
            </a:r>
            <a:r>
              <a:rPr lang="en-US" sz="1400" dirty="0"/>
              <a:t>INNER JOIN operator combines two tables. The order of the tables in the operator is not important, as the operator is symmetric.</a:t>
            </a:r>
          </a:p>
          <a:p>
            <a:pPr marL="0" indent="0">
              <a:buNone/>
            </a:pPr>
            <a:r>
              <a:rPr lang="en-US" sz="1200" dirty="0">
                <a:solidFill>
                  <a:srgbClr val="000088"/>
                </a:solidFill>
                <a:latin typeface="JetBrains Mono"/>
              </a:rPr>
              <a:t>SELECT</a:t>
            </a:r>
            <a:r>
              <a:rPr lang="en-US" sz="1200" dirty="0">
                <a:solidFill>
                  <a:srgbClr val="000000"/>
                </a:solidFill>
                <a:latin typeface="JetBrains Mono"/>
              </a:rPr>
              <a:t> ... </a:t>
            </a:r>
            <a:endParaRPr lang="ru-RU" sz="1200" dirty="0" smtClean="0">
              <a:solidFill>
                <a:srgbClr val="000000"/>
              </a:solidFill>
              <a:latin typeface="JetBrains Mono"/>
            </a:endParaRPr>
          </a:p>
          <a:p>
            <a:pPr marL="0" indent="0">
              <a:buNone/>
            </a:pPr>
            <a:r>
              <a:rPr lang="en-US" sz="1200" dirty="0" smtClean="0">
                <a:solidFill>
                  <a:srgbClr val="000088"/>
                </a:solidFill>
                <a:latin typeface="JetBrains Mono"/>
              </a:rPr>
              <a:t>FROM</a:t>
            </a:r>
            <a:r>
              <a:rPr lang="en-US" sz="1200" dirty="0" smtClean="0">
                <a:solidFill>
                  <a:srgbClr val="000000"/>
                </a:solidFill>
                <a:latin typeface="JetBrains Mono"/>
              </a:rPr>
              <a:t> table</a:t>
            </a:r>
            <a:r>
              <a:rPr lang="ru-RU" sz="1200" dirty="0" smtClean="0">
                <a:solidFill>
                  <a:srgbClr val="000000"/>
                </a:solidFill>
                <a:latin typeface="JetBrains Mono"/>
              </a:rPr>
              <a:t>_1 </a:t>
            </a:r>
          </a:p>
          <a:p>
            <a:pPr marL="0" indent="0">
              <a:buNone/>
            </a:pPr>
            <a:r>
              <a:rPr lang="en-US" sz="1200" dirty="0" smtClean="0">
                <a:solidFill>
                  <a:srgbClr val="000088"/>
                </a:solidFill>
                <a:latin typeface="JetBrains Mono"/>
              </a:rPr>
              <a:t>INNER</a:t>
            </a:r>
            <a:r>
              <a:rPr lang="en-US" sz="1200" dirty="0" smtClean="0">
                <a:solidFill>
                  <a:srgbClr val="000000"/>
                </a:solidFill>
                <a:latin typeface="JetBrains Mono"/>
              </a:rPr>
              <a:t> </a:t>
            </a:r>
            <a:r>
              <a:rPr lang="en-US" sz="1200" dirty="0">
                <a:solidFill>
                  <a:srgbClr val="000088"/>
                </a:solidFill>
                <a:latin typeface="JetBrains Mono"/>
              </a:rPr>
              <a:t>JOIN</a:t>
            </a:r>
            <a:r>
              <a:rPr lang="en-US" sz="1200" dirty="0">
                <a:solidFill>
                  <a:srgbClr val="000000"/>
                </a:solidFill>
                <a:latin typeface="JetBrains Mono"/>
              </a:rPr>
              <a:t> </a:t>
            </a:r>
            <a:r>
              <a:rPr lang="en-US" sz="1200" dirty="0" smtClean="0">
                <a:solidFill>
                  <a:srgbClr val="000000"/>
                </a:solidFill>
                <a:latin typeface="JetBrains Mono"/>
              </a:rPr>
              <a:t>table</a:t>
            </a:r>
            <a:r>
              <a:rPr lang="ru-RU" sz="1200" dirty="0" smtClean="0">
                <a:solidFill>
                  <a:srgbClr val="000000"/>
                </a:solidFill>
                <a:latin typeface="JetBrains Mono"/>
              </a:rPr>
              <a:t>_2 </a:t>
            </a:r>
          </a:p>
          <a:p>
            <a:pPr marL="0" indent="0">
              <a:buNone/>
            </a:pPr>
            <a:r>
              <a:rPr lang="en-US" sz="1200" dirty="0" smtClean="0">
                <a:solidFill>
                  <a:srgbClr val="000088"/>
                </a:solidFill>
                <a:latin typeface="JetBrains Mono"/>
              </a:rPr>
              <a:t>ON</a:t>
            </a:r>
            <a:r>
              <a:rPr lang="en-US" sz="1200" dirty="0" smtClean="0">
                <a:solidFill>
                  <a:srgbClr val="000000"/>
                </a:solidFill>
                <a:latin typeface="JetBrains Mono"/>
              </a:rPr>
              <a:t> condition</a:t>
            </a:r>
            <a:r>
              <a:rPr lang="ru-RU" sz="1200" dirty="0" smtClean="0">
                <a:solidFill>
                  <a:srgbClr val="000000"/>
                </a:solidFill>
                <a:latin typeface="JetBrains Mono"/>
              </a:rPr>
              <a:t> </a:t>
            </a:r>
            <a:r>
              <a:rPr lang="ru-RU" sz="1200" dirty="0">
                <a:solidFill>
                  <a:srgbClr val="000000"/>
                </a:solidFill>
                <a:latin typeface="JetBrains Mono"/>
              </a:rPr>
              <a:t>... </a:t>
            </a:r>
            <a:endParaRPr lang="en-US" sz="1200" dirty="0" smtClean="0">
              <a:solidFill>
                <a:srgbClr val="000000"/>
              </a:solidFill>
              <a:latin typeface="JetBrains Mono"/>
            </a:endParaRPr>
          </a:p>
          <a:p>
            <a:endParaRPr lang="ru-RU" sz="1200" dirty="0" smtClean="0">
              <a:solidFill>
                <a:srgbClr val="000000"/>
              </a:solidFill>
              <a:latin typeface="JetBrains Mono"/>
            </a:endParaRPr>
          </a:p>
          <a:p>
            <a:pPr marL="0" indent="0">
              <a:buNone/>
            </a:pPr>
            <a:r>
              <a:rPr lang="en-US" sz="1400" dirty="0" smtClean="0"/>
              <a:t>The </a:t>
            </a:r>
            <a:r>
              <a:rPr lang="en-US" sz="1400" dirty="0"/>
              <a:t>query result is formed as follows:</a:t>
            </a:r>
          </a:p>
          <a:p>
            <a:r>
              <a:rPr lang="en-US" sz="1400" dirty="0"/>
              <a:t>Each row from one table is matched with every row from the second table;</a:t>
            </a:r>
          </a:p>
          <a:p>
            <a:r>
              <a:rPr lang="en-US" sz="1400" dirty="0"/>
              <a:t>The join condition is checked for the resulting "joined" row;</a:t>
            </a:r>
          </a:p>
          <a:p>
            <a:r>
              <a:rPr lang="en-US" sz="1400" dirty="0"/>
              <a:t>If the condition is true, the corresponding "joined" row is added to the result table.</a:t>
            </a:r>
          </a:p>
          <a:p>
            <a:pPr marL="0" indent="0">
              <a:buNone/>
            </a:pPr>
            <a:r>
              <a:rPr lang="en-US" sz="1400" b="1" dirty="0"/>
              <a:t>Example</a:t>
            </a:r>
          </a:p>
          <a:p>
            <a:pPr marL="0" indent="0">
              <a:buNone/>
            </a:pPr>
            <a:r>
              <a:rPr lang="en-US" sz="1400" dirty="0"/>
              <a:t>Retrieve the titles of books and their authors</a:t>
            </a:r>
            <a:r>
              <a:rPr lang="en-US" sz="1400" dirty="0" smtClean="0"/>
              <a:t>.</a:t>
            </a:r>
          </a:p>
          <a:p>
            <a:pPr marL="0" indent="0">
              <a:buNone/>
            </a:pPr>
            <a:endParaRPr lang="en-US" sz="1400" dirty="0"/>
          </a:p>
          <a:p>
            <a:pPr marL="0" indent="0">
              <a:buNone/>
            </a:pPr>
            <a:r>
              <a:rPr lang="en-US" sz="1200" dirty="0">
                <a:solidFill>
                  <a:srgbClr val="000088"/>
                </a:solidFill>
                <a:latin typeface="JetBrains Mono"/>
              </a:rPr>
              <a:t>SELECT</a:t>
            </a:r>
            <a:r>
              <a:rPr lang="en-US" sz="1200" dirty="0">
                <a:solidFill>
                  <a:srgbClr val="000000"/>
                </a:solidFill>
                <a:latin typeface="JetBrains Mono"/>
              </a:rPr>
              <a:t> title, </a:t>
            </a:r>
            <a:r>
              <a:rPr lang="en-US" sz="1200" dirty="0" err="1">
                <a:solidFill>
                  <a:srgbClr val="000000"/>
                </a:solidFill>
                <a:latin typeface="JetBrains Mono"/>
              </a:rPr>
              <a:t>name_author</a:t>
            </a:r>
            <a:r>
              <a:rPr lang="en-US" sz="1200" dirty="0">
                <a:solidFill>
                  <a:srgbClr val="000000"/>
                </a:solidFill>
                <a:latin typeface="JetBrains Mono"/>
              </a:rPr>
              <a:t> </a:t>
            </a:r>
            <a:endParaRPr lang="en-US" sz="1200" dirty="0" smtClean="0">
              <a:solidFill>
                <a:srgbClr val="000000"/>
              </a:solidFill>
              <a:latin typeface="JetBrains Mono"/>
            </a:endParaRPr>
          </a:p>
          <a:p>
            <a:pPr marL="0" indent="0">
              <a:buNone/>
            </a:pPr>
            <a:r>
              <a:rPr lang="en-US" sz="1200" dirty="0" smtClean="0">
                <a:solidFill>
                  <a:srgbClr val="000088"/>
                </a:solidFill>
                <a:latin typeface="JetBrains Mono"/>
              </a:rPr>
              <a:t>FROM</a:t>
            </a:r>
            <a:r>
              <a:rPr lang="en-US" sz="1200" dirty="0" smtClean="0">
                <a:solidFill>
                  <a:srgbClr val="000000"/>
                </a:solidFill>
                <a:latin typeface="JetBrains Mono"/>
              </a:rPr>
              <a:t> </a:t>
            </a:r>
            <a:r>
              <a:rPr lang="en-US" sz="1200" dirty="0">
                <a:solidFill>
                  <a:srgbClr val="000000"/>
                </a:solidFill>
                <a:latin typeface="JetBrains Mono"/>
              </a:rPr>
              <a:t>author </a:t>
            </a:r>
            <a:endParaRPr lang="en-US" sz="1200" dirty="0" smtClean="0">
              <a:solidFill>
                <a:srgbClr val="000000"/>
              </a:solidFill>
              <a:latin typeface="JetBrains Mono"/>
            </a:endParaRPr>
          </a:p>
          <a:p>
            <a:pPr marL="0" indent="0">
              <a:buNone/>
            </a:pPr>
            <a:r>
              <a:rPr lang="en-US" sz="1200" dirty="0" smtClean="0">
                <a:solidFill>
                  <a:srgbClr val="000088"/>
                </a:solidFill>
                <a:latin typeface="JetBrains Mono"/>
              </a:rPr>
              <a:t>INNER</a:t>
            </a:r>
            <a:r>
              <a:rPr lang="en-US" sz="1200" dirty="0" smtClean="0">
                <a:solidFill>
                  <a:srgbClr val="000000"/>
                </a:solidFill>
                <a:latin typeface="JetBrains Mono"/>
              </a:rPr>
              <a:t> </a:t>
            </a:r>
            <a:r>
              <a:rPr lang="en-US" sz="1200" dirty="0">
                <a:solidFill>
                  <a:srgbClr val="000088"/>
                </a:solidFill>
                <a:latin typeface="JetBrains Mono"/>
              </a:rPr>
              <a:t>JOIN</a:t>
            </a:r>
            <a:r>
              <a:rPr lang="en-US" sz="1200" dirty="0">
                <a:solidFill>
                  <a:srgbClr val="000000"/>
                </a:solidFill>
                <a:latin typeface="JetBrains Mono"/>
              </a:rPr>
              <a:t> book </a:t>
            </a:r>
            <a:endParaRPr lang="en-US" sz="1200" dirty="0" smtClean="0">
              <a:solidFill>
                <a:srgbClr val="000000"/>
              </a:solidFill>
              <a:latin typeface="JetBrains Mono"/>
            </a:endParaRPr>
          </a:p>
          <a:p>
            <a:pPr marL="0" indent="0">
              <a:buNone/>
            </a:pPr>
            <a:r>
              <a:rPr lang="en-US" sz="1200" dirty="0" smtClean="0">
                <a:solidFill>
                  <a:srgbClr val="000088"/>
                </a:solidFill>
                <a:latin typeface="JetBrains Mono"/>
              </a:rPr>
              <a:t>ON</a:t>
            </a:r>
            <a:r>
              <a:rPr lang="en-US" sz="1200" dirty="0" smtClean="0">
                <a:solidFill>
                  <a:srgbClr val="000000"/>
                </a:solidFill>
                <a:latin typeface="JetBrains Mono"/>
              </a:rPr>
              <a:t> </a:t>
            </a:r>
            <a:r>
              <a:rPr lang="en-US" sz="1200" dirty="0" err="1">
                <a:solidFill>
                  <a:srgbClr val="000000"/>
                </a:solidFill>
                <a:latin typeface="JetBrains Mono"/>
              </a:rPr>
              <a:t>author.author_id</a:t>
            </a:r>
            <a:r>
              <a:rPr lang="en-US" sz="1200" dirty="0">
                <a:solidFill>
                  <a:srgbClr val="000000"/>
                </a:solidFill>
                <a:latin typeface="JetBrains Mono"/>
              </a:rPr>
              <a:t> = </a:t>
            </a:r>
            <a:r>
              <a:rPr lang="en-US" sz="1200" dirty="0" err="1">
                <a:solidFill>
                  <a:srgbClr val="000000"/>
                </a:solidFill>
                <a:latin typeface="JetBrains Mono"/>
              </a:rPr>
              <a:t>book.author_id</a:t>
            </a:r>
            <a:r>
              <a:rPr lang="en-US" sz="1200" dirty="0" smtClean="0">
                <a:solidFill>
                  <a:srgbClr val="000000"/>
                </a:solidFill>
                <a:latin typeface="JetBrains Mono"/>
              </a:rPr>
              <a:t>;</a:t>
            </a:r>
            <a:endParaRPr lang="ru-RU" sz="1200" dirty="0" smtClean="0">
              <a:solidFill>
                <a:srgbClr val="000000"/>
              </a:solidFill>
              <a:latin typeface="JetBrains Mono"/>
            </a:endParaRPr>
          </a:p>
          <a:p>
            <a:pPr marL="0" indent="0">
              <a:buNone/>
            </a:pPr>
            <a:endParaRPr lang="ru-RU" sz="1200" dirty="0" smtClean="0">
              <a:solidFill>
                <a:srgbClr val="000000"/>
              </a:solidFill>
              <a:latin typeface="JetBrains Mono"/>
            </a:endParaRPr>
          </a:p>
          <a:p>
            <a:pPr marL="0" indent="0">
              <a:buNone/>
            </a:pPr>
            <a:r>
              <a:rPr lang="en-US" sz="1400" dirty="0"/>
              <a:t>Since the </a:t>
            </a:r>
            <a:r>
              <a:rPr lang="en-US" sz="1400" dirty="0" err="1"/>
              <a:t>author_id</a:t>
            </a:r>
            <a:r>
              <a:rPr lang="en-US" sz="1400" dirty="0"/>
              <a:t> fields in the book and author tables have the same name, it is necessary to use their fully qualified names in queries (</a:t>
            </a:r>
            <a:r>
              <a:rPr lang="en-US" sz="1400" dirty="0" err="1"/>
              <a:t>book.author_id</a:t>
            </a:r>
            <a:r>
              <a:rPr lang="en-US" sz="1400" dirty="0"/>
              <a:t> and </a:t>
            </a:r>
            <a:r>
              <a:rPr lang="en-US" sz="1400" dirty="0" err="1"/>
              <a:t>author.author_id</a:t>
            </a:r>
            <a:r>
              <a:rPr lang="en-US" sz="1400" dirty="0" smtClean="0"/>
              <a:t>).</a:t>
            </a:r>
            <a:endParaRPr lang="ru-RU" sz="1400" dirty="0" smtClean="0"/>
          </a:p>
          <a:p>
            <a:pPr marL="0" indent="0">
              <a:buNone/>
            </a:pPr>
            <a:endParaRPr lang="ru-RU" sz="1400" dirty="0" smtClean="0"/>
          </a:p>
          <a:p>
            <a:pPr marL="0" indent="0">
              <a:buNone/>
            </a:pPr>
            <a:endParaRPr lang="ru-RU" sz="1400" dirty="0"/>
          </a:p>
          <a:p>
            <a:pPr marL="0" indent="0">
              <a:buNone/>
            </a:pPr>
            <a:endParaRPr lang="ru-RU" sz="1400" dirty="0"/>
          </a:p>
          <a:p>
            <a:pPr marL="0" indent="0">
              <a:buNone/>
            </a:pPr>
            <a:endParaRPr lang="ru-RU" sz="1400" dirty="0" smtClean="0"/>
          </a:p>
          <a:p>
            <a:pPr marL="0" indent="0">
              <a:buNone/>
            </a:pPr>
            <a:endParaRPr lang="ru-RU" sz="1400" dirty="0" smtClean="0"/>
          </a:p>
          <a:p>
            <a:pPr marL="0" indent="0">
              <a:buNone/>
            </a:pPr>
            <a:endParaRPr lang="ru-RU" sz="1400" dirty="0"/>
          </a:p>
          <a:p>
            <a:pPr marL="0" indent="0">
              <a:buNone/>
            </a:pPr>
            <a:endParaRPr lang="ru-RU" sz="1400" dirty="0" smtClean="0"/>
          </a:p>
          <a:p>
            <a:pPr marL="0" indent="0">
              <a:buNone/>
            </a:pPr>
            <a:endParaRPr lang="ru-RU" sz="1400" dirty="0"/>
          </a:p>
          <a:p>
            <a:pPr marL="0" indent="0">
              <a:buNone/>
            </a:pPr>
            <a:endParaRPr lang="ru-RU" sz="1400" dirty="0"/>
          </a:p>
          <a:p>
            <a:pPr marL="0" indent="0">
              <a:buNone/>
            </a:pPr>
            <a:r>
              <a:rPr lang="en-US" sz="1400" dirty="0"/>
              <a:t/>
            </a:r>
            <a:br>
              <a:rPr lang="en-US" sz="1400" dirty="0"/>
            </a:br>
            <a:r>
              <a:rPr lang="en-US" sz="1400" dirty="0"/>
              <a:t>In this query, the primary table author is joined with the dependent table book using the key column </a:t>
            </a:r>
            <a:r>
              <a:rPr lang="en-US" sz="1400" dirty="0" err="1"/>
              <a:t>author.author_id</a:t>
            </a:r>
            <a:r>
              <a:rPr lang="en-US" sz="1400" dirty="0"/>
              <a:t> and the foreign key </a:t>
            </a:r>
            <a:r>
              <a:rPr lang="en-US" sz="1400" dirty="0" err="1"/>
              <a:t>book.author_id</a:t>
            </a:r>
            <a:r>
              <a:rPr lang="en-US" sz="1400" dirty="0"/>
              <a:t>. The result set includes all rows where the values in these columns match. In other words, the rows from the dependent table book are supplemented with the last names and initials of the authors from the author table.</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3808" y="3102652"/>
            <a:ext cx="2088232" cy="11855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282695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23478"/>
            <a:ext cx="8229600" cy="349548"/>
          </a:xfrm>
        </p:spPr>
        <p:txBody>
          <a:bodyPr>
            <a:noAutofit/>
          </a:bodyPr>
          <a:lstStyle/>
          <a:p>
            <a:r>
              <a:rPr lang="en-US" sz="2400" dirty="0"/>
              <a:t>Outer Joins LEFT and RIGHT OUTER JOIN</a:t>
            </a:r>
          </a:p>
        </p:txBody>
      </p:sp>
      <p:sp>
        <p:nvSpPr>
          <p:cNvPr id="3" name="Объект 2"/>
          <p:cNvSpPr>
            <a:spLocks noGrp="1"/>
          </p:cNvSpPr>
          <p:nvPr>
            <p:ph idx="1"/>
          </p:nvPr>
        </p:nvSpPr>
        <p:spPr>
          <a:xfrm>
            <a:off x="395536" y="555526"/>
            <a:ext cx="8229600" cy="3456384"/>
          </a:xfrm>
        </p:spPr>
        <p:txBody>
          <a:bodyPr>
            <a:noAutofit/>
          </a:bodyPr>
          <a:lstStyle/>
          <a:p>
            <a:pPr marL="0" indent="0">
              <a:buNone/>
            </a:pPr>
            <a:r>
              <a:rPr lang="en-US" sz="1000" dirty="0"/>
              <a:t>The LEFT OUTER JOIN operator (can be abbreviated as LEFT JOIN) combines two tables. The order of tables in the operator matters because the operator is not symmetric</a:t>
            </a:r>
            <a:r>
              <a:rPr lang="en-US" sz="1000" dirty="0" smtClean="0"/>
              <a:t>.</a:t>
            </a:r>
            <a:endParaRPr lang="ru-RU" sz="1000" dirty="0" smtClean="0"/>
          </a:p>
          <a:p>
            <a:pPr marL="0" indent="0">
              <a:buNone/>
            </a:pPr>
            <a:r>
              <a:rPr lang="en-US" sz="1000" dirty="0">
                <a:solidFill>
                  <a:srgbClr val="000088"/>
                </a:solidFill>
                <a:latin typeface="JetBrains Mono"/>
              </a:rPr>
              <a:t>SELECT</a:t>
            </a:r>
            <a:r>
              <a:rPr lang="en-US" sz="1000" dirty="0">
                <a:solidFill>
                  <a:srgbClr val="000000"/>
                </a:solidFill>
                <a:latin typeface="JetBrains Mono"/>
              </a:rPr>
              <a:t> ... </a:t>
            </a:r>
            <a:endParaRPr lang="ru-RU" sz="1000" dirty="0" smtClean="0">
              <a:solidFill>
                <a:srgbClr val="000000"/>
              </a:solidFill>
              <a:latin typeface="JetBrains Mono"/>
            </a:endParaRPr>
          </a:p>
          <a:p>
            <a:pPr marL="0" indent="0">
              <a:buNone/>
            </a:pPr>
            <a:r>
              <a:rPr lang="en-US" sz="1000" dirty="0" smtClean="0">
                <a:solidFill>
                  <a:srgbClr val="000088"/>
                </a:solidFill>
                <a:latin typeface="JetBrains Mono"/>
              </a:rPr>
              <a:t>FROM</a:t>
            </a:r>
            <a:r>
              <a:rPr lang="en-US" sz="1000" dirty="0" smtClean="0">
                <a:solidFill>
                  <a:srgbClr val="000000"/>
                </a:solidFill>
                <a:latin typeface="JetBrains Mono"/>
              </a:rPr>
              <a:t> </a:t>
            </a:r>
            <a:r>
              <a:rPr lang="ru-RU" sz="1000" dirty="0">
                <a:solidFill>
                  <a:srgbClr val="000000"/>
                </a:solidFill>
                <a:latin typeface="JetBrains Mono"/>
              </a:rPr>
              <a:t>таблица_1 </a:t>
            </a:r>
            <a:endParaRPr lang="ru-RU" sz="1000" dirty="0" smtClean="0">
              <a:solidFill>
                <a:srgbClr val="000000"/>
              </a:solidFill>
              <a:latin typeface="JetBrains Mono"/>
            </a:endParaRPr>
          </a:p>
          <a:p>
            <a:pPr marL="0" indent="0">
              <a:buNone/>
            </a:pPr>
            <a:r>
              <a:rPr lang="en-US" sz="1000" dirty="0" smtClean="0">
                <a:solidFill>
                  <a:srgbClr val="000088"/>
                </a:solidFill>
                <a:latin typeface="JetBrains Mono"/>
              </a:rPr>
              <a:t>LEFT</a:t>
            </a:r>
            <a:r>
              <a:rPr lang="en-US" sz="1000" dirty="0" smtClean="0">
                <a:solidFill>
                  <a:srgbClr val="000000"/>
                </a:solidFill>
                <a:latin typeface="JetBrains Mono"/>
              </a:rPr>
              <a:t> </a:t>
            </a:r>
            <a:r>
              <a:rPr lang="en-US" sz="1000" dirty="0">
                <a:solidFill>
                  <a:srgbClr val="000088"/>
                </a:solidFill>
                <a:latin typeface="JetBrains Mono"/>
              </a:rPr>
              <a:t>JOIN</a:t>
            </a:r>
            <a:r>
              <a:rPr lang="en-US" sz="1000" dirty="0">
                <a:solidFill>
                  <a:srgbClr val="000000"/>
                </a:solidFill>
                <a:latin typeface="JetBrains Mono"/>
              </a:rPr>
              <a:t> </a:t>
            </a:r>
            <a:r>
              <a:rPr lang="ru-RU" sz="1000" dirty="0">
                <a:solidFill>
                  <a:srgbClr val="000000"/>
                </a:solidFill>
                <a:latin typeface="JetBrains Mono"/>
              </a:rPr>
              <a:t>таблица_2 </a:t>
            </a:r>
            <a:endParaRPr lang="ru-RU" sz="1000" dirty="0" smtClean="0">
              <a:solidFill>
                <a:srgbClr val="000000"/>
              </a:solidFill>
              <a:latin typeface="JetBrains Mono"/>
            </a:endParaRPr>
          </a:p>
          <a:p>
            <a:pPr marL="0" indent="0">
              <a:buNone/>
            </a:pPr>
            <a:r>
              <a:rPr lang="en-US" sz="1000" dirty="0" smtClean="0">
                <a:solidFill>
                  <a:srgbClr val="000088"/>
                </a:solidFill>
                <a:latin typeface="JetBrains Mono"/>
              </a:rPr>
              <a:t>ON</a:t>
            </a:r>
            <a:r>
              <a:rPr lang="en-US" sz="1000" dirty="0" smtClean="0">
                <a:solidFill>
                  <a:srgbClr val="000000"/>
                </a:solidFill>
                <a:latin typeface="JetBrains Mono"/>
              </a:rPr>
              <a:t> </a:t>
            </a:r>
            <a:r>
              <a:rPr lang="ru-RU" sz="1000" dirty="0">
                <a:solidFill>
                  <a:srgbClr val="000000"/>
                </a:solidFill>
                <a:latin typeface="JetBrains Mono"/>
              </a:rPr>
              <a:t>условие </a:t>
            </a:r>
            <a:r>
              <a:rPr lang="ru-RU" sz="1000" dirty="0" smtClean="0">
                <a:solidFill>
                  <a:srgbClr val="000000"/>
                </a:solidFill>
                <a:latin typeface="JetBrains Mono"/>
              </a:rPr>
              <a:t>...</a:t>
            </a:r>
          </a:p>
          <a:p>
            <a:pPr marL="0" indent="0">
              <a:buNone/>
            </a:pPr>
            <a:endParaRPr lang="ru-RU" sz="1000" dirty="0" smtClean="0">
              <a:solidFill>
                <a:srgbClr val="000000"/>
              </a:solidFill>
              <a:latin typeface="JetBrains Mono"/>
            </a:endParaRPr>
          </a:p>
          <a:p>
            <a:pPr marL="0" indent="0">
              <a:buNone/>
            </a:pPr>
            <a:r>
              <a:rPr lang="en-US" sz="1000" dirty="0"/>
              <a:t>The query result is formed as follows:</a:t>
            </a:r>
          </a:p>
          <a:p>
            <a:pPr marL="514350" indent="-514350">
              <a:buFont typeface="+mj-lt"/>
              <a:buAutoNum type="arabicPeriod"/>
            </a:pPr>
            <a:r>
              <a:rPr lang="en-US" sz="1000" dirty="0"/>
              <a:t>The result includes the inner join (INNER JOIN) of the first and second tables according to the specified condition.</a:t>
            </a:r>
          </a:p>
          <a:p>
            <a:pPr marL="514350" indent="-514350">
              <a:buFont typeface="+mj-lt"/>
              <a:buAutoNum type="arabicPeriod"/>
            </a:pPr>
            <a:r>
              <a:rPr lang="en-US" sz="1000" dirty="0"/>
              <a:t>Then, the result is supplemented with those records from the first table that were not included in the inner join in step 1. For such records, the corresponding fields of the second table are filled with NULL values.</a:t>
            </a:r>
          </a:p>
          <a:p>
            <a:pPr marL="0" indent="0">
              <a:buNone/>
            </a:pPr>
            <a:r>
              <a:rPr lang="en-US" sz="1000" dirty="0"/>
              <a:t>The RIGHT JOIN operates similarly, except in step 2 the roles of the first and second tables are swapped</a:t>
            </a:r>
            <a:r>
              <a:rPr lang="en-US" sz="1000" dirty="0" smtClean="0"/>
              <a:t>.</a:t>
            </a:r>
            <a:endParaRPr lang="ru-RU" sz="1000" dirty="0" smtClean="0"/>
          </a:p>
          <a:p>
            <a:pPr marL="0" indent="0">
              <a:buNone/>
            </a:pPr>
            <a:endParaRPr lang="en-US" sz="1000" dirty="0"/>
          </a:p>
          <a:p>
            <a:pPr marL="0" indent="0">
              <a:buNone/>
            </a:pPr>
            <a:r>
              <a:rPr lang="en-US" sz="1000" b="1" dirty="0"/>
              <a:t>Example</a:t>
            </a:r>
          </a:p>
          <a:p>
            <a:pPr marL="0" indent="0">
              <a:buNone/>
            </a:pPr>
            <a:r>
              <a:rPr lang="en-US" sz="1000" dirty="0"/>
              <a:t>Retrieve the titles of all books by each author. If some authors currently have no books in stock, display NULL instead of the book title</a:t>
            </a:r>
            <a:r>
              <a:rPr lang="en-US" sz="1000" dirty="0" smtClean="0"/>
              <a:t>.</a:t>
            </a:r>
            <a:endParaRPr lang="ru-RU" sz="1000" dirty="0" smtClean="0"/>
          </a:p>
          <a:p>
            <a:pPr marL="0" indent="0">
              <a:buNone/>
            </a:pPr>
            <a:endParaRPr lang="en-US" sz="1000" dirty="0"/>
          </a:p>
          <a:p>
            <a:pPr marL="0" indent="0">
              <a:buNone/>
            </a:pPr>
            <a:r>
              <a:rPr lang="en-US" sz="1000" dirty="0">
                <a:solidFill>
                  <a:srgbClr val="000088"/>
                </a:solidFill>
                <a:latin typeface="JetBrains Mono"/>
              </a:rPr>
              <a:t>SELECT</a:t>
            </a:r>
            <a:r>
              <a:rPr lang="en-US" sz="1000" dirty="0">
                <a:solidFill>
                  <a:srgbClr val="000000"/>
                </a:solidFill>
                <a:latin typeface="JetBrains Mono"/>
              </a:rPr>
              <a:t> </a:t>
            </a:r>
            <a:r>
              <a:rPr lang="en-US" sz="1000" dirty="0" err="1">
                <a:solidFill>
                  <a:srgbClr val="000000"/>
                </a:solidFill>
                <a:latin typeface="JetBrains Mono"/>
              </a:rPr>
              <a:t>name_author</a:t>
            </a:r>
            <a:r>
              <a:rPr lang="en-US" sz="1000" dirty="0">
                <a:solidFill>
                  <a:srgbClr val="000000"/>
                </a:solidFill>
                <a:latin typeface="JetBrains Mono"/>
              </a:rPr>
              <a:t>, title </a:t>
            </a:r>
            <a:endParaRPr lang="ru-RU" sz="1000" dirty="0" smtClean="0">
              <a:solidFill>
                <a:srgbClr val="000000"/>
              </a:solidFill>
              <a:latin typeface="JetBrains Mono"/>
            </a:endParaRPr>
          </a:p>
          <a:p>
            <a:pPr marL="0" indent="0">
              <a:buNone/>
            </a:pPr>
            <a:r>
              <a:rPr lang="en-US" sz="1000" dirty="0" smtClean="0">
                <a:solidFill>
                  <a:srgbClr val="000088"/>
                </a:solidFill>
                <a:latin typeface="JetBrains Mono"/>
              </a:rPr>
              <a:t>FROM</a:t>
            </a:r>
            <a:r>
              <a:rPr lang="en-US" sz="1000" dirty="0" smtClean="0">
                <a:solidFill>
                  <a:srgbClr val="000000"/>
                </a:solidFill>
                <a:latin typeface="JetBrains Mono"/>
              </a:rPr>
              <a:t> </a:t>
            </a:r>
            <a:r>
              <a:rPr lang="en-US" sz="1000" dirty="0">
                <a:solidFill>
                  <a:srgbClr val="000000"/>
                </a:solidFill>
                <a:latin typeface="JetBrains Mono"/>
              </a:rPr>
              <a:t>author </a:t>
            </a:r>
            <a:endParaRPr lang="ru-RU" sz="1000" dirty="0" smtClean="0">
              <a:solidFill>
                <a:srgbClr val="000000"/>
              </a:solidFill>
              <a:latin typeface="JetBrains Mono"/>
            </a:endParaRPr>
          </a:p>
          <a:p>
            <a:pPr marL="0" indent="0">
              <a:buNone/>
            </a:pPr>
            <a:r>
              <a:rPr lang="en-US" sz="1000" dirty="0" smtClean="0">
                <a:solidFill>
                  <a:srgbClr val="000088"/>
                </a:solidFill>
                <a:latin typeface="JetBrains Mono"/>
              </a:rPr>
              <a:t>LEFT</a:t>
            </a:r>
            <a:r>
              <a:rPr lang="en-US" sz="1000" dirty="0" smtClean="0">
                <a:solidFill>
                  <a:srgbClr val="000000"/>
                </a:solidFill>
                <a:latin typeface="JetBrains Mono"/>
              </a:rPr>
              <a:t> </a:t>
            </a:r>
            <a:r>
              <a:rPr lang="en-US" sz="1000" dirty="0">
                <a:solidFill>
                  <a:srgbClr val="000088"/>
                </a:solidFill>
                <a:latin typeface="JetBrains Mono"/>
              </a:rPr>
              <a:t>JOIN</a:t>
            </a:r>
            <a:r>
              <a:rPr lang="en-US" sz="1000" dirty="0">
                <a:solidFill>
                  <a:srgbClr val="000000"/>
                </a:solidFill>
                <a:latin typeface="JetBrains Mono"/>
              </a:rPr>
              <a:t> book </a:t>
            </a:r>
            <a:endParaRPr lang="ru-RU" sz="1000" dirty="0" smtClean="0">
              <a:solidFill>
                <a:srgbClr val="000000"/>
              </a:solidFill>
              <a:latin typeface="JetBrains Mono"/>
            </a:endParaRPr>
          </a:p>
          <a:p>
            <a:pPr marL="0" indent="0">
              <a:buNone/>
            </a:pPr>
            <a:r>
              <a:rPr lang="en-US" sz="1000" dirty="0" smtClean="0">
                <a:solidFill>
                  <a:srgbClr val="000088"/>
                </a:solidFill>
                <a:latin typeface="JetBrains Mono"/>
              </a:rPr>
              <a:t>ON</a:t>
            </a:r>
            <a:r>
              <a:rPr lang="en-US" sz="1000" dirty="0" smtClean="0">
                <a:solidFill>
                  <a:srgbClr val="000000"/>
                </a:solidFill>
                <a:latin typeface="JetBrains Mono"/>
              </a:rPr>
              <a:t> </a:t>
            </a:r>
            <a:r>
              <a:rPr lang="en-US" sz="1000" dirty="0" err="1">
                <a:solidFill>
                  <a:srgbClr val="000000"/>
                </a:solidFill>
                <a:latin typeface="JetBrains Mono"/>
              </a:rPr>
              <a:t>author.author_id</a:t>
            </a:r>
            <a:r>
              <a:rPr lang="en-US" sz="1000" dirty="0">
                <a:solidFill>
                  <a:srgbClr val="000000"/>
                </a:solidFill>
                <a:latin typeface="JetBrains Mono"/>
              </a:rPr>
              <a:t> = </a:t>
            </a:r>
            <a:r>
              <a:rPr lang="en-US" sz="1000" dirty="0" err="1">
                <a:solidFill>
                  <a:srgbClr val="000000"/>
                </a:solidFill>
                <a:latin typeface="JetBrains Mono"/>
              </a:rPr>
              <a:t>book.author_id</a:t>
            </a:r>
            <a:r>
              <a:rPr lang="en-US" sz="1000" dirty="0">
                <a:solidFill>
                  <a:srgbClr val="000000"/>
                </a:solidFill>
                <a:latin typeface="JetBrains Mono"/>
              </a:rPr>
              <a:t> </a:t>
            </a:r>
            <a:endParaRPr lang="ru-RU" sz="1000" dirty="0" smtClean="0">
              <a:solidFill>
                <a:srgbClr val="000000"/>
              </a:solidFill>
              <a:latin typeface="JetBrains Mono"/>
            </a:endParaRPr>
          </a:p>
          <a:p>
            <a:pPr marL="0" indent="0">
              <a:buNone/>
            </a:pPr>
            <a:r>
              <a:rPr lang="en-US" sz="1000" dirty="0" smtClean="0">
                <a:solidFill>
                  <a:srgbClr val="000088"/>
                </a:solidFill>
                <a:latin typeface="JetBrains Mono"/>
              </a:rPr>
              <a:t>ORDER</a:t>
            </a:r>
            <a:r>
              <a:rPr lang="en-US" sz="1000" dirty="0" smtClean="0">
                <a:solidFill>
                  <a:srgbClr val="000000"/>
                </a:solidFill>
                <a:latin typeface="JetBrains Mono"/>
              </a:rPr>
              <a:t> </a:t>
            </a:r>
            <a:r>
              <a:rPr lang="en-US" sz="1000" dirty="0">
                <a:solidFill>
                  <a:srgbClr val="000088"/>
                </a:solidFill>
                <a:latin typeface="JetBrains Mono"/>
              </a:rPr>
              <a:t>BY</a:t>
            </a:r>
            <a:r>
              <a:rPr lang="en-US" sz="1000" dirty="0">
                <a:solidFill>
                  <a:srgbClr val="000000"/>
                </a:solidFill>
                <a:latin typeface="JetBrains Mono"/>
              </a:rPr>
              <a:t> </a:t>
            </a:r>
            <a:r>
              <a:rPr lang="en-US" sz="1000" dirty="0" err="1">
                <a:solidFill>
                  <a:srgbClr val="000000"/>
                </a:solidFill>
                <a:latin typeface="JetBrains Mono"/>
              </a:rPr>
              <a:t>name_author</a:t>
            </a:r>
            <a:r>
              <a:rPr lang="en-US" sz="1000" dirty="0">
                <a:solidFill>
                  <a:srgbClr val="000000"/>
                </a:solidFill>
                <a:latin typeface="JetBrains Mono"/>
              </a:rPr>
              <a:t>;</a:t>
            </a:r>
            <a:endParaRPr lang="en-US" sz="1000" dirty="0" smtClean="0"/>
          </a:p>
          <a:p>
            <a:pPr marL="0" indent="0">
              <a:buNone/>
            </a:pPr>
            <a:endParaRPr lang="ru-RU" sz="1000" dirty="0" smtClean="0"/>
          </a:p>
          <a:p>
            <a:pPr marL="0" indent="0">
              <a:buNone/>
            </a:pPr>
            <a:r>
              <a:rPr lang="en-US" sz="1000" dirty="0"/>
              <a:t>Since there are no books by Lermontov in the book table, NULL appears next to this author's name</a:t>
            </a:r>
            <a:r>
              <a:rPr lang="en-US" sz="1000" dirty="0" smtClean="0"/>
              <a:t>.</a:t>
            </a:r>
            <a:endParaRPr lang="en-US" sz="10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84168" y="3507854"/>
            <a:ext cx="2434396" cy="15316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1543207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23478"/>
            <a:ext cx="8229600" cy="288032"/>
          </a:xfrm>
        </p:spPr>
        <p:txBody>
          <a:bodyPr>
            <a:noAutofit/>
          </a:bodyPr>
          <a:lstStyle/>
          <a:p>
            <a:r>
              <a:rPr lang="en-US" sz="2800" b="1" dirty="0"/>
              <a:t>Cross Join CROSS JOIN</a:t>
            </a:r>
            <a:endParaRPr lang="en-US" sz="2800" dirty="0"/>
          </a:p>
        </p:txBody>
      </p:sp>
      <p:sp>
        <p:nvSpPr>
          <p:cNvPr id="3" name="Объект 2"/>
          <p:cNvSpPr>
            <a:spLocks noGrp="1"/>
          </p:cNvSpPr>
          <p:nvPr>
            <p:ph idx="1"/>
          </p:nvPr>
        </p:nvSpPr>
        <p:spPr>
          <a:xfrm>
            <a:off x="395536" y="555526"/>
            <a:ext cx="6192688" cy="3456384"/>
          </a:xfrm>
        </p:spPr>
        <p:txBody>
          <a:bodyPr>
            <a:normAutofit fontScale="92500" lnSpcReduction="10000"/>
          </a:bodyPr>
          <a:lstStyle/>
          <a:p>
            <a:pPr marL="0" indent="0">
              <a:buNone/>
            </a:pPr>
            <a:r>
              <a:rPr lang="en-US" sz="1100" dirty="0" smtClean="0"/>
              <a:t>The </a:t>
            </a:r>
            <a:r>
              <a:rPr lang="en-US" sz="1100" dirty="0"/>
              <a:t>cross join operator, also known as the Cartesian product CROSS JOIN (in a query, a comma can be used between tables instead of the keywords), combines two tables. The order of the tables in the operator is not important, as the operator is symmetric. Its structure is:</a:t>
            </a:r>
          </a:p>
          <a:p>
            <a:pPr marL="0" indent="0">
              <a:buNone/>
            </a:pPr>
            <a:r>
              <a:rPr lang="en-US" sz="1100" dirty="0"/>
              <a:t>SELECT</a:t>
            </a:r>
            <a:br>
              <a:rPr lang="en-US" sz="1100" dirty="0"/>
            </a:br>
            <a:r>
              <a:rPr lang="en-US" sz="1100" dirty="0"/>
              <a:t>...</a:t>
            </a:r>
            <a:br>
              <a:rPr lang="en-US" sz="1100" dirty="0"/>
            </a:br>
            <a:r>
              <a:rPr lang="en-US" sz="1100" dirty="0"/>
              <a:t>FROM</a:t>
            </a:r>
            <a:br>
              <a:rPr lang="en-US" sz="1100" dirty="0"/>
            </a:br>
            <a:r>
              <a:rPr lang="en-US" sz="1100" dirty="0"/>
              <a:t>table_1 CROSS JOIN table_2</a:t>
            </a:r>
            <a:br>
              <a:rPr lang="en-US" sz="1100" dirty="0"/>
            </a:br>
            <a:r>
              <a:rPr lang="en-US" sz="1100" dirty="0"/>
              <a:t>...</a:t>
            </a:r>
          </a:p>
          <a:p>
            <a:pPr marL="0" indent="0">
              <a:buNone/>
            </a:pPr>
            <a:r>
              <a:rPr lang="en-US" sz="1100" dirty="0"/>
              <a:t>or</a:t>
            </a:r>
          </a:p>
          <a:p>
            <a:pPr marL="0" indent="0">
              <a:buNone/>
            </a:pPr>
            <a:r>
              <a:rPr lang="en-US" sz="1100" dirty="0"/>
              <a:t>SELECT</a:t>
            </a:r>
            <a:br>
              <a:rPr lang="en-US" sz="1100" dirty="0"/>
            </a:br>
            <a:r>
              <a:rPr lang="en-US" sz="1100" dirty="0"/>
              <a:t>...</a:t>
            </a:r>
            <a:br>
              <a:rPr lang="en-US" sz="1100" dirty="0"/>
            </a:br>
            <a:r>
              <a:rPr lang="en-US" sz="1100" dirty="0"/>
              <a:t>FROM</a:t>
            </a:r>
            <a:br>
              <a:rPr lang="en-US" sz="1100" dirty="0"/>
            </a:br>
            <a:r>
              <a:rPr lang="en-US" sz="1100" dirty="0"/>
              <a:t>table_1, table_2</a:t>
            </a:r>
            <a:br>
              <a:rPr lang="en-US" sz="1100" dirty="0"/>
            </a:br>
            <a:r>
              <a:rPr lang="en-US" sz="1100" dirty="0"/>
              <a:t>...</a:t>
            </a:r>
          </a:p>
          <a:p>
            <a:pPr marL="0" indent="0">
              <a:buNone/>
            </a:pPr>
            <a:r>
              <a:rPr lang="en-US" sz="1100" dirty="0"/>
              <a:t>The query result is formed as follows: each row from one table is joined with every row from the other table, resulting in all possible combinations of rows from the two tables</a:t>
            </a:r>
            <a:r>
              <a:rPr lang="en-US" sz="1100" dirty="0" smtClean="0"/>
              <a:t>.</a:t>
            </a:r>
            <a:endParaRPr lang="ru-RU" sz="1100" dirty="0" smtClean="0"/>
          </a:p>
          <a:p>
            <a:pPr marL="0" indent="0">
              <a:buNone/>
            </a:pPr>
            <a:endParaRPr lang="en-US" sz="1100" dirty="0"/>
          </a:p>
          <a:p>
            <a:pPr marL="0" indent="0">
              <a:buNone/>
            </a:pPr>
            <a:r>
              <a:rPr lang="en-US" sz="1100" dirty="0"/>
              <a:t>For example, the query:</a:t>
            </a:r>
          </a:p>
          <a:p>
            <a:pPr marL="0" indent="0">
              <a:buNone/>
            </a:pPr>
            <a:r>
              <a:rPr lang="en-US" sz="1100" dirty="0">
                <a:solidFill>
                  <a:srgbClr val="000088"/>
                </a:solidFill>
                <a:latin typeface="JetBrains Mono"/>
              </a:rPr>
              <a:t>SELECT</a:t>
            </a:r>
            <a:r>
              <a:rPr lang="en-US" sz="1100" dirty="0">
                <a:solidFill>
                  <a:srgbClr val="000000"/>
                </a:solidFill>
                <a:latin typeface="JetBrains Mono"/>
              </a:rPr>
              <a:t> </a:t>
            </a:r>
            <a:r>
              <a:rPr lang="en-US" sz="1100" dirty="0" err="1">
                <a:solidFill>
                  <a:srgbClr val="000000"/>
                </a:solidFill>
                <a:latin typeface="JetBrains Mono"/>
              </a:rPr>
              <a:t>name_author</a:t>
            </a:r>
            <a:r>
              <a:rPr lang="en-US" sz="1100" dirty="0">
                <a:solidFill>
                  <a:srgbClr val="000000"/>
                </a:solidFill>
                <a:latin typeface="JetBrains Mono"/>
              </a:rPr>
              <a:t>, </a:t>
            </a:r>
            <a:r>
              <a:rPr lang="en-US" sz="1100" dirty="0" err="1">
                <a:solidFill>
                  <a:srgbClr val="000000"/>
                </a:solidFill>
                <a:latin typeface="JetBrains Mono"/>
              </a:rPr>
              <a:t>name_genre</a:t>
            </a:r>
            <a:r>
              <a:rPr lang="en-US" sz="1100" dirty="0">
                <a:solidFill>
                  <a:srgbClr val="000000"/>
                </a:solidFill>
                <a:latin typeface="JetBrains Mono"/>
              </a:rPr>
              <a:t> </a:t>
            </a:r>
            <a:endParaRPr lang="ru-RU" sz="1100" dirty="0" smtClean="0">
              <a:solidFill>
                <a:srgbClr val="000000"/>
              </a:solidFill>
              <a:latin typeface="JetBrains Mono"/>
            </a:endParaRPr>
          </a:p>
          <a:p>
            <a:pPr marL="0" indent="0">
              <a:buNone/>
            </a:pPr>
            <a:r>
              <a:rPr lang="en-US" sz="1100" dirty="0" smtClean="0">
                <a:solidFill>
                  <a:srgbClr val="000088"/>
                </a:solidFill>
                <a:latin typeface="JetBrains Mono"/>
              </a:rPr>
              <a:t>FROM</a:t>
            </a:r>
            <a:r>
              <a:rPr lang="en-US" sz="1100" dirty="0" smtClean="0">
                <a:solidFill>
                  <a:srgbClr val="000000"/>
                </a:solidFill>
                <a:latin typeface="JetBrains Mono"/>
              </a:rPr>
              <a:t> </a:t>
            </a:r>
            <a:r>
              <a:rPr lang="en-US" sz="1100" dirty="0">
                <a:solidFill>
                  <a:srgbClr val="000000"/>
                </a:solidFill>
                <a:latin typeface="JetBrains Mono"/>
              </a:rPr>
              <a:t>author, genre</a:t>
            </a:r>
            <a:r>
              <a:rPr lang="en-US" sz="1100" dirty="0" smtClean="0">
                <a:solidFill>
                  <a:srgbClr val="000000"/>
                </a:solidFill>
                <a:latin typeface="JetBrains Mono"/>
              </a:rPr>
              <a:t>;</a:t>
            </a:r>
            <a:endParaRPr lang="ru-RU" sz="1100" dirty="0" smtClean="0">
              <a:solidFill>
                <a:srgbClr val="000000"/>
              </a:solidFill>
              <a:latin typeface="JetBrains Mono"/>
            </a:endParaRPr>
          </a:p>
          <a:p>
            <a:pPr marL="0" indent="0">
              <a:buNone/>
            </a:pPr>
            <a:endParaRPr lang="ru-RU" sz="1100" dirty="0" smtClean="0">
              <a:solidFill>
                <a:srgbClr val="000000"/>
              </a:solidFill>
              <a:latin typeface="JetBrains Mono"/>
            </a:endParaRPr>
          </a:p>
          <a:p>
            <a:pPr marL="0" indent="0">
              <a:buNone/>
            </a:pPr>
            <a:r>
              <a:rPr lang="en-US" sz="1100" dirty="0" smtClean="0"/>
              <a:t>will assign every possible genre from the genre table to each author from the author table.</a:t>
            </a:r>
            <a:endParaRPr lang="en-US" sz="1100"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0232" y="2859782"/>
            <a:ext cx="1800200" cy="2101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9666926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23478"/>
            <a:ext cx="8229600" cy="349548"/>
          </a:xfrm>
        </p:spPr>
        <p:txBody>
          <a:bodyPr>
            <a:noAutofit/>
          </a:bodyPr>
          <a:lstStyle/>
          <a:p>
            <a:r>
              <a:rPr lang="en-US" sz="2800" b="1" dirty="0"/>
              <a:t>Queries for Selecting Data from Multiple Tables</a:t>
            </a:r>
            <a:endParaRPr lang="en-US" sz="2800" dirty="0"/>
          </a:p>
        </p:txBody>
      </p:sp>
      <p:sp>
        <p:nvSpPr>
          <p:cNvPr id="3" name="Объект 2"/>
          <p:cNvSpPr>
            <a:spLocks noGrp="1"/>
          </p:cNvSpPr>
          <p:nvPr>
            <p:ph idx="1"/>
          </p:nvPr>
        </p:nvSpPr>
        <p:spPr>
          <a:xfrm>
            <a:off x="395536" y="555526"/>
            <a:ext cx="8229600" cy="4248472"/>
          </a:xfrm>
        </p:spPr>
        <p:txBody>
          <a:bodyPr>
            <a:normAutofit fontScale="25000" lnSpcReduction="20000"/>
          </a:bodyPr>
          <a:lstStyle/>
          <a:p>
            <a:pPr marL="0" indent="0">
              <a:buNone/>
            </a:pPr>
            <a:r>
              <a:rPr lang="en-US" sz="4200" dirty="0" smtClean="0"/>
              <a:t>A </a:t>
            </a:r>
            <a:r>
              <a:rPr lang="en-US" sz="4200" dirty="0"/>
              <a:t>SELECT query can retrieve data from two or more database tables. The tables must be logically related to each other. For each pair of tables included in the query, a join operator must be specified. The most common type is the inner join INNER JOIN, so we will use it in the examples</a:t>
            </a:r>
            <a:r>
              <a:rPr lang="en-US" sz="4200" dirty="0" smtClean="0"/>
              <a:t>.</a:t>
            </a:r>
            <a:endParaRPr lang="ru-RU" sz="4200" dirty="0" smtClean="0"/>
          </a:p>
          <a:p>
            <a:pPr marL="0" indent="0">
              <a:buNone/>
            </a:pPr>
            <a:endParaRPr lang="en-US" sz="4200" dirty="0"/>
          </a:p>
          <a:p>
            <a:pPr marL="0" indent="0">
              <a:buNone/>
            </a:pPr>
            <a:r>
              <a:rPr lang="en-US" sz="4200" dirty="0"/>
              <a:t>Suppose the tables are related as follows:</a:t>
            </a:r>
          </a:p>
          <a:p>
            <a:pPr marL="0" indent="0">
              <a:buNone/>
            </a:pPr>
            <a:endParaRPr lang="ru-RU" sz="4200" dirty="0" smtClean="0"/>
          </a:p>
          <a:p>
            <a:pPr marL="0" indent="0">
              <a:buNone/>
            </a:pPr>
            <a:endParaRPr lang="ru-RU" sz="4200" dirty="0" smtClean="0"/>
          </a:p>
          <a:p>
            <a:pPr marL="0" indent="0">
              <a:buNone/>
            </a:pPr>
            <a:endParaRPr lang="ru-RU" sz="4200" dirty="0"/>
          </a:p>
          <a:p>
            <a:pPr marL="0" indent="0">
              <a:buNone/>
            </a:pPr>
            <a:r>
              <a:rPr lang="en-US" sz="4200" dirty="0" smtClean="0"/>
              <a:t>Then </a:t>
            </a:r>
            <a:r>
              <a:rPr lang="en-US" sz="4200" dirty="0"/>
              <a:t>the SELECT query for these tables would look like:</a:t>
            </a:r>
          </a:p>
          <a:p>
            <a:pPr marL="0" indent="0">
              <a:buNone/>
            </a:pPr>
            <a:r>
              <a:rPr lang="en-US" sz="4200" dirty="0">
                <a:solidFill>
                  <a:srgbClr val="000088"/>
                </a:solidFill>
                <a:latin typeface="JetBrains Mono"/>
              </a:rPr>
              <a:t>SELECT</a:t>
            </a:r>
            <a:r>
              <a:rPr lang="en-US" sz="4200" dirty="0">
                <a:solidFill>
                  <a:srgbClr val="000000"/>
                </a:solidFill>
                <a:latin typeface="JetBrains Mono"/>
              </a:rPr>
              <a:t> ... </a:t>
            </a:r>
            <a:endParaRPr lang="ru-RU" sz="4200" dirty="0" smtClean="0">
              <a:solidFill>
                <a:srgbClr val="000000"/>
              </a:solidFill>
              <a:latin typeface="JetBrains Mono"/>
            </a:endParaRPr>
          </a:p>
          <a:p>
            <a:pPr marL="0" indent="0">
              <a:buNone/>
            </a:pPr>
            <a:r>
              <a:rPr lang="en-US" sz="4200" dirty="0" smtClean="0">
                <a:solidFill>
                  <a:srgbClr val="000088"/>
                </a:solidFill>
                <a:latin typeface="JetBrains Mono"/>
              </a:rPr>
              <a:t>FROM</a:t>
            </a:r>
            <a:r>
              <a:rPr lang="en-US" sz="4200" dirty="0" smtClean="0">
                <a:solidFill>
                  <a:srgbClr val="000000"/>
                </a:solidFill>
                <a:latin typeface="JetBrains Mono"/>
              </a:rPr>
              <a:t> </a:t>
            </a:r>
            <a:r>
              <a:rPr lang="en-US" sz="4200" dirty="0">
                <a:latin typeface="JetBrains Mono"/>
              </a:rPr>
              <a:t>first</a:t>
            </a:r>
            <a:r>
              <a:rPr lang="en-US" sz="4200" dirty="0">
                <a:solidFill>
                  <a:srgbClr val="000000"/>
                </a:solidFill>
                <a:latin typeface="JetBrains Mono"/>
              </a:rPr>
              <a:t> </a:t>
            </a:r>
            <a:endParaRPr lang="ru-RU" sz="4200" dirty="0" smtClean="0">
              <a:solidFill>
                <a:srgbClr val="000000"/>
              </a:solidFill>
              <a:latin typeface="JetBrains Mono"/>
            </a:endParaRPr>
          </a:p>
          <a:p>
            <a:pPr marL="0" indent="0">
              <a:buNone/>
            </a:pPr>
            <a:r>
              <a:rPr lang="ru-RU" sz="4200" dirty="0" smtClean="0">
                <a:solidFill>
                  <a:srgbClr val="000088"/>
                </a:solidFill>
                <a:latin typeface="JetBrains Mono"/>
              </a:rPr>
              <a:t>	</a:t>
            </a:r>
            <a:r>
              <a:rPr lang="en-US" sz="4200" dirty="0" smtClean="0">
                <a:solidFill>
                  <a:srgbClr val="000088"/>
                </a:solidFill>
                <a:latin typeface="JetBrains Mono"/>
              </a:rPr>
              <a:t>INNER</a:t>
            </a:r>
            <a:r>
              <a:rPr lang="en-US" sz="4200" dirty="0" smtClean="0">
                <a:solidFill>
                  <a:srgbClr val="000000"/>
                </a:solidFill>
                <a:latin typeface="JetBrains Mono"/>
              </a:rPr>
              <a:t> </a:t>
            </a:r>
            <a:r>
              <a:rPr lang="en-US" sz="4200" dirty="0">
                <a:solidFill>
                  <a:srgbClr val="000088"/>
                </a:solidFill>
                <a:latin typeface="JetBrains Mono"/>
              </a:rPr>
              <a:t>JOIN</a:t>
            </a:r>
            <a:r>
              <a:rPr lang="en-US" sz="4200" dirty="0">
                <a:solidFill>
                  <a:srgbClr val="000000"/>
                </a:solidFill>
                <a:latin typeface="JetBrains Mono"/>
              </a:rPr>
              <a:t> </a:t>
            </a:r>
            <a:r>
              <a:rPr lang="en-US" sz="4200" dirty="0">
                <a:latin typeface="JetBrains Mono"/>
              </a:rPr>
              <a:t>second</a:t>
            </a:r>
            <a:r>
              <a:rPr lang="en-US" sz="4200" dirty="0">
                <a:solidFill>
                  <a:srgbClr val="000000"/>
                </a:solidFill>
                <a:latin typeface="JetBrains Mono"/>
              </a:rPr>
              <a:t> </a:t>
            </a:r>
            <a:r>
              <a:rPr lang="en-US" sz="4200" dirty="0" smtClean="0">
                <a:solidFill>
                  <a:srgbClr val="000088"/>
                </a:solidFill>
                <a:latin typeface="JetBrains Mono"/>
              </a:rPr>
              <a:t>ON</a:t>
            </a:r>
            <a:r>
              <a:rPr lang="en-US" sz="4200" dirty="0" smtClean="0">
                <a:solidFill>
                  <a:srgbClr val="000000"/>
                </a:solidFill>
                <a:latin typeface="JetBrains Mono"/>
              </a:rPr>
              <a:t> </a:t>
            </a:r>
            <a:r>
              <a:rPr lang="en-US" sz="4200" dirty="0" err="1">
                <a:solidFill>
                  <a:srgbClr val="000000"/>
                </a:solidFill>
                <a:latin typeface="JetBrains Mono"/>
              </a:rPr>
              <a:t>first.first_id</a:t>
            </a:r>
            <a:r>
              <a:rPr lang="en-US" sz="4200" dirty="0">
                <a:solidFill>
                  <a:srgbClr val="000000"/>
                </a:solidFill>
                <a:latin typeface="JetBrains Mono"/>
              </a:rPr>
              <a:t> = </a:t>
            </a:r>
            <a:r>
              <a:rPr lang="en-US" sz="4200" dirty="0" err="1">
                <a:solidFill>
                  <a:srgbClr val="000000"/>
                </a:solidFill>
                <a:latin typeface="JetBrains Mono"/>
              </a:rPr>
              <a:t>second.first_id</a:t>
            </a:r>
            <a:r>
              <a:rPr lang="en-US" sz="4200" dirty="0">
                <a:solidFill>
                  <a:srgbClr val="000000"/>
                </a:solidFill>
                <a:latin typeface="JetBrains Mono"/>
              </a:rPr>
              <a:t> </a:t>
            </a:r>
            <a:endParaRPr lang="ru-RU" sz="4200" dirty="0" smtClean="0">
              <a:solidFill>
                <a:srgbClr val="000000"/>
              </a:solidFill>
              <a:latin typeface="JetBrains Mono"/>
            </a:endParaRPr>
          </a:p>
          <a:p>
            <a:pPr marL="0" indent="0">
              <a:buNone/>
            </a:pPr>
            <a:r>
              <a:rPr lang="ru-RU" sz="4200" dirty="0" smtClean="0">
                <a:solidFill>
                  <a:srgbClr val="000088"/>
                </a:solidFill>
                <a:latin typeface="JetBrains Mono"/>
              </a:rPr>
              <a:t>	</a:t>
            </a:r>
            <a:r>
              <a:rPr lang="en-US" sz="4200" dirty="0" smtClean="0">
                <a:solidFill>
                  <a:srgbClr val="000088"/>
                </a:solidFill>
                <a:latin typeface="JetBrains Mono"/>
              </a:rPr>
              <a:t>INNER</a:t>
            </a:r>
            <a:r>
              <a:rPr lang="en-US" sz="4200" dirty="0" smtClean="0">
                <a:solidFill>
                  <a:srgbClr val="000000"/>
                </a:solidFill>
                <a:latin typeface="JetBrains Mono"/>
              </a:rPr>
              <a:t> </a:t>
            </a:r>
            <a:r>
              <a:rPr lang="en-US" sz="4200" dirty="0">
                <a:solidFill>
                  <a:srgbClr val="000088"/>
                </a:solidFill>
                <a:latin typeface="JetBrains Mono"/>
              </a:rPr>
              <a:t>JOIN</a:t>
            </a:r>
            <a:r>
              <a:rPr lang="en-US" sz="4200" dirty="0">
                <a:solidFill>
                  <a:srgbClr val="000000"/>
                </a:solidFill>
                <a:latin typeface="JetBrains Mono"/>
              </a:rPr>
              <a:t> third </a:t>
            </a:r>
            <a:r>
              <a:rPr lang="en-US" sz="4200" dirty="0" smtClean="0">
                <a:solidFill>
                  <a:srgbClr val="000088"/>
                </a:solidFill>
                <a:latin typeface="JetBrains Mono"/>
              </a:rPr>
              <a:t>ON</a:t>
            </a:r>
            <a:r>
              <a:rPr lang="en-US" sz="4200" dirty="0" smtClean="0">
                <a:solidFill>
                  <a:srgbClr val="000000"/>
                </a:solidFill>
                <a:latin typeface="JetBrains Mono"/>
              </a:rPr>
              <a:t> </a:t>
            </a:r>
            <a:r>
              <a:rPr lang="en-US" sz="4200" dirty="0" err="1">
                <a:solidFill>
                  <a:srgbClr val="000000"/>
                </a:solidFill>
                <a:latin typeface="JetBrains Mono"/>
              </a:rPr>
              <a:t>second.second_id</a:t>
            </a:r>
            <a:r>
              <a:rPr lang="en-US" sz="4200" dirty="0">
                <a:solidFill>
                  <a:srgbClr val="000000"/>
                </a:solidFill>
                <a:latin typeface="JetBrains Mono"/>
              </a:rPr>
              <a:t> = </a:t>
            </a:r>
            <a:r>
              <a:rPr lang="en-US" sz="4200" dirty="0" err="1">
                <a:solidFill>
                  <a:srgbClr val="000000"/>
                </a:solidFill>
                <a:latin typeface="JetBrains Mono"/>
              </a:rPr>
              <a:t>third.second_id</a:t>
            </a:r>
            <a:r>
              <a:rPr lang="en-US" sz="4200" dirty="0">
                <a:solidFill>
                  <a:srgbClr val="000000"/>
                </a:solidFill>
                <a:latin typeface="JetBrains Mono"/>
              </a:rPr>
              <a:t> </a:t>
            </a:r>
            <a:r>
              <a:rPr lang="en-US" sz="4200" dirty="0" smtClean="0">
                <a:solidFill>
                  <a:srgbClr val="000000"/>
                </a:solidFill>
                <a:latin typeface="JetBrains Mono"/>
              </a:rPr>
              <a:t>...</a:t>
            </a:r>
            <a:endParaRPr lang="ru-RU" sz="4200" dirty="0" smtClean="0">
              <a:solidFill>
                <a:srgbClr val="000000"/>
              </a:solidFill>
              <a:latin typeface="JetBrains Mono"/>
            </a:endParaRPr>
          </a:p>
          <a:p>
            <a:pPr marL="0" indent="0">
              <a:buNone/>
            </a:pPr>
            <a:endParaRPr lang="ru-RU" sz="4200" dirty="0" smtClean="0">
              <a:solidFill>
                <a:srgbClr val="000000"/>
              </a:solidFill>
              <a:latin typeface="JetBrains Mono"/>
            </a:endParaRPr>
          </a:p>
          <a:p>
            <a:pPr marL="0" indent="0">
              <a:buNone/>
            </a:pPr>
            <a:endParaRPr lang="ru-RU" sz="4200" dirty="0" smtClean="0">
              <a:solidFill>
                <a:srgbClr val="000000"/>
              </a:solidFill>
              <a:latin typeface="JetBrains Mono"/>
            </a:endParaRPr>
          </a:p>
          <a:p>
            <a:pPr marL="0" indent="0">
              <a:buNone/>
            </a:pPr>
            <a:r>
              <a:rPr lang="en-US" sz="4200" dirty="0" smtClean="0"/>
              <a:t>If the tables are related like this:</a:t>
            </a:r>
          </a:p>
          <a:p>
            <a:pPr marL="0" indent="0">
              <a:buNone/>
            </a:pPr>
            <a:endParaRPr lang="ru-RU" sz="4200" dirty="0" smtClean="0"/>
          </a:p>
          <a:p>
            <a:pPr marL="0" indent="0">
              <a:buNone/>
            </a:pPr>
            <a:endParaRPr lang="en-US" sz="4200" dirty="0"/>
          </a:p>
          <a:p>
            <a:pPr marL="0" indent="0">
              <a:buNone/>
            </a:pPr>
            <a:r>
              <a:rPr lang="en-US" sz="4200" dirty="0"/>
              <a:t>Then the SELECT query would look like this:</a:t>
            </a:r>
          </a:p>
          <a:p>
            <a:pPr marL="0" indent="0">
              <a:buNone/>
            </a:pPr>
            <a:r>
              <a:rPr lang="en-US" sz="4200" dirty="0">
                <a:solidFill>
                  <a:srgbClr val="000088"/>
                </a:solidFill>
                <a:latin typeface="JetBrains Mono"/>
              </a:rPr>
              <a:t>SELECT</a:t>
            </a:r>
            <a:r>
              <a:rPr lang="en-US" sz="4200" dirty="0">
                <a:solidFill>
                  <a:srgbClr val="000000"/>
                </a:solidFill>
                <a:latin typeface="JetBrains Mono"/>
              </a:rPr>
              <a:t> ... </a:t>
            </a:r>
            <a:r>
              <a:rPr lang="en-US" sz="4200" dirty="0">
                <a:solidFill>
                  <a:srgbClr val="000088"/>
                </a:solidFill>
                <a:latin typeface="JetBrains Mono"/>
              </a:rPr>
              <a:t>FROM</a:t>
            </a:r>
            <a:r>
              <a:rPr lang="en-US" sz="4200" dirty="0">
                <a:solidFill>
                  <a:srgbClr val="000000"/>
                </a:solidFill>
                <a:latin typeface="JetBrains Mono"/>
              </a:rPr>
              <a:t> </a:t>
            </a:r>
            <a:endParaRPr lang="ru-RU" sz="4200" dirty="0" smtClean="0">
              <a:solidFill>
                <a:srgbClr val="000000"/>
              </a:solidFill>
              <a:latin typeface="JetBrains Mono"/>
            </a:endParaRPr>
          </a:p>
          <a:p>
            <a:pPr marL="0" indent="0">
              <a:buNone/>
            </a:pPr>
            <a:r>
              <a:rPr lang="en-US" sz="4200" dirty="0" smtClean="0">
                <a:solidFill>
                  <a:srgbClr val="000088"/>
                </a:solidFill>
                <a:latin typeface="JetBrains Mono"/>
              </a:rPr>
              <a:t>first</a:t>
            </a:r>
            <a:r>
              <a:rPr lang="en-US" sz="4200" dirty="0" smtClean="0">
                <a:solidFill>
                  <a:srgbClr val="000000"/>
                </a:solidFill>
                <a:latin typeface="JetBrains Mono"/>
              </a:rPr>
              <a:t> </a:t>
            </a:r>
            <a:endParaRPr lang="ru-RU" sz="4200" dirty="0" smtClean="0">
              <a:solidFill>
                <a:srgbClr val="000000"/>
              </a:solidFill>
              <a:latin typeface="JetBrains Mono"/>
            </a:endParaRPr>
          </a:p>
          <a:p>
            <a:pPr marL="0" indent="0">
              <a:buNone/>
            </a:pPr>
            <a:r>
              <a:rPr lang="ru-RU" sz="4200" dirty="0" smtClean="0">
                <a:solidFill>
                  <a:srgbClr val="000088"/>
                </a:solidFill>
                <a:latin typeface="JetBrains Mono"/>
              </a:rPr>
              <a:t>	</a:t>
            </a:r>
            <a:r>
              <a:rPr lang="en-US" sz="4200" dirty="0" smtClean="0">
                <a:solidFill>
                  <a:srgbClr val="000088"/>
                </a:solidFill>
                <a:latin typeface="JetBrains Mono"/>
              </a:rPr>
              <a:t>INNER</a:t>
            </a:r>
            <a:r>
              <a:rPr lang="en-US" sz="4200" dirty="0" smtClean="0">
                <a:solidFill>
                  <a:srgbClr val="000000"/>
                </a:solidFill>
                <a:latin typeface="JetBrains Mono"/>
              </a:rPr>
              <a:t> </a:t>
            </a:r>
            <a:r>
              <a:rPr lang="en-US" sz="4200" dirty="0">
                <a:solidFill>
                  <a:srgbClr val="000088"/>
                </a:solidFill>
                <a:latin typeface="JetBrains Mono"/>
              </a:rPr>
              <a:t>JOIN</a:t>
            </a:r>
            <a:r>
              <a:rPr lang="en-US" sz="4200" dirty="0">
                <a:solidFill>
                  <a:srgbClr val="000000"/>
                </a:solidFill>
                <a:latin typeface="JetBrains Mono"/>
              </a:rPr>
              <a:t> third </a:t>
            </a:r>
            <a:r>
              <a:rPr lang="en-US" sz="4200" dirty="0">
                <a:solidFill>
                  <a:srgbClr val="000088"/>
                </a:solidFill>
                <a:latin typeface="JetBrains Mono"/>
              </a:rPr>
              <a:t>ON</a:t>
            </a:r>
            <a:r>
              <a:rPr lang="en-US" sz="4200" dirty="0">
                <a:solidFill>
                  <a:srgbClr val="000000"/>
                </a:solidFill>
                <a:latin typeface="JetBrains Mono"/>
              </a:rPr>
              <a:t> </a:t>
            </a:r>
            <a:r>
              <a:rPr lang="en-US" sz="4200" dirty="0" err="1">
                <a:solidFill>
                  <a:srgbClr val="000000"/>
                </a:solidFill>
                <a:latin typeface="JetBrains Mono"/>
              </a:rPr>
              <a:t>first.first_id</a:t>
            </a:r>
            <a:r>
              <a:rPr lang="en-US" sz="4200" dirty="0">
                <a:solidFill>
                  <a:srgbClr val="000000"/>
                </a:solidFill>
                <a:latin typeface="JetBrains Mono"/>
              </a:rPr>
              <a:t> = </a:t>
            </a:r>
            <a:r>
              <a:rPr lang="en-US" sz="4200" dirty="0" err="1">
                <a:solidFill>
                  <a:srgbClr val="000000"/>
                </a:solidFill>
                <a:latin typeface="JetBrains Mono"/>
              </a:rPr>
              <a:t>third.first_id</a:t>
            </a:r>
            <a:r>
              <a:rPr lang="en-US" sz="4200" dirty="0">
                <a:solidFill>
                  <a:srgbClr val="000000"/>
                </a:solidFill>
                <a:latin typeface="JetBrains Mono"/>
              </a:rPr>
              <a:t> </a:t>
            </a:r>
            <a:endParaRPr lang="ru-RU" sz="4200" dirty="0" smtClean="0">
              <a:solidFill>
                <a:srgbClr val="000000"/>
              </a:solidFill>
              <a:latin typeface="JetBrains Mono"/>
            </a:endParaRPr>
          </a:p>
          <a:p>
            <a:pPr marL="0" indent="0">
              <a:buNone/>
            </a:pPr>
            <a:r>
              <a:rPr lang="ru-RU" sz="4200" dirty="0" smtClean="0">
                <a:solidFill>
                  <a:srgbClr val="000088"/>
                </a:solidFill>
                <a:latin typeface="JetBrains Mono"/>
              </a:rPr>
              <a:t>	</a:t>
            </a:r>
            <a:r>
              <a:rPr lang="en-US" sz="4200" dirty="0" smtClean="0">
                <a:solidFill>
                  <a:srgbClr val="000088"/>
                </a:solidFill>
                <a:latin typeface="JetBrains Mono"/>
              </a:rPr>
              <a:t>INNER</a:t>
            </a:r>
            <a:r>
              <a:rPr lang="en-US" sz="4200" dirty="0" smtClean="0">
                <a:solidFill>
                  <a:srgbClr val="000000"/>
                </a:solidFill>
                <a:latin typeface="JetBrains Mono"/>
              </a:rPr>
              <a:t> </a:t>
            </a:r>
            <a:r>
              <a:rPr lang="en-US" sz="4200" dirty="0">
                <a:solidFill>
                  <a:srgbClr val="000088"/>
                </a:solidFill>
                <a:latin typeface="JetBrains Mono"/>
              </a:rPr>
              <a:t>JOIN</a:t>
            </a:r>
            <a:r>
              <a:rPr lang="en-US" sz="4200" dirty="0">
                <a:solidFill>
                  <a:srgbClr val="000000"/>
                </a:solidFill>
                <a:latin typeface="JetBrains Mono"/>
              </a:rPr>
              <a:t> </a:t>
            </a:r>
            <a:r>
              <a:rPr lang="en-US" sz="4200" dirty="0">
                <a:solidFill>
                  <a:srgbClr val="000088"/>
                </a:solidFill>
                <a:latin typeface="JetBrains Mono"/>
              </a:rPr>
              <a:t>second</a:t>
            </a:r>
            <a:r>
              <a:rPr lang="en-US" sz="4200" dirty="0">
                <a:solidFill>
                  <a:srgbClr val="000000"/>
                </a:solidFill>
                <a:latin typeface="JetBrains Mono"/>
              </a:rPr>
              <a:t> </a:t>
            </a:r>
            <a:r>
              <a:rPr lang="en-US" sz="4200" dirty="0">
                <a:solidFill>
                  <a:srgbClr val="000088"/>
                </a:solidFill>
                <a:latin typeface="JetBrains Mono"/>
              </a:rPr>
              <a:t>ON</a:t>
            </a:r>
            <a:r>
              <a:rPr lang="en-US" sz="4200" dirty="0">
                <a:solidFill>
                  <a:srgbClr val="000000"/>
                </a:solidFill>
                <a:latin typeface="JetBrains Mono"/>
              </a:rPr>
              <a:t> </a:t>
            </a:r>
            <a:r>
              <a:rPr lang="en-US" sz="4200" dirty="0" err="1">
                <a:solidFill>
                  <a:srgbClr val="000000"/>
                </a:solidFill>
                <a:latin typeface="JetBrains Mono"/>
              </a:rPr>
              <a:t>third.second_id</a:t>
            </a:r>
            <a:r>
              <a:rPr lang="en-US" sz="4200" dirty="0">
                <a:solidFill>
                  <a:srgbClr val="000000"/>
                </a:solidFill>
                <a:latin typeface="JetBrains Mono"/>
              </a:rPr>
              <a:t> = </a:t>
            </a:r>
            <a:r>
              <a:rPr lang="en-US" sz="4200" dirty="0" err="1">
                <a:solidFill>
                  <a:srgbClr val="000000"/>
                </a:solidFill>
                <a:latin typeface="JetBrains Mono"/>
              </a:rPr>
              <a:t>second.second_id</a:t>
            </a:r>
            <a:r>
              <a:rPr lang="en-US" sz="4200" dirty="0">
                <a:solidFill>
                  <a:srgbClr val="000000"/>
                </a:solidFill>
                <a:latin typeface="JetBrains Mono"/>
              </a:rPr>
              <a:t> </a:t>
            </a:r>
            <a:r>
              <a:rPr lang="en-US" sz="4200" dirty="0" smtClean="0">
                <a:solidFill>
                  <a:srgbClr val="000000"/>
                </a:solidFill>
                <a:latin typeface="JetBrains Mono"/>
              </a:rPr>
              <a:t>...</a:t>
            </a:r>
            <a:endParaRPr lang="ru-RU" sz="4200" dirty="0" smtClean="0">
              <a:solidFill>
                <a:srgbClr val="000000"/>
              </a:solidFill>
              <a:latin typeface="JetBrains Mono"/>
            </a:endParaRPr>
          </a:p>
          <a:p>
            <a:pPr marL="0" indent="0">
              <a:buNone/>
            </a:pPr>
            <a:endParaRPr lang="ru-RU" sz="4200" dirty="0" smtClean="0">
              <a:solidFill>
                <a:srgbClr val="000000"/>
              </a:solidFill>
              <a:latin typeface="JetBrains Mono"/>
            </a:endParaRPr>
          </a:p>
          <a:p>
            <a:pPr marL="0" indent="0">
              <a:buNone/>
            </a:pPr>
            <a:r>
              <a:rPr lang="en-US" sz="4200" dirty="0" smtClean="0"/>
              <a:t>In </a:t>
            </a:r>
            <a:r>
              <a:rPr lang="en-US" sz="4200" dirty="0"/>
              <a:t>this case, it's recommended to write the table joins sequentially, "in a circular pattern": </a:t>
            </a:r>
            <a:r>
              <a:rPr lang="en-US" sz="4200" b="1" dirty="0"/>
              <a:t>first → third → second</a:t>
            </a:r>
            <a:r>
              <a:rPr lang="en-US" sz="3600" dirty="0" smtClean="0"/>
              <a:t>.</a:t>
            </a:r>
            <a:r>
              <a:rPr lang="en-US" dirty="0"/>
              <a:t/>
            </a:r>
            <a:br>
              <a:rPr lang="en-US" dirty="0"/>
            </a:br>
            <a:endParaRPr lang="en-US" dirty="0"/>
          </a:p>
        </p:txBody>
      </p:sp>
      <p:pic>
        <p:nvPicPr>
          <p:cNvPr id="4101"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0032" y="987574"/>
            <a:ext cx="1152128" cy="1510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24128" y="2787774"/>
            <a:ext cx="1668981" cy="1273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9429063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23478"/>
            <a:ext cx="8229600" cy="349548"/>
          </a:xfrm>
        </p:spPr>
        <p:txBody>
          <a:bodyPr>
            <a:noAutofit/>
          </a:bodyPr>
          <a:lstStyle/>
          <a:p>
            <a:r>
              <a:rPr lang="en-US" sz="2800" b="1" dirty="0"/>
              <a:t>Queries for Selecting Data from Multiple Tables</a:t>
            </a:r>
            <a:endParaRPr lang="en-US" sz="2800" dirty="0"/>
          </a:p>
        </p:txBody>
      </p:sp>
      <p:sp>
        <p:nvSpPr>
          <p:cNvPr id="3" name="Объект 2"/>
          <p:cNvSpPr>
            <a:spLocks noGrp="1"/>
          </p:cNvSpPr>
          <p:nvPr>
            <p:ph idx="1"/>
          </p:nvPr>
        </p:nvSpPr>
        <p:spPr>
          <a:xfrm>
            <a:off x="395536" y="555526"/>
            <a:ext cx="8229600" cy="2736304"/>
          </a:xfrm>
        </p:spPr>
        <p:txBody>
          <a:bodyPr>
            <a:normAutofit fontScale="70000" lnSpcReduction="20000"/>
          </a:bodyPr>
          <a:lstStyle/>
          <a:p>
            <a:pPr marL="0" indent="0">
              <a:buNone/>
            </a:pPr>
            <a:r>
              <a:rPr lang="en-US" b="1" dirty="0"/>
              <a:t>Example</a:t>
            </a:r>
            <a:endParaRPr lang="en-US" dirty="0"/>
          </a:p>
          <a:p>
            <a:pPr marL="0" indent="0">
              <a:buNone/>
            </a:pPr>
            <a:r>
              <a:rPr lang="en-US" dirty="0"/>
              <a:t>Retrieve information about books, their authors, and genres where the price falls within the range of 500 to 700 rubles, inclusive</a:t>
            </a:r>
            <a:r>
              <a:rPr lang="en-US" dirty="0" smtClean="0"/>
              <a:t>.</a:t>
            </a:r>
            <a:endParaRPr lang="ru-RU" dirty="0" smtClean="0"/>
          </a:p>
          <a:p>
            <a:pPr marL="0" indent="0">
              <a:buNone/>
            </a:pPr>
            <a:endParaRPr lang="ru-RU" dirty="0" smtClean="0"/>
          </a:p>
          <a:p>
            <a:pPr marL="0" indent="0">
              <a:buNone/>
            </a:pPr>
            <a:r>
              <a:rPr lang="en-US" sz="2200" dirty="0">
                <a:solidFill>
                  <a:srgbClr val="000088"/>
                </a:solidFill>
                <a:latin typeface="JetBrains Mono"/>
              </a:rPr>
              <a:t>SELECT</a:t>
            </a:r>
            <a:r>
              <a:rPr lang="en-US" sz="2200" dirty="0">
                <a:solidFill>
                  <a:srgbClr val="000000"/>
                </a:solidFill>
                <a:latin typeface="JetBrains Mono"/>
              </a:rPr>
              <a:t> title, </a:t>
            </a:r>
            <a:r>
              <a:rPr lang="en-US" sz="2200" dirty="0" err="1">
                <a:solidFill>
                  <a:srgbClr val="000000"/>
                </a:solidFill>
                <a:latin typeface="JetBrains Mono"/>
              </a:rPr>
              <a:t>name_author</a:t>
            </a:r>
            <a:r>
              <a:rPr lang="en-US" sz="2200" dirty="0">
                <a:solidFill>
                  <a:srgbClr val="000000"/>
                </a:solidFill>
                <a:latin typeface="JetBrains Mono"/>
              </a:rPr>
              <a:t>, </a:t>
            </a:r>
            <a:r>
              <a:rPr lang="en-US" sz="2200" dirty="0" err="1">
                <a:solidFill>
                  <a:srgbClr val="000000"/>
                </a:solidFill>
                <a:latin typeface="JetBrains Mono"/>
              </a:rPr>
              <a:t>name_genre</a:t>
            </a:r>
            <a:r>
              <a:rPr lang="en-US" sz="2200" dirty="0">
                <a:solidFill>
                  <a:srgbClr val="000000"/>
                </a:solidFill>
                <a:latin typeface="JetBrains Mono"/>
              </a:rPr>
              <a:t>, price, amount </a:t>
            </a:r>
            <a:endParaRPr lang="ru-RU" sz="2200" dirty="0" smtClean="0">
              <a:solidFill>
                <a:srgbClr val="000000"/>
              </a:solidFill>
              <a:latin typeface="JetBrains Mono"/>
            </a:endParaRPr>
          </a:p>
          <a:p>
            <a:pPr marL="0" indent="0">
              <a:buNone/>
            </a:pPr>
            <a:r>
              <a:rPr lang="en-US" sz="2200" dirty="0" smtClean="0">
                <a:solidFill>
                  <a:srgbClr val="000088"/>
                </a:solidFill>
                <a:latin typeface="JetBrains Mono"/>
              </a:rPr>
              <a:t>FROM</a:t>
            </a:r>
            <a:r>
              <a:rPr lang="en-US" sz="2200" dirty="0" smtClean="0">
                <a:solidFill>
                  <a:srgbClr val="000000"/>
                </a:solidFill>
                <a:latin typeface="JetBrains Mono"/>
              </a:rPr>
              <a:t> </a:t>
            </a:r>
            <a:r>
              <a:rPr lang="en-US" sz="2200" dirty="0">
                <a:solidFill>
                  <a:srgbClr val="000000"/>
                </a:solidFill>
                <a:latin typeface="JetBrains Mono"/>
              </a:rPr>
              <a:t>author </a:t>
            </a:r>
            <a:endParaRPr lang="ru-RU" sz="2200" dirty="0" smtClean="0">
              <a:solidFill>
                <a:srgbClr val="000000"/>
              </a:solidFill>
              <a:latin typeface="JetBrains Mono"/>
            </a:endParaRPr>
          </a:p>
          <a:p>
            <a:pPr marL="0" indent="0">
              <a:buNone/>
            </a:pPr>
            <a:r>
              <a:rPr lang="en-US" sz="2200" dirty="0" smtClean="0">
                <a:solidFill>
                  <a:srgbClr val="000088"/>
                </a:solidFill>
                <a:latin typeface="JetBrains Mono"/>
              </a:rPr>
              <a:t>INNER</a:t>
            </a:r>
            <a:r>
              <a:rPr lang="en-US" sz="2200" dirty="0" smtClean="0">
                <a:solidFill>
                  <a:srgbClr val="000000"/>
                </a:solidFill>
                <a:latin typeface="JetBrains Mono"/>
              </a:rPr>
              <a:t> </a:t>
            </a:r>
            <a:r>
              <a:rPr lang="en-US" sz="2200" dirty="0">
                <a:solidFill>
                  <a:srgbClr val="000088"/>
                </a:solidFill>
                <a:latin typeface="JetBrains Mono"/>
              </a:rPr>
              <a:t>JOIN</a:t>
            </a:r>
            <a:r>
              <a:rPr lang="en-US" sz="2200" dirty="0">
                <a:solidFill>
                  <a:srgbClr val="000000"/>
                </a:solidFill>
                <a:latin typeface="JetBrains Mono"/>
              </a:rPr>
              <a:t> book </a:t>
            </a:r>
            <a:r>
              <a:rPr lang="en-US" sz="2200" dirty="0">
                <a:solidFill>
                  <a:srgbClr val="000088"/>
                </a:solidFill>
                <a:latin typeface="JetBrains Mono"/>
              </a:rPr>
              <a:t>ON</a:t>
            </a:r>
            <a:r>
              <a:rPr lang="en-US" sz="2200" dirty="0">
                <a:solidFill>
                  <a:srgbClr val="000000"/>
                </a:solidFill>
                <a:latin typeface="JetBrains Mono"/>
              </a:rPr>
              <a:t> </a:t>
            </a:r>
            <a:r>
              <a:rPr lang="en-US" sz="2200" dirty="0" err="1">
                <a:solidFill>
                  <a:srgbClr val="000000"/>
                </a:solidFill>
                <a:latin typeface="JetBrains Mono"/>
              </a:rPr>
              <a:t>author.author_id</a:t>
            </a:r>
            <a:r>
              <a:rPr lang="en-US" sz="2200" dirty="0">
                <a:solidFill>
                  <a:srgbClr val="000000"/>
                </a:solidFill>
                <a:latin typeface="JetBrains Mono"/>
              </a:rPr>
              <a:t> = </a:t>
            </a:r>
            <a:r>
              <a:rPr lang="en-US" sz="2200" dirty="0" err="1">
                <a:solidFill>
                  <a:srgbClr val="000000"/>
                </a:solidFill>
                <a:latin typeface="JetBrains Mono"/>
              </a:rPr>
              <a:t>book.author_id</a:t>
            </a:r>
            <a:r>
              <a:rPr lang="en-US" sz="2200" dirty="0">
                <a:solidFill>
                  <a:srgbClr val="000000"/>
                </a:solidFill>
                <a:latin typeface="JetBrains Mono"/>
              </a:rPr>
              <a:t> </a:t>
            </a:r>
            <a:endParaRPr lang="ru-RU" sz="2200" dirty="0" smtClean="0">
              <a:solidFill>
                <a:srgbClr val="000000"/>
              </a:solidFill>
              <a:latin typeface="JetBrains Mono"/>
            </a:endParaRPr>
          </a:p>
          <a:p>
            <a:pPr marL="0" indent="0">
              <a:buNone/>
            </a:pPr>
            <a:r>
              <a:rPr lang="en-US" sz="2200" dirty="0" smtClean="0">
                <a:solidFill>
                  <a:srgbClr val="000088"/>
                </a:solidFill>
                <a:latin typeface="JetBrains Mono"/>
              </a:rPr>
              <a:t>INNER</a:t>
            </a:r>
            <a:r>
              <a:rPr lang="en-US" sz="2200" dirty="0" smtClean="0">
                <a:solidFill>
                  <a:srgbClr val="000000"/>
                </a:solidFill>
                <a:latin typeface="JetBrains Mono"/>
              </a:rPr>
              <a:t> </a:t>
            </a:r>
            <a:r>
              <a:rPr lang="en-US" sz="2200" dirty="0">
                <a:solidFill>
                  <a:srgbClr val="000088"/>
                </a:solidFill>
                <a:latin typeface="JetBrains Mono"/>
              </a:rPr>
              <a:t>JOIN</a:t>
            </a:r>
            <a:r>
              <a:rPr lang="en-US" sz="2200" dirty="0">
                <a:solidFill>
                  <a:srgbClr val="000000"/>
                </a:solidFill>
                <a:latin typeface="JetBrains Mono"/>
              </a:rPr>
              <a:t> genre </a:t>
            </a:r>
            <a:r>
              <a:rPr lang="en-US" sz="2200" dirty="0">
                <a:solidFill>
                  <a:srgbClr val="000088"/>
                </a:solidFill>
                <a:latin typeface="JetBrains Mono"/>
              </a:rPr>
              <a:t>ON</a:t>
            </a:r>
            <a:r>
              <a:rPr lang="en-US" sz="2200" dirty="0">
                <a:solidFill>
                  <a:srgbClr val="000000"/>
                </a:solidFill>
                <a:latin typeface="JetBrains Mono"/>
              </a:rPr>
              <a:t> </a:t>
            </a:r>
            <a:r>
              <a:rPr lang="en-US" sz="2200" dirty="0" err="1">
                <a:solidFill>
                  <a:srgbClr val="000000"/>
                </a:solidFill>
                <a:latin typeface="JetBrains Mono"/>
              </a:rPr>
              <a:t>genre.genre_id</a:t>
            </a:r>
            <a:r>
              <a:rPr lang="en-US" sz="2200" dirty="0">
                <a:solidFill>
                  <a:srgbClr val="000000"/>
                </a:solidFill>
                <a:latin typeface="JetBrains Mono"/>
              </a:rPr>
              <a:t> = </a:t>
            </a:r>
            <a:r>
              <a:rPr lang="en-US" sz="2200" dirty="0" err="1">
                <a:solidFill>
                  <a:srgbClr val="000000"/>
                </a:solidFill>
                <a:latin typeface="JetBrains Mono"/>
              </a:rPr>
              <a:t>book.genre_id</a:t>
            </a:r>
            <a:r>
              <a:rPr lang="en-US" sz="2200" dirty="0">
                <a:solidFill>
                  <a:srgbClr val="000000"/>
                </a:solidFill>
                <a:latin typeface="JetBrains Mono"/>
              </a:rPr>
              <a:t> </a:t>
            </a:r>
            <a:endParaRPr lang="ru-RU" sz="2200" dirty="0" smtClean="0">
              <a:solidFill>
                <a:srgbClr val="000000"/>
              </a:solidFill>
              <a:latin typeface="JetBrains Mono"/>
            </a:endParaRPr>
          </a:p>
          <a:p>
            <a:pPr marL="0" indent="0">
              <a:buNone/>
            </a:pPr>
            <a:r>
              <a:rPr lang="en-US" sz="2200" dirty="0" smtClean="0">
                <a:solidFill>
                  <a:srgbClr val="000088"/>
                </a:solidFill>
                <a:latin typeface="JetBrains Mono"/>
              </a:rPr>
              <a:t>WHERE</a:t>
            </a:r>
            <a:r>
              <a:rPr lang="en-US" sz="2200" dirty="0" smtClean="0">
                <a:solidFill>
                  <a:srgbClr val="000000"/>
                </a:solidFill>
                <a:latin typeface="JetBrains Mono"/>
              </a:rPr>
              <a:t> </a:t>
            </a:r>
            <a:r>
              <a:rPr lang="en-US" sz="2200" dirty="0">
                <a:solidFill>
                  <a:srgbClr val="000000"/>
                </a:solidFill>
                <a:latin typeface="JetBrains Mono"/>
              </a:rPr>
              <a:t>price </a:t>
            </a:r>
            <a:r>
              <a:rPr lang="en-US" sz="2200" dirty="0">
                <a:solidFill>
                  <a:srgbClr val="000088"/>
                </a:solidFill>
                <a:latin typeface="JetBrains Mono"/>
              </a:rPr>
              <a:t>BETWEEN</a:t>
            </a:r>
            <a:r>
              <a:rPr lang="en-US" sz="2200" dirty="0">
                <a:solidFill>
                  <a:srgbClr val="000000"/>
                </a:solidFill>
                <a:latin typeface="JetBrains Mono"/>
              </a:rPr>
              <a:t> </a:t>
            </a:r>
            <a:r>
              <a:rPr lang="en-US" sz="2200" dirty="0">
                <a:solidFill>
                  <a:srgbClr val="006666"/>
                </a:solidFill>
                <a:latin typeface="JetBrains Mono"/>
              </a:rPr>
              <a:t>500</a:t>
            </a:r>
            <a:r>
              <a:rPr lang="en-US" sz="2200" dirty="0">
                <a:solidFill>
                  <a:srgbClr val="000000"/>
                </a:solidFill>
                <a:latin typeface="JetBrains Mono"/>
              </a:rPr>
              <a:t> </a:t>
            </a:r>
            <a:r>
              <a:rPr lang="en-US" sz="2200" dirty="0">
                <a:solidFill>
                  <a:srgbClr val="000088"/>
                </a:solidFill>
                <a:latin typeface="JetBrains Mono"/>
              </a:rPr>
              <a:t>AND</a:t>
            </a:r>
            <a:r>
              <a:rPr lang="en-US" sz="2200" dirty="0">
                <a:solidFill>
                  <a:srgbClr val="000000"/>
                </a:solidFill>
                <a:latin typeface="JetBrains Mono"/>
              </a:rPr>
              <a:t> </a:t>
            </a:r>
            <a:r>
              <a:rPr lang="en-US" sz="2200" dirty="0">
                <a:solidFill>
                  <a:srgbClr val="006666"/>
                </a:solidFill>
                <a:latin typeface="JetBrains Mono"/>
              </a:rPr>
              <a:t>700</a:t>
            </a:r>
            <a:r>
              <a:rPr lang="en-US" sz="2200" dirty="0">
                <a:solidFill>
                  <a:srgbClr val="000000"/>
                </a:solidFill>
                <a:latin typeface="JetBrains Mono"/>
              </a:rPr>
              <a:t>;</a:t>
            </a:r>
            <a:endParaRPr lang="en-US" sz="2200" dirty="0"/>
          </a:p>
          <a:p>
            <a:pPr marL="0" indent="0">
              <a:buNone/>
            </a:pPr>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3075806"/>
            <a:ext cx="6086475"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4164556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23478"/>
            <a:ext cx="8229600" cy="349548"/>
          </a:xfrm>
        </p:spPr>
        <p:txBody>
          <a:bodyPr>
            <a:noAutofit/>
          </a:bodyPr>
          <a:lstStyle/>
          <a:p>
            <a:r>
              <a:rPr lang="en-US" sz="2800" b="1" dirty="0"/>
              <a:t>Queries for Multiple Tables with Grouping</a:t>
            </a:r>
            <a:endParaRPr lang="en-US" sz="2800" dirty="0"/>
          </a:p>
        </p:txBody>
      </p:sp>
      <p:sp>
        <p:nvSpPr>
          <p:cNvPr id="3" name="Объект 2"/>
          <p:cNvSpPr>
            <a:spLocks noGrp="1"/>
          </p:cNvSpPr>
          <p:nvPr>
            <p:ph idx="1"/>
          </p:nvPr>
        </p:nvSpPr>
        <p:spPr>
          <a:xfrm>
            <a:off x="395536" y="555526"/>
            <a:ext cx="8229600" cy="3672408"/>
          </a:xfrm>
        </p:spPr>
        <p:txBody>
          <a:bodyPr>
            <a:normAutofit fontScale="32500" lnSpcReduction="20000"/>
          </a:bodyPr>
          <a:lstStyle/>
          <a:p>
            <a:pPr marL="0" indent="0">
              <a:buNone/>
            </a:pPr>
            <a:r>
              <a:rPr lang="en-US" dirty="0" smtClean="0"/>
              <a:t>Group </a:t>
            </a:r>
            <a:r>
              <a:rPr lang="en-US" dirty="0"/>
              <a:t>functions in queries can be used across multiple tables with different types of joins.</a:t>
            </a:r>
          </a:p>
          <a:p>
            <a:pPr marL="0" indent="0">
              <a:buNone/>
            </a:pPr>
            <a:endParaRPr lang="ru-RU" b="1" dirty="0" smtClean="0"/>
          </a:p>
          <a:p>
            <a:pPr marL="0" indent="0">
              <a:buNone/>
            </a:pPr>
            <a:r>
              <a:rPr lang="en-US" b="1" dirty="0" smtClean="0"/>
              <a:t>Example</a:t>
            </a:r>
            <a:endParaRPr lang="en-US" dirty="0"/>
          </a:p>
          <a:p>
            <a:pPr marL="0" indent="0">
              <a:buNone/>
            </a:pPr>
            <a:r>
              <a:rPr lang="en-US" dirty="0"/>
              <a:t>Display the number of distinct books for each author. Sort the information in alphabetical order by authors' last names.</a:t>
            </a:r>
          </a:p>
          <a:p>
            <a:pPr marL="0" indent="0">
              <a:buNone/>
            </a:pPr>
            <a:endParaRPr lang="ru-RU" dirty="0">
              <a:solidFill>
                <a:srgbClr val="000088"/>
              </a:solidFill>
              <a:latin typeface="JetBrains Mono"/>
            </a:endParaRPr>
          </a:p>
          <a:p>
            <a:pPr marL="0" indent="0">
              <a:buNone/>
            </a:pPr>
            <a:r>
              <a:rPr lang="en-US" dirty="0" smtClean="0">
                <a:solidFill>
                  <a:srgbClr val="000088"/>
                </a:solidFill>
                <a:latin typeface="JetBrains Mono"/>
              </a:rPr>
              <a:t>SELECT</a:t>
            </a:r>
            <a:r>
              <a:rPr lang="en-US" dirty="0" smtClean="0">
                <a:solidFill>
                  <a:srgbClr val="000000"/>
                </a:solidFill>
                <a:latin typeface="JetBrains Mono"/>
              </a:rPr>
              <a:t> </a:t>
            </a:r>
            <a:r>
              <a:rPr lang="en-US" dirty="0" err="1">
                <a:solidFill>
                  <a:srgbClr val="000000"/>
                </a:solidFill>
                <a:latin typeface="JetBrains Mono"/>
              </a:rPr>
              <a:t>name_author</a:t>
            </a:r>
            <a:r>
              <a:rPr lang="en-US" dirty="0">
                <a:solidFill>
                  <a:srgbClr val="000000"/>
                </a:solidFill>
                <a:latin typeface="JetBrains Mono"/>
              </a:rPr>
              <a:t>, </a:t>
            </a:r>
            <a:r>
              <a:rPr lang="en-US" dirty="0">
                <a:solidFill>
                  <a:srgbClr val="660066"/>
                </a:solidFill>
                <a:latin typeface="JetBrains Mono"/>
              </a:rPr>
              <a:t>count</a:t>
            </a:r>
            <a:r>
              <a:rPr lang="en-US" dirty="0">
                <a:solidFill>
                  <a:srgbClr val="000000"/>
                </a:solidFill>
                <a:latin typeface="JetBrains Mono"/>
              </a:rPr>
              <a:t>(title) </a:t>
            </a:r>
            <a:r>
              <a:rPr lang="en-US" dirty="0">
                <a:solidFill>
                  <a:srgbClr val="000088"/>
                </a:solidFill>
                <a:latin typeface="JetBrains Mono"/>
              </a:rPr>
              <a:t>AS</a:t>
            </a:r>
            <a:r>
              <a:rPr lang="en-US" dirty="0">
                <a:solidFill>
                  <a:srgbClr val="000000"/>
                </a:solidFill>
                <a:latin typeface="JetBrains Mono"/>
              </a:rPr>
              <a:t> </a:t>
            </a:r>
            <a:r>
              <a:rPr lang="en-US" dirty="0" err="1">
                <a:solidFill>
                  <a:srgbClr val="000000"/>
                </a:solidFill>
                <a:latin typeface="JetBrains Mono"/>
              </a:rPr>
              <a:t>Количество</a:t>
            </a:r>
            <a:r>
              <a:rPr lang="en-US" dirty="0">
                <a:solidFill>
                  <a:srgbClr val="000000"/>
                </a:solidFill>
                <a:latin typeface="JetBrains Mono"/>
              </a:rPr>
              <a:t> </a:t>
            </a:r>
            <a:endParaRPr lang="ru-RU" dirty="0" smtClean="0">
              <a:solidFill>
                <a:srgbClr val="000000"/>
              </a:solidFill>
              <a:latin typeface="JetBrains Mono"/>
            </a:endParaRPr>
          </a:p>
          <a:p>
            <a:pPr marL="0" indent="0">
              <a:buNone/>
            </a:pPr>
            <a:r>
              <a:rPr lang="en-US" dirty="0" smtClean="0">
                <a:solidFill>
                  <a:srgbClr val="000088"/>
                </a:solidFill>
                <a:latin typeface="JetBrains Mono"/>
              </a:rPr>
              <a:t>FROM</a:t>
            </a:r>
            <a:r>
              <a:rPr lang="en-US" dirty="0" smtClean="0">
                <a:solidFill>
                  <a:srgbClr val="000000"/>
                </a:solidFill>
                <a:latin typeface="JetBrains Mono"/>
              </a:rPr>
              <a:t> </a:t>
            </a:r>
            <a:r>
              <a:rPr lang="en-US" dirty="0">
                <a:solidFill>
                  <a:srgbClr val="000000"/>
                </a:solidFill>
                <a:latin typeface="JetBrains Mono"/>
              </a:rPr>
              <a:t>author </a:t>
            </a:r>
            <a:endParaRPr lang="ru-RU" dirty="0" smtClean="0">
              <a:solidFill>
                <a:srgbClr val="000000"/>
              </a:solidFill>
              <a:latin typeface="JetBrains Mono"/>
            </a:endParaRPr>
          </a:p>
          <a:p>
            <a:pPr marL="0" indent="0">
              <a:buNone/>
            </a:pPr>
            <a:r>
              <a:rPr lang="en-US" dirty="0" smtClean="0">
                <a:solidFill>
                  <a:srgbClr val="000088"/>
                </a:solidFill>
                <a:latin typeface="JetBrains Mono"/>
              </a:rPr>
              <a:t>INNER</a:t>
            </a:r>
            <a:r>
              <a:rPr lang="en-US" dirty="0" smtClean="0">
                <a:solidFill>
                  <a:srgbClr val="000000"/>
                </a:solidFill>
                <a:latin typeface="JetBrains Mono"/>
              </a:rPr>
              <a:t> </a:t>
            </a:r>
            <a:r>
              <a:rPr lang="en-US" dirty="0">
                <a:solidFill>
                  <a:srgbClr val="000088"/>
                </a:solidFill>
                <a:latin typeface="JetBrains Mono"/>
              </a:rPr>
              <a:t>JOIN</a:t>
            </a:r>
            <a:r>
              <a:rPr lang="en-US" dirty="0">
                <a:solidFill>
                  <a:srgbClr val="000000"/>
                </a:solidFill>
                <a:latin typeface="JetBrains Mono"/>
              </a:rPr>
              <a:t> book </a:t>
            </a:r>
            <a:r>
              <a:rPr lang="en-US" dirty="0">
                <a:solidFill>
                  <a:srgbClr val="000088"/>
                </a:solidFill>
                <a:latin typeface="JetBrains Mono"/>
              </a:rPr>
              <a:t>on</a:t>
            </a:r>
            <a:r>
              <a:rPr lang="en-US" dirty="0">
                <a:solidFill>
                  <a:srgbClr val="000000"/>
                </a:solidFill>
                <a:latin typeface="JetBrains Mono"/>
              </a:rPr>
              <a:t> </a:t>
            </a:r>
            <a:r>
              <a:rPr lang="en-US" dirty="0" err="1">
                <a:solidFill>
                  <a:srgbClr val="000000"/>
                </a:solidFill>
                <a:latin typeface="JetBrains Mono"/>
              </a:rPr>
              <a:t>author.author_id</a:t>
            </a:r>
            <a:r>
              <a:rPr lang="en-US" dirty="0">
                <a:solidFill>
                  <a:srgbClr val="000000"/>
                </a:solidFill>
                <a:latin typeface="JetBrains Mono"/>
              </a:rPr>
              <a:t> = </a:t>
            </a:r>
            <a:r>
              <a:rPr lang="en-US" dirty="0" err="1">
                <a:solidFill>
                  <a:srgbClr val="000000"/>
                </a:solidFill>
                <a:latin typeface="JetBrains Mono"/>
              </a:rPr>
              <a:t>book.author_id</a:t>
            </a:r>
            <a:r>
              <a:rPr lang="en-US" dirty="0">
                <a:solidFill>
                  <a:srgbClr val="000000"/>
                </a:solidFill>
                <a:latin typeface="JetBrains Mono"/>
              </a:rPr>
              <a:t> </a:t>
            </a:r>
            <a:endParaRPr lang="ru-RU" dirty="0" smtClean="0">
              <a:solidFill>
                <a:srgbClr val="000000"/>
              </a:solidFill>
              <a:latin typeface="JetBrains Mono"/>
            </a:endParaRPr>
          </a:p>
          <a:p>
            <a:pPr marL="0" indent="0">
              <a:buNone/>
            </a:pPr>
            <a:r>
              <a:rPr lang="en-US" dirty="0" smtClean="0">
                <a:solidFill>
                  <a:srgbClr val="000088"/>
                </a:solidFill>
                <a:latin typeface="JetBrains Mono"/>
              </a:rPr>
              <a:t>GROUP</a:t>
            </a:r>
            <a:r>
              <a:rPr lang="en-US" dirty="0" smtClean="0">
                <a:solidFill>
                  <a:srgbClr val="000000"/>
                </a:solidFill>
                <a:latin typeface="JetBrains Mono"/>
              </a:rPr>
              <a:t> </a:t>
            </a:r>
            <a:r>
              <a:rPr lang="en-US" dirty="0">
                <a:solidFill>
                  <a:srgbClr val="000088"/>
                </a:solidFill>
                <a:latin typeface="JetBrains Mono"/>
              </a:rPr>
              <a:t>BY</a:t>
            </a:r>
            <a:r>
              <a:rPr lang="en-US" dirty="0">
                <a:solidFill>
                  <a:srgbClr val="000000"/>
                </a:solidFill>
                <a:latin typeface="JetBrains Mono"/>
              </a:rPr>
              <a:t> </a:t>
            </a:r>
            <a:r>
              <a:rPr lang="en-US" dirty="0" err="1">
                <a:solidFill>
                  <a:srgbClr val="000000"/>
                </a:solidFill>
                <a:latin typeface="JetBrains Mono"/>
              </a:rPr>
              <a:t>name_author</a:t>
            </a:r>
            <a:r>
              <a:rPr lang="en-US" dirty="0">
                <a:solidFill>
                  <a:srgbClr val="000000"/>
                </a:solidFill>
                <a:latin typeface="JetBrains Mono"/>
              </a:rPr>
              <a:t> </a:t>
            </a:r>
            <a:endParaRPr lang="ru-RU" dirty="0" smtClean="0">
              <a:solidFill>
                <a:srgbClr val="000000"/>
              </a:solidFill>
              <a:latin typeface="JetBrains Mono"/>
            </a:endParaRPr>
          </a:p>
          <a:p>
            <a:pPr marL="0" indent="0">
              <a:buNone/>
            </a:pPr>
            <a:r>
              <a:rPr lang="en-US" dirty="0" smtClean="0">
                <a:solidFill>
                  <a:srgbClr val="000088"/>
                </a:solidFill>
                <a:latin typeface="JetBrains Mono"/>
              </a:rPr>
              <a:t>ORDER</a:t>
            </a:r>
            <a:r>
              <a:rPr lang="en-US" dirty="0" smtClean="0">
                <a:solidFill>
                  <a:srgbClr val="000000"/>
                </a:solidFill>
                <a:latin typeface="JetBrains Mono"/>
              </a:rPr>
              <a:t> </a:t>
            </a:r>
            <a:r>
              <a:rPr lang="en-US" dirty="0">
                <a:solidFill>
                  <a:srgbClr val="000088"/>
                </a:solidFill>
                <a:latin typeface="JetBrains Mono"/>
              </a:rPr>
              <a:t>BY</a:t>
            </a:r>
            <a:r>
              <a:rPr lang="en-US" dirty="0">
                <a:solidFill>
                  <a:srgbClr val="000000"/>
                </a:solidFill>
                <a:latin typeface="JetBrains Mono"/>
              </a:rPr>
              <a:t> </a:t>
            </a:r>
            <a:r>
              <a:rPr lang="en-US" dirty="0" err="1">
                <a:solidFill>
                  <a:srgbClr val="000000"/>
                </a:solidFill>
                <a:latin typeface="JetBrains Mono"/>
              </a:rPr>
              <a:t>name_author</a:t>
            </a:r>
            <a:r>
              <a:rPr lang="en-US" dirty="0">
                <a:solidFill>
                  <a:srgbClr val="000000"/>
                </a:solidFill>
                <a:latin typeface="JetBrains Mono"/>
              </a:rPr>
              <a:t>; </a:t>
            </a:r>
            <a:endParaRPr lang="ru-RU" dirty="0" smtClean="0">
              <a:solidFill>
                <a:srgbClr val="000000"/>
              </a:solidFill>
              <a:latin typeface="JetBrains Mono"/>
            </a:endParaRPr>
          </a:p>
          <a:p>
            <a:pPr marL="0" indent="0">
              <a:buNone/>
            </a:pPr>
            <a:endParaRPr lang="ru-RU" dirty="0" smtClean="0"/>
          </a:p>
          <a:p>
            <a:pPr marL="0" indent="0">
              <a:buNone/>
            </a:pPr>
            <a:endParaRPr lang="ru-RU" dirty="0" smtClean="0"/>
          </a:p>
          <a:p>
            <a:pPr marL="0" indent="0">
              <a:buNone/>
            </a:pPr>
            <a:endParaRPr lang="ru-RU" dirty="0" smtClean="0"/>
          </a:p>
          <a:p>
            <a:pPr marL="0" indent="0">
              <a:buNone/>
            </a:pPr>
            <a:r>
              <a:rPr lang="en-US" dirty="0"/>
              <a:t>When using INNER JOIN, we cannot see that Lermontov's books are not in stock, though they might potentially be available. To include author Lermontov in the results, we need to change the table join type</a:t>
            </a:r>
            <a:r>
              <a:rPr lang="en-US" dirty="0" smtClean="0"/>
              <a:t>.</a:t>
            </a:r>
            <a:endParaRPr lang="ru-RU" dirty="0" smtClean="0"/>
          </a:p>
          <a:p>
            <a:pPr marL="0" indent="0">
              <a:buNone/>
            </a:pPr>
            <a:endParaRPr lang="ru-RU" dirty="0" smtClean="0"/>
          </a:p>
          <a:p>
            <a:pPr marL="0" indent="0">
              <a:buNone/>
            </a:pPr>
            <a:r>
              <a:rPr lang="en-US" dirty="0">
                <a:solidFill>
                  <a:srgbClr val="000088"/>
                </a:solidFill>
                <a:latin typeface="JetBrains Mono"/>
              </a:rPr>
              <a:t>SELECT</a:t>
            </a:r>
            <a:r>
              <a:rPr lang="en-US" dirty="0">
                <a:solidFill>
                  <a:srgbClr val="000000"/>
                </a:solidFill>
                <a:latin typeface="JetBrains Mono"/>
              </a:rPr>
              <a:t> </a:t>
            </a:r>
            <a:r>
              <a:rPr lang="en-US" dirty="0" err="1">
                <a:solidFill>
                  <a:srgbClr val="000000"/>
                </a:solidFill>
                <a:latin typeface="JetBrains Mono"/>
              </a:rPr>
              <a:t>name_author</a:t>
            </a:r>
            <a:r>
              <a:rPr lang="en-US" dirty="0">
                <a:solidFill>
                  <a:srgbClr val="000000"/>
                </a:solidFill>
                <a:latin typeface="JetBrains Mono"/>
              </a:rPr>
              <a:t>, </a:t>
            </a:r>
            <a:r>
              <a:rPr lang="en-US" dirty="0">
                <a:solidFill>
                  <a:srgbClr val="660066"/>
                </a:solidFill>
                <a:latin typeface="JetBrains Mono"/>
              </a:rPr>
              <a:t>count</a:t>
            </a:r>
            <a:r>
              <a:rPr lang="en-US" dirty="0">
                <a:solidFill>
                  <a:srgbClr val="000000"/>
                </a:solidFill>
                <a:latin typeface="JetBrains Mono"/>
              </a:rPr>
              <a:t>(title) </a:t>
            </a:r>
            <a:r>
              <a:rPr lang="en-US" dirty="0">
                <a:solidFill>
                  <a:srgbClr val="000088"/>
                </a:solidFill>
                <a:latin typeface="JetBrains Mono"/>
              </a:rPr>
              <a:t>AS</a:t>
            </a:r>
            <a:r>
              <a:rPr lang="en-US" dirty="0">
                <a:solidFill>
                  <a:srgbClr val="000000"/>
                </a:solidFill>
                <a:latin typeface="JetBrains Mono"/>
              </a:rPr>
              <a:t> </a:t>
            </a:r>
            <a:r>
              <a:rPr lang="en-US" dirty="0" err="1">
                <a:solidFill>
                  <a:srgbClr val="000000"/>
                </a:solidFill>
                <a:latin typeface="JetBrains Mono"/>
              </a:rPr>
              <a:t>Количество</a:t>
            </a:r>
            <a:r>
              <a:rPr lang="en-US" dirty="0">
                <a:solidFill>
                  <a:srgbClr val="000000"/>
                </a:solidFill>
                <a:latin typeface="JetBrains Mono"/>
              </a:rPr>
              <a:t> </a:t>
            </a:r>
            <a:endParaRPr lang="ru-RU" dirty="0" smtClean="0">
              <a:solidFill>
                <a:srgbClr val="000000"/>
              </a:solidFill>
              <a:latin typeface="JetBrains Mono"/>
            </a:endParaRPr>
          </a:p>
          <a:p>
            <a:pPr marL="0" indent="0">
              <a:buNone/>
            </a:pPr>
            <a:r>
              <a:rPr lang="en-US" dirty="0" smtClean="0">
                <a:solidFill>
                  <a:srgbClr val="000088"/>
                </a:solidFill>
                <a:latin typeface="JetBrains Mono"/>
              </a:rPr>
              <a:t>FROM</a:t>
            </a:r>
            <a:r>
              <a:rPr lang="en-US" dirty="0" smtClean="0">
                <a:solidFill>
                  <a:srgbClr val="000000"/>
                </a:solidFill>
                <a:latin typeface="JetBrains Mono"/>
              </a:rPr>
              <a:t> </a:t>
            </a:r>
            <a:r>
              <a:rPr lang="en-US" dirty="0">
                <a:solidFill>
                  <a:srgbClr val="000000"/>
                </a:solidFill>
                <a:latin typeface="JetBrains Mono"/>
              </a:rPr>
              <a:t>author </a:t>
            </a:r>
            <a:endParaRPr lang="ru-RU" dirty="0" smtClean="0">
              <a:solidFill>
                <a:srgbClr val="000000"/>
              </a:solidFill>
              <a:latin typeface="JetBrains Mono"/>
            </a:endParaRPr>
          </a:p>
          <a:p>
            <a:pPr marL="0" indent="0">
              <a:buNone/>
            </a:pPr>
            <a:r>
              <a:rPr lang="en-US" dirty="0" smtClean="0">
                <a:solidFill>
                  <a:srgbClr val="000088"/>
                </a:solidFill>
                <a:latin typeface="JetBrains Mono"/>
              </a:rPr>
              <a:t>LEFT</a:t>
            </a:r>
            <a:r>
              <a:rPr lang="en-US" dirty="0" smtClean="0">
                <a:solidFill>
                  <a:srgbClr val="000000"/>
                </a:solidFill>
                <a:latin typeface="JetBrains Mono"/>
              </a:rPr>
              <a:t> </a:t>
            </a:r>
            <a:r>
              <a:rPr lang="en-US" dirty="0">
                <a:solidFill>
                  <a:srgbClr val="000088"/>
                </a:solidFill>
                <a:latin typeface="JetBrains Mono"/>
              </a:rPr>
              <a:t>JOIN</a:t>
            </a:r>
            <a:r>
              <a:rPr lang="en-US" dirty="0">
                <a:solidFill>
                  <a:srgbClr val="000000"/>
                </a:solidFill>
                <a:latin typeface="JetBrains Mono"/>
              </a:rPr>
              <a:t> book </a:t>
            </a:r>
            <a:r>
              <a:rPr lang="en-US" dirty="0">
                <a:solidFill>
                  <a:srgbClr val="000088"/>
                </a:solidFill>
                <a:latin typeface="JetBrains Mono"/>
              </a:rPr>
              <a:t>on</a:t>
            </a:r>
            <a:r>
              <a:rPr lang="en-US" dirty="0">
                <a:solidFill>
                  <a:srgbClr val="000000"/>
                </a:solidFill>
                <a:latin typeface="JetBrains Mono"/>
              </a:rPr>
              <a:t> </a:t>
            </a:r>
            <a:r>
              <a:rPr lang="en-US" dirty="0" err="1">
                <a:solidFill>
                  <a:srgbClr val="000000"/>
                </a:solidFill>
                <a:latin typeface="JetBrains Mono"/>
              </a:rPr>
              <a:t>author.author_id</a:t>
            </a:r>
            <a:r>
              <a:rPr lang="en-US" dirty="0">
                <a:solidFill>
                  <a:srgbClr val="000000"/>
                </a:solidFill>
                <a:latin typeface="JetBrains Mono"/>
              </a:rPr>
              <a:t> = </a:t>
            </a:r>
            <a:r>
              <a:rPr lang="en-US" dirty="0" err="1">
                <a:solidFill>
                  <a:srgbClr val="000000"/>
                </a:solidFill>
                <a:latin typeface="JetBrains Mono"/>
              </a:rPr>
              <a:t>book.author_id</a:t>
            </a:r>
            <a:r>
              <a:rPr lang="en-US" dirty="0">
                <a:solidFill>
                  <a:srgbClr val="000000"/>
                </a:solidFill>
                <a:latin typeface="JetBrains Mono"/>
              </a:rPr>
              <a:t> </a:t>
            </a:r>
            <a:endParaRPr lang="ru-RU" dirty="0" smtClean="0">
              <a:solidFill>
                <a:srgbClr val="000000"/>
              </a:solidFill>
              <a:latin typeface="JetBrains Mono"/>
            </a:endParaRPr>
          </a:p>
          <a:p>
            <a:pPr marL="0" indent="0">
              <a:buNone/>
            </a:pPr>
            <a:r>
              <a:rPr lang="en-US" dirty="0" smtClean="0">
                <a:solidFill>
                  <a:srgbClr val="000088"/>
                </a:solidFill>
                <a:latin typeface="JetBrains Mono"/>
              </a:rPr>
              <a:t>GROUP</a:t>
            </a:r>
            <a:r>
              <a:rPr lang="en-US" dirty="0" smtClean="0">
                <a:solidFill>
                  <a:srgbClr val="000000"/>
                </a:solidFill>
                <a:latin typeface="JetBrains Mono"/>
              </a:rPr>
              <a:t> </a:t>
            </a:r>
            <a:r>
              <a:rPr lang="en-US" dirty="0">
                <a:solidFill>
                  <a:srgbClr val="000088"/>
                </a:solidFill>
                <a:latin typeface="JetBrains Mono"/>
              </a:rPr>
              <a:t>BY</a:t>
            </a:r>
            <a:r>
              <a:rPr lang="en-US" dirty="0">
                <a:solidFill>
                  <a:srgbClr val="000000"/>
                </a:solidFill>
                <a:latin typeface="JetBrains Mono"/>
              </a:rPr>
              <a:t> </a:t>
            </a:r>
            <a:r>
              <a:rPr lang="en-US" dirty="0" err="1">
                <a:solidFill>
                  <a:srgbClr val="000000"/>
                </a:solidFill>
                <a:latin typeface="JetBrains Mono"/>
              </a:rPr>
              <a:t>name_author</a:t>
            </a:r>
            <a:r>
              <a:rPr lang="en-US" dirty="0">
                <a:solidFill>
                  <a:srgbClr val="000000"/>
                </a:solidFill>
                <a:latin typeface="JetBrains Mono"/>
              </a:rPr>
              <a:t> </a:t>
            </a:r>
            <a:endParaRPr lang="ru-RU" dirty="0" smtClean="0">
              <a:solidFill>
                <a:srgbClr val="000000"/>
              </a:solidFill>
              <a:latin typeface="JetBrains Mono"/>
            </a:endParaRPr>
          </a:p>
          <a:p>
            <a:pPr marL="0" indent="0">
              <a:buNone/>
            </a:pPr>
            <a:r>
              <a:rPr lang="en-US" dirty="0" smtClean="0">
                <a:solidFill>
                  <a:srgbClr val="000088"/>
                </a:solidFill>
                <a:latin typeface="JetBrains Mono"/>
              </a:rPr>
              <a:t>ORDER</a:t>
            </a:r>
            <a:r>
              <a:rPr lang="en-US" dirty="0" smtClean="0">
                <a:solidFill>
                  <a:srgbClr val="000000"/>
                </a:solidFill>
                <a:latin typeface="JetBrains Mono"/>
              </a:rPr>
              <a:t> </a:t>
            </a:r>
            <a:r>
              <a:rPr lang="en-US" dirty="0">
                <a:solidFill>
                  <a:srgbClr val="000088"/>
                </a:solidFill>
                <a:latin typeface="JetBrains Mono"/>
              </a:rPr>
              <a:t>BY</a:t>
            </a:r>
            <a:r>
              <a:rPr lang="en-US" dirty="0">
                <a:solidFill>
                  <a:srgbClr val="000000"/>
                </a:solidFill>
                <a:latin typeface="JetBrains Mono"/>
              </a:rPr>
              <a:t> </a:t>
            </a:r>
            <a:r>
              <a:rPr lang="en-US" dirty="0" err="1">
                <a:solidFill>
                  <a:srgbClr val="000000"/>
                </a:solidFill>
                <a:latin typeface="JetBrains Mono"/>
              </a:rPr>
              <a:t>name_author</a:t>
            </a:r>
            <a:r>
              <a:rPr lang="en-US" dirty="0">
                <a:solidFill>
                  <a:srgbClr val="000000"/>
                </a:solidFill>
                <a:latin typeface="JetBrains Mono"/>
              </a:rPr>
              <a:t>; </a:t>
            </a:r>
            <a:endParaRPr lang="ru-RU" dirty="0" smtClean="0">
              <a:solidFill>
                <a:srgbClr val="000000"/>
              </a:solidFill>
              <a:latin typeface="JetBrains Mono"/>
            </a:endParaRPr>
          </a:p>
          <a:p>
            <a:pPr marL="0" indent="0">
              <a:buNone/>
            </a:pPr>
            <a:endParaRPr 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8465" y="3075806"/>
            <a:ext cx="2168450" cy="1215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8465" y="1419622"/>
            <a:ext cx="2209155" cy="11121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83886527"/>
      </p:ext>
    </p:extLst>
  </p:cSld>
  <p:clrMapOvr>
    <a:masterClrMapping/>
  </p:clrMapOvr>
  <p:timing>
    <p:tnLst>
      <p:par>
        <p:cTn id="1" dur="indefinite" restart="never" nodeType="tmRoot"/>
      </p:par>
    </p:tnLst>
  </p:timing>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1579</TotalTime>
  <Words>672</Words>
  <Application>Microsoft Office PowerPoint</Application>
  <PresentationFormat>Экран (16:9)</PresentationFormat>
  <Paragraphs>120</Paragraphs>
  <Slides>8</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8</vt:i4>
      </vt:variant>
    </vt:vector>
  </HeadingPairs>
  <TitlesOfParts>
    <vt:vector size="9" baseType="lpstr">
      <vt:lpstr>Тема Office</vt:lpstr>
      <vt:lpstr>SQL Selecting.JOIN</vt:lpstr>
      <vt:lpstr>INNER JOIN</vt:lpstr>
      <vt:lpstr>INNER JOIN</vt:lpstr>
      <vt:lpstr>Outer Joins LEFT and RIGHT OUTER JOIN</vt:lpstr>
      <vt:lpstr>Cross Join CROSS JOIN</vt:lpstr>
      <vt:lpstr>Queries for Selecting Data from Multiple Tables</vt:lpstr>
      <vt:lpstr>Queries for Selecting Data from Multiple Tables</vt:lpstr>
      <vt:lpstr>Queries for Multiple Tables with Grouping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tvi-v</dc:creator>
  <cp:lastModifiedBy>tvi-vlad@mail.ru</cp:lastModifiedBy>
  <cp:revision>26</cp:revision>
  <dcterms:created xsi:type="dcterms:W3CDTF">2025-10-08T04:29:54Z</dcterms:created>
  <dcterms:modified xsi:type="dcterms:W3CDTF">2025-11-03T08:36:43Z</dcterms:modified>
</cp:coreProperties>
</file>