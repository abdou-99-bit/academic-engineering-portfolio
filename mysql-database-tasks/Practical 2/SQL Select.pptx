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2" d="100"/>
          <a:sy n="142" d="100"/>
        </p:scale>
        <p:origin x="-660" y="-10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B4C71EC6-210F-42DE-9C53-41977AD35B3D}" type="datetimeFigureOut">
              <a:rPr lang="ru-RU" smtClean="0"/>
              <a:t>08.10.2025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B4C71EC6-210F-42DE-9C53-41977AD35B3D}" type="datetimeFigureOut">
              <a:rPr lang="ru-RU" smtClean="0"/>
              <a:t>08.10.2025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B4C71EC6-210F-42DE-9C53-41977AD35B3D}" type="datetimeFigureOut">
              <a:rPr lang="ru-RU" smtClean="0"/>
              <a:t>08.10.2025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t>08.10.2025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08.10.2025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08.10.2025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05979"/>
            <a:ext cx="2057400" cy="4388644"/>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05979"/>
            <a:ext cx="6019800" cy="43886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4C71EC6-210F-42DE-9C53-41977AD35B3D}" type="datetimeFigureOut">
              <a:rPr lang="ru-RU" smtClean="0"/>
              <a:t>08.10.2025</a:t>
            </a:fld>
            <a:endParaRPr lang="ru-RU"/>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19B0651-EE4F-4900-A07F-96A6BFA9D0F0}"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en-US"/>
          </a:p>
        </p:txBody>
      </p:sp>
      <p:sp>
        <p:nvSpPr>
          <p:cNvPr id="3" name="Подзаголовок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80710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23478"/>
            <a:ext cx="8229600" cy="288032"/>
          </a:xfrm>
        </p:spPr>
        <p:txBody>
          <a:bodyPr>
            <a:normAutofit fontScale="90000"/>
          </a:bodyPr>
          <a:lstStyle/>
          <a:p>
            <a:r>
              <a:rPr lang="en-US" dirty="0"/>
              <a:t>Selecting all data from a table</a:t>
            </a:r>
            <a:endParaRPr lang="en-US" dirty="0"/>
          </a:p>
        </p:txBody>
      </p:sp>
      <p:sp>
        <p:nvSpPr>
          <p:cNvPr id="3" name="Объект 2"/>
          <p:cNvSpPr>
            <a:spLocks noGrp="1"/>
          </p:cNvSpPr>
          <p:nvPr>
            <p:ph idx="1"/>
          </p:nvPr>
        </p:nvSpPr>
        <p:spPr>
          <a:xfrm>
            <a:off x="467544" y="555526"/>
            <a:ext cx="8229600" cy="2880320"/>
          </a:xfrm>
        </p:spPr>
        <p:txBody>
          <a:bodyPr>
            <a:normAutofit/>
          </a:bodyPr>
          <a:lstStyle/>
          <a:p>
            <a:pPr marL="0" indent="0">
              <a:buNone/>
            </a:pPr>
            <a:r>
              <a:rPr lang="en-US" sz="1400" dirty="0"/>
              <a:t>To select all data from a table, an SQL query of the following structure is used:</a:t>
            </a:r>
          </a:p>
          <a:p>
            <a:r>
              <a:rPr lang="en-US" sz="1400" dirty="0"/>
              <a:t>The keyword SELECT;</a:t>
            </a:r>
          </a:p>
          <a:p>
            <a:r>
              <a:rPr lang="en-US" sz="1400" dirty="0"/>
              <a:t>The symbol *;</a:t>
            </a:r>
          </a:p>
          <a:p>
            <a:r>
              <a:rPr lang="en-US" sz="1400" dirty="0"/>
              <a:t>The keyword FROM;</a:t>
            </a:r>
          </a:p>
          <a:p>
            <a:r>
              <a:rPr lang="en-US" sz="1400" dirty="0"/>
              <a:t>The table name.</a:t>
            </a:r>
          </a:p>
          <a:p>
            <a:pPr marL="0" indent="0">
              <a:buNone/>
            </a:pPr>
            <a:r>
              <a:rPr lang="en-US" sz="1400" dirty="0"/>
              <a:t>The result is a table containing all the rows and columns of the specified table from the query.</a:t>
            </a:r>
          </a:p>
          <a:p>
            <a:pPr marL="0" indent="0">
              <a:buNone/>
            </a:pPr>
            <a:r>
              <a:rPr lang="en-US" sz="1400" b="1" dirty="0"/>
              <a:t>Example</a:t>
            </a:r>
            <a:endParaRPr lang="en-US" sz="1400" dirty="0"/>
          </a:p>
          <a:p>
            <a:pPr marL="0" indent="0">
              <a:buNone/>
            </a:pPr>
            <a:r>
              <a:rPr lang="en-US" sz="1400" dirty="0"/>
              <a:t>Select all records from the book table</a:t>
            </a:r>
            <a:r>
              <a:rPr lang="en-US" sz="1400" dirty="0" smtClean="0"/>
              <a:t>.</a:t>
            </a:r>
            <a:endParaRPr lang="ru-RU" sz="1400" dirty="0" smtClean="0"/>
          </a:p>
          <a:p>
            <a:pPr marL="0" indent="0">
              <a:buNone/>
            </a:pPr>
            <a:endParaRPr lang="en-US" sz="1400" dirty="0"/>
          </a:p>
          <a:p>
            <a:pPr marL="0" indent="0">
              <a:buNone/>
            </a:pPr>
            <a:r>
              <a:rPr lang="en-US" sz="1400" b="1" dirty="0"/>
              <a:t>Query:</a:t>
            </a:r>
            <a:endParaRPr lang="en-US" sz="1400" dirty="0"/>
          </a:p>
          <a:p>
            <a:pPr marL="0" indent="0">
              <a:buNone/>
            </a:pPr>
            <a:r>
              <a:rPr lang="en-US" sz="1400" dirty="0">
                <a:solidFill>
                  <a:srgbClr val="000088"/>
                </a:solidFill>
                <a:latin typeface="JetBrains Mono"/>
              </a:rPr>
              <a:t>SELECT</a:t>
            </a:r>
            <a:r>
              <a:rPr lang="en-US" sz="1400" dirty="0">
                <a:solidFill>
                  <a:srgbClr val="000000"/>
                </a:solidFill>
                <a:latin typeface="JetBrains Mono"/>
              </a:rPr>
              <a:t> * </a:t>
            </a:r>
            <a:r>
              <a:rPr lang="en-US" sz="1400" dirty="0">
                <a:solidFill>
                  <a:srgbClr val="000088"/>
                </a:solidFill>
                <a:latin typeface="JetBrains Mono"/>
              </a:rPr>
              <a:t>FROM</a:t>
            </a:r>
            <a:r>
              <a:rPr lang="en-US" sz="1400" dirty="0">
                <a:solidFill>
                  <a:srgbClr val="000000"/>
                </a:solidFill>
                <a:latin typeface="JetBrains Mono"/>
              </a:rPr>
              <a:t> book;</a:t>
            </a:r>
            <a:endParaRPr lang="en-US" sz="1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507854"/>
            <a:ext cx="6645275" cy="163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082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rmAutofit fontScale="90000"/>
          </a:bodyPr>
          <a:lstStyle/>
          <a:p>
            <a:r>
              <a:rPr lang="en-US" b="1" dirty="0"/>
              <a:t>Selecting Specific Columns</a:t>
            </a:r>
            <a:endParaRPr lang="en-US" dirty="0"/>
          </a:p>
        </p:txBody>
      </p:sp>
      <p:sp>
        <p:nvSpPr>
          <p:cNvPr id="3" name="Объект 2"/>
          <p:cNvSpPr>
            <a:spLocks noGrp="1"/>
          </p:cNvSpPr>
          <p:nvPr>
            <p:ph idx="1"/>
          </p:nvPr>
        </p:nvSpPr>
        <p:spPr>
          <a:xfrm>
            <a:off x="395536" y="555526"/>
            <a:ext cx="8229600" cy="3240360"/>
          </a:xfrm>
        </p:spPr>
        <p:txBody>
          <a:bodyPr>
            <a:normAutofit fontScale="55000" lnSpcReduction="20000"/>
          </a:bodyPr>
          <a:lstStyle/>
          <a:p>
            <a:pPr marL="0" indent="0">
              <a:buNone/>
            </a:pPr>
            <a:r>
              <a:rPr lang="en-US" dirty="0"/>
              <a:t>T</a:t>
            </a:r>
            <a:r>
              <a:rPr lang="en-US" dirty="0" smtClean="0"/>
              <a:t>o </a:t>
            </a:r>
            <a:r>
              <a:rPr lang="en-US" dirty="0"/>
              <a:t>select data from specific columns of a table, an SQL query with the following structure is used:</a:t>
            </a:r>
          </a:p>
          <a:p>
            <a:r>
              <a:rPr lang="en-US" dirty="0"/>
              <a:t>The keyword SELECT;</a:t>
            </a:r>
          </a:p>
          <a:p>
            <a:r>
              <a:rPr lang="en-US" dirty="0"/>
              <a:t>A list of the table's column names, separated by commas;</a:t>
            </a:r>
          </a:p>
          <a:p>
            <a:r>
              <a:rPr lang="en-US" dirty="0"/>
              <a:t>The keyword FROM;</a:t>
            </a:r>
          </a:p>
          <a:p>
            <a:r>
              <a:rPr lang="en-US" dirty="0"/>
              <a:t>The table name.</a:t>
            </a:r>
          </a:p>
          <a:p>
            <a:pPr marL="0" indent="0">
              <a:buNone/>
            </a:pPr>
            <a:r>
              <a:rPr lang="en-US" dirty="0"/>
              <a:t>The result is a table containing all the data from the columns specified after SELECT in the original table.</a:t>
            </a:r>
          </a:p>
          <a:p>
            <a:pPr marL="0" indent="0">
              <a:buNone/>
            </a:pPr>
            <a:r>
              <a:rPr lang="en-US" b="1" dirty="0"/>
              <a:t>Example</a:t>
            </a:r>
            <a:endParaRPr lang="en-US" dirty="0"/>
          </a:p>
          <a:p>
            <a:pPr marL="0" indent="0">
              <a:buNone/>
            </a:pPr>
            <a:r>
              <a:rPr lang="en-US" dirty="0"/>
              <a:t>Select the titles and quantities of books from the book table</a:t>
            </a:r>
            <a:r>
              <a:rPr lang="en-US" dirty="0" smtClean="0"/>
              <a:t>.</a:t>
            </a:r>
          </a:p>
          <a:p>
            <a:pPr marL="0" indent="0">
              <a:buNone/>
            </a:pPr>
            <a:endParaRPr lang="en-US" dirty="0" smtClean="0"/>
          </a:p>
          <a:p>
            <a:pPr marL="0" indent="0">
              <a:buNone/>
            </a:pPr>
            <a:r>
              <a:rPr lang="en-US" dirty="0">
                <a:solidFill>
                  <a:srgbClr val="000088"/>
                </a:solidFill>
                <a:latin typeface="JetBrains Mono"/>
              </a:rPr>
              <a:t>SELECT</a:t>
            </a:r>
            <a:r>
              <a:rPr lang="en-US" dirty="0">
                <a:solidFill>
                  <a:srgbClr val="000000"/>
                </a:solidFill>
                <a:latin typeface="JetBrains Mono"/>
              </a:rPr>
              <a:t> title, amount </a:t>
            </a:r>
            <a:r>
              <a:rPr lang="en-US" dirty="0">
                <a:solidFill>
                  <a:srgbClr val="000088"/>
                </a:solidFill>
                <a:latin typeface="JetBrains Mono"/>
              </a:rPr>
              <a:t>FROM</a:t>
            </a:r>
            <a:r>
              <a:rPr lang="en-US" dirty="0">
                <a:solidFill>
                  <a:srgbClr val="000000"/>
                </a:solidFill>
                <a:latin typeface="JetBrains Mono"/>
              </a:rPr>
              <a:t> book;</a:t>
            </a:r>
            <a:endParaRPr lang="en-US" dirty="0"/>
          </a:p>
          <a:p>
            <a:pPr marL="0" indent="0">
              <a:buNone/>
            </a:pPr>
            <a:endParaRPr lang="en-US" dirty="0" smtClean="0"/>
          </a:p>
          <a:p>
            <a:pPr marL="0" indent="0">
              <a:buNone/>
            </a:pPr>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794153"/>
            <a:ext cx="2520280" cy="1361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5432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Assigning New Names to Columns in a Query Result</a:t>
            </a:r>
            <a:endParaRPr lang="en-US" sz="2800" dirty="0"/>
          </a:p>
        </p:txBody>
      </p:sp>
      <p:sp>
        <p:nvSpPr>
          <p:cNvPr id="3" name="Объект 2"/>
          <p:cNvSpPr>
            <a:spLocks noGrp="1"/>
          </p:cNvSpPr>
          <p:nvPr>
            <p:ph idx="1"/>
          </p:nvPr>
        </p:nvSpPr>
        <p:spPr>
          <a:xfrm>
            <a:off x="395536" y="555526"/>
            <a:ext cx="8229600" cy="3240360"/>
          </a:xfrm>
        </p:spPr>
        <p:txBody>
          <a:bodyPr>
            <a:normAutofit fontScale="32500" lnSpcReduction="20000"/>
          </a:bodyPr>
          <a:lstStyle/>
          <a:p>
            <a:pPr marL="0" indent="0">
              <a:buNone/>
            </a:pPr>
            <a:r>
              <a:rPr lang="en-US" sz="3700" dirty="0" smtClean="0"/>
              <a:t>To select data from specific table columns and simultaneously assign them new names in the output, an SQL query with the following structure is used:</a:t>
            </a:r>
          </a:p>
          <a:p>
            <a:r>
              <a:rPr lang="en-US" sz="3700" dirty="0" smtClean="0"/>
              <a:t>The keyword SELECT;</a:t>
            </a:r>
          </a:p>
          <a:p>
            <a:r>
              <a:rPr lang="en-US" sz="3700" dirty="0" smtClean="0"/>
              <a:t>The column name;</a:t>
            </a:r>
          </a:p>
          <a:p>
            <a:r>
              <a:rPr lang="en-US" sz="3700" dirty="0" smtClean="0"/>
              <a:t>The keyword AS;</a:t>
            </a:r>
          </a:p>
          <a:p>
            <a:r>
              <a:rPr lang="en-US" sz="3700" dirty="0" smtClean="0"/>
              <a:t>The new column name for the query result (you can use Russian letters, but it must be a single word; if the name consists of two words, connect them with an underscore, e.g., </a:t>
            </a:r>
            <a:r>
              <a:rPr lang="en-US" sz="3700" dirty="0" err="1" smtClean="0"/>
              <a:t>Kolichestvo_knig</a:t>
            </a:r>
            <a:r>
              <a:rPr lang="en-US" sz="3700" dirty="0" smtClean="0"/>
              <a:t>);</a:t>
            </a:r>
          </a:p>
          <a:p>
            <a:r>
              <a:rPr lang="en-US" sz="3700" dirty="0" smtClean="0"/>
              <a:t>A comma;</a:t>
            </a:r>
          </a:p>
          <a:p>
            <a:r>
              <a:rPr lang="en-US" sz="3700" dirty="0" smtClean="0"/>
              <a:t>The next column name;</a:t>
            </a:r>
          </a:p>
          <a:p>
            <a:r>
              <a:rPr lang="en-US" sz="3700" dirty="0" smtClean="0"/>
              <a:t>... </a:t>
            </a:r>
            <a:endParaRPr lang="ru-RU" sz="3700" dirty="0" smtClean="0"/>
          </a:p>
          <a:p>
            <a:r>
              <a:rPr lang="en-US" sz="3700" dirty="0" smtClean="0"/>
              <a:t>The keyword FROM;</a:t>
            </a:r>
          </a:p>
          <a:p>
            <a:r>
              <a:rPr lang="en-US" sz="3700" dirty="0" smtClean="0"/>
              <a:t>The table name.</a:t>
            </a:r>
          </a:p>
          <a:p>
            <a:pPr marL="0" indent="0">
              <a:buNone/>
            </a:pPr>
            <a:r>
              <a:rPr lang="en-US" sz="3700" dirty="0" smtClean="0"/>
              <a:t>A single query can use both the original column names from the table and new assigned names.</a:t>
            </a:r>
          </a:p>
          <a:p>
            <a:pPr marL="0" indent="0">
              <a:buNone/>
            </a:pPr>
            <a:r>
              <a:rPr lang="en-US" sz="3700" dirty="0" smtClean="0"/>
              <a:t>The result is a table containing all the data from the columns specified after SELECT in the original table. Each column in the result is given the new name specified after AS, or it retains the original column name from the table if AS is omitted.</a:t>
            </a:r>
          </a:p>
          <a:p>
            <a:pPr marL="0" indent="0">
              <a:buNone/>
            </a:pPr>
            <a:r>
              <a:rPr lang="en-US" sz="3700" b="1" dirty="0" smtClean="0"/>
              <a:t>Example</a:t>
            </a:r>
            <a:endParaRPr lang="en-US" sz="3700" dirty="0" smtClean="0"/>
          </a:p>
          <a:p>
            <a:pPr marL="0" indent="0">
              <a:buNone/>
            </a:pPr>
            <a:r>
              <a:rPr lang="en-US" sz="3700" dirty="0" smtClean="0"/>
              <a:t>Select all book titles and their quantities from the book table, assigning the column </a:t>
            </a:r>
            <a:r>
              <a:rPr lang="en-US" sz="3700" b="1" dirty="0" smtClean="0"/>
              <a:t>title</a:t>
            </a:r>
            <a:r>
              <a:rPr lang="en-US" sz="3700" dirty="0" smtClean="0"/>
              <a:t> the new name </a:t>
            </a:r>
            <a:r>
              <a:rPr lang="ru-RU" sz="3700" b="1" dirty="0" smtClean="0"/>
              <a:t>Название</a:t>
            </a:r>
            <a:r>
              <a:rPr lang="en-US" sz="3700" dirty="0" smtClean="0"/>
              <a:t>.</a:t>
            </a:r>
          </a:p>
          <a:p>
            <a:pPr marL="0" indent="0">
              <a:buNone/>
            </a:pPr>
            <a:endParaRPr lang="en-US" dirty="0" smtClean="0"/>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3587763"/>
            <a:ext cx="2592288" cy="143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6669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Selecting Data with a Calculated Column</a:t>
            </a:r>
            <a:endParaRPr lang="en-US" sz="2800" dirty="0"/>
          </a:p>
        </p:txBody>
      </p:sp>
      <p:sp>
        <p:nvSpPr>
          <p:cNvPr id="3" name="Объект 2"/>
          <p:cNvSpPr>
            <a:spLocks noGrp="1"/>
          </p:cNvSpPr>
          <p:nvPr>
            <p:ph idx="1"/>
          </p:nvPr>
        </p:nvSpPr>
        <p:spPr>
          <a:xfrm>
            <a:off x="395536" y="555526"/>
            <a:ext cx="8229600" cy="3240360"/>
          </a:xfrm>
        </p:spPr>
        <p:txBody>
          <a:bodyPr>
            <a:normAutofit/>
          </a:bodyPr>
          <a:lstStyle/>
          <a:p>
            <a:pPr marL="0" indent="0">
              <a:buNone/>
            </a:pPr>
            <a:r>
              <a:rPr lang="en-US" sz="1100" dirty="0"/>
              <a:t>SQL queries can perform calculations for each row of a table using a calculated column. This is specified in the field list after the SELECT operator by providing an expression and assigning it a name.</a:t>
            </a:r>
          </a:p>
          <a:p>
            <a:pPr marL="0" indent="0">
              <a:buNone/>
            </a:pPr>
            <a:r>
              <a:rPr lang="en-US" sz="1100" dirty="0"/>
              <a:t>The expression can include:</a:t>
            </a:r>
          </a:p>
          <a:p>
            <a:r>
              <a:rPr lang="en-US" sz="1100" dirty="0"/>
              <a:t>Column names</a:t>
            </a:r>
          </a:p>
          <a:p>
            <a:r>
              <a:rPr lang="en-US" sz="1100" dirty="0"/>
              <a:t>Constants</a:t>
            </a:r>
          </a:p>
          <a:p>
            <a:r>
              <a:rPr lang="en-US" sz="1100" dirty="0"/>
              <a:t>Arithmetic operators</a:t>
            </a:r>
          </a:p>
          <a:p>
            <a:r>
              <a:rPr lang="en-US" sz="1100" dirty="0"/>
              <a:t>Built-in functions</a:t>
            </a:r>
          </a:p>
          <a:p>
            <a:pPr marL="0" indent="0">
              <a:buNone/>
            </a:pPr>
            <a:r>
              <a:rPr lang="en-US" sz="1100" dirty="0"/>
              <a:t>The result is a table containing all data from the columns specified after SELECT, plus a new column where each row displays the computed value of the given expression.</a:t>
            </a:r>
          </a:p>
          <a:p>
            <a:pPr marL="0" indent="0">
              <a:buNone/>
            </a:pPr>
            <a:r>
              <a:rPr lang="en-US" sz="1100" b="1" dirty="0"/>
              <a:t>Listener's note:</a:t>
            </a:r>
            <a:r>
              <a:rPr lang="en-US" sz="1100" dirty="0"/>
              <a:t> You can perform arithmetic and logical calculations across an entire column, with the result being a new column.</a:t>
            </a:r>
          </a:p>
          <a:p>
            <a:pPr marL="0" indent="0">
              <a:buNone/>
            </a:pPr>
            <a:r>
              <a:rPr lang="en-US" sz="1100" b="1" dirty="0"/>
              <a:t>Example</a:t>
            </a:r>
            <a:endParaRPr lang="en-US" sz="1100" dirty="0"/>
          </a:p>
          <a:p>
            <a:pPr marL="0" indent="0">
              <a:buNone/>
            </a:pPr>
            <a:r>
              <a:rPr lang="en-US" sz="1100" dirty="0"/>
              <a:t>Display all information about books, and for each entry calculate its total value (price multiplied by quantity). Assign the name total to the calculated column</a:t>
            </a:r>
            <a:r>
              <a:rPr lang="en-US" sz="1100" dirty="0" smtClean="0"/>
              <a:t>.</a:t>
            </a:r>
            <a:endParaRPr lang="ru-RU" sz="1100" dirty="0" smtClean="0"/>
          </a:p>
          <a:p>
            <a:pPr marL="0" indent="0">
              <a:buNone/>
            </a:pPr>
            <a:endParaRPr lang="ru-RU" sz="1100" dirty="0" smtClean="0"/>
          </a:p>
          <a:p>
            <a:pPr marL="0" indent="0">
              <a:buNone/>
            </a:pPr>
            <a:r>
              <a:rPr lang="en-US" sz="1100" dirty="0">
                <a:solidFill>
                  <a:srgbClr val="000088"/>
                </a:solidFill>
                <a:latin typeface="JetBrains Mono"/>
              </a:rPr>
              <a:t>SELECT</a:t>
            </a:r>
            <a:r>
              <a:rPr lang="en-US" sz="1100" dirty="0">
                <a:solidFill>
                  <a:srgbClr val="000000"/>
                </a:solidFill>
                <a:latin typeface="JetBrains Mono"/>
              </a:rPr>
              <a:t> title, author, price, amount, price * amount </a:t>
            </a:r>
            <a:r>
              <a:rPr lang="en-US" sz="1100" dirty="0">
                <a:solidFill>
                  <a:srgbClr val="000088"/>
                </a:solidFill>
                <a:latin typeface="JetBrains Mono"/>
              </a:rPr>
              <a:t>AS</a:t>
            </a:r>
            <a:r>
              <a:rPr lang="en-US" sz="1100" dirty="0">
                <a:solidFill>
                  <a:srgbClr val="000000"/>
                </a:solidFill>
                <a:latin typeface="JetBrains Mono"/>
              </a:rPr>
              <a:t> total </a:t>
            </a:r>
            <a:r>
              <a:rPr lang="en-US" sz="1100" dirty="0">
                <a:solidFill>
                  <a:srgbClr val="000088"/>
                </a:solidFill>
                <a:latin typeface="JetBrains Mono"/>
              </a:rPr>
              <a:t>FROM</a:t>
            </a:r>
            <a:r>
              <a:rPr lang="en-US" sz="1100" dirty="0">
                <a:solidFill>
                  <a:srgbClr val="000000"/>
                </a:solidFill>
                <a:latin typeface="JetBrains Mono"/>
              </a:rPr>
              <a:t> book;</a:t>
            </a:r>
            <a:endParaRPr lang="en-US" sz="1100" dirty="0"/>
          </a:p>
          <a:p>
            <a:pPr marL="0" indent="0">
              <a:buNone/>
            </a:pPr>
            <a:endParaRPr lang="en-US" dirty="0" smtClean="0"/>
          </a:p>
          <a:p>
            <a:pPr marL="0" indent="0">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1" y="3536342"/>
            <a:ext cx="5688632" cy="1509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429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123478"/>
            <a:ext cx="8856984" cy="349548"/>
          </a:xfrm>
        </p:spPr>
        <p:txBody>
          <a:bodyPr>
            <a:noAutofit/>
          </a:bodyPr>
          <a:lstStyle/>
          <a:p>
            <a:r>
              <a:rPr lang="en-US" sz="2400" b="1" dirty="0"/>
              <a:t>Selecting Data, Calculated Columns, Mathematical Functions</a:t>
            </a:r>
            <a:endParaRPr lang="en-US" sz="2400" dirty="0"/>
          </a:p>
        </p:txBody>
      </p:sp>
      <p:sp>
        <p:nvSpPr>
          <p:cNvPr id="3" name="Объект 2"/>
          <p:cNvSpPr>
            <a:spLocks noGrp="1"/>
          </p:cNvSpPr>
          <p:nvPr>
            <p:ph idx="1"/>
          </p:nvPr>
        </p:nvSpPr>
        <p:spPr>
          <a:xfrm>
            <a:off x="395536" y="555526"/>
            <a:ext cx="8229600" cy="4176464"/>
          </a:xfrm>
        </p:spPr>
        <p:txBody>
          <a:bodyPr>
            <a:normAutofit/>
          </a:bodyPr>
          <a:lstStyle/>
          <a:p>
            <a:pPr marL="0" indent="0">
              <a:buNone/>
            </a:pPr>
            <a:r>
              <a:rPr lang="en-US" sz="1800" dirty="0"/>
              <a:t>SQL implements numerous mathematical functions for working with numerical data. The table below lists some of them.</a:t>
            </a:r>
            <a:endParaRPr lang="en-US" sz="1800" dirty="0" smtClean="0"/>
          </a:p>
          <a:p>
            <a:pPr marL="0"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236134"/>
            <a:ext cx="4254014" cy="3292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004048" y="1358903"/>
            <a:ext cx="3923928" cy="2800767"/>
          </a:xfrm>
          <a:prstGeom prst="rect">
            <a:avLst/>
          </a:prstGeom>
          <a:noFill/>
        </p:spPr>
        <p:txBody>
          <a:bodyPr wrap="square" rtlCol="0">
            <a:spAutoFit/>
          </a:bodyPr>
          <a:lstStyle/>
          <a:p>
            <a:r>
              <a:rPr lang="en-US" sz="1600" b="1" dirty="0"/>
              <a:t>Explanation:</a:t>
            </a:r>
            <a:r>
              <a:rPr lang="en-US" sz="1600" dirty="0"/>
              <a:t> There are different methods for rounding numbers. SQL implements mathematical rounding (round half up). To round a real number, you select the digit in the fractional part to which you are rounding. The digit in the selected position:</a:t>
            </a:r>
          </a:p>
          <a:p>
            <a:pPr marL="285750" indent="-285750">
              <a:buFont typeface="Arial" pitchFamily="34" charset="0"/>
              <a:buChar char="•"/>
            </a:pPr>
            <a:r>
              <a:rPr lang="en-US" sz="1600" dirty="0"/>
              <a:t>Remains unchanged if the digit immediately to its right is 0, 1, 2, 3, or 4.</a:t>
            </a:r>
          </a:p>
          <a:p>
            <a:pPr marL="285750" indent="-285750">
              <a:buFont typeface="Arial" pitchFamily="34" charset="0"/>
              <a:buChar char="•"/>
            </a:pPr>
            <a:r>
              <a:rPr lang="en-US" sz="1600" dirty="0"/>
              <a:t>Increases by one if the digit immediately to its right is 5, 6, 7, 8, or 9.</a:t>
            </a:r>
          </a:p>
          <a:p>
            <a:endParaRPr lang="en-US" sz="1600" dirty="0"/>
          </a:p>
        </p:txBody>
      </p:sp>
    </p:spTree>
    <p:extLst>
      <p:ext uri="{BB962C8B-B14F-4D97-AF65-F5344CB8AC3E}">
        <p14:creationId xmlns:p14="http://schemas.microsoft.com/office/powerpoint/2010/main" val="371135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Selecting Data, Calculated Columns, Logical Functions</a:t>
            </a:r>
            <a:endParaRPr lang="en-US" sz="2800" dirty="0"/>
          </a:p>
        </p:txBody>
      </p:sp>
      <p:sp>
        <p:nvSpPr>
          <p:cNvPr id="3" name="Объект 2"/>
          <p:cNvSpPr>
            <a:spLocks noGrp="1"/>
          </p:cNvSpPr>
          <p:nvPr>
            <p:ph idx="1"/>
          </p:nvPr>
        </p:nvSpPr>
        <p:spPr>
          <a:xfrm>
            <a:off x="395536" y="555526"/>
            <a:ext cx="8229600" cy="3024336"/>
          </a:xfrm>
        </p:spPr>
        <p:txBody>
          <a:bodyPr>
            <a:normAutofit lnSpcReduction="10000"/>
          </a:bodyPr>
          <a:lstStyle/>
          <a:p>
            <a:pPr marL="0" indent="0">
              <a:buNone/>
            </a:pPr>
            <a:r>
              <a:rPr lang="en-US" sz="1400" dirty="0"/>
              <a:t>SQL provides the capability to assign a value to a field based on a condition. This is done using the IF() function:</a:t>
            </a:r>
          </a:p>
          <a:p>
            <a:pPr marL="0" indent="0">
              <a:buNone/>
            </a:pPr>
            <a:r>
              <a:rPr lang="en-US" sz="1400" b="1" dirty="0"/>
              <a:t>IF(</a:t>
            </a:r>
            <a:r>
              <a:rPr lang="en-US" sz="1400" b="1" dirty="0" err="1"/>
              <a:t>logical_expression</a:t>
            </a:r>
            <a:r>
              <a:rPr lang="en-US" sz="1400" b="1" dirty="0"/>
              <a:t>, expression_1, expression_2)</a:t>
            </a:r>
          </a:p>
          <a:p>
            <a:pPr marL="0" indent="0">
              <a:buNone/>
            </a:pPr>
            <a:r>
              <a:rPr lang="en-US" sz="1400" dirty="0"/>
              <a:t>The function evaluates the </a:t>
            </a:r>
            <a:r>
              <a:rPr lang="en-US" sz="1400" dirty="0" err="1"/>
              <a:t>logical_expression</a:t>
            </a:r>
            <a:r>
              <a:rPr lang="en-US" sz="1400" dirty="0"/>
              <a:t>. If it is </a:t>
            </a:r>
            <a:r>
              <a:rPr lang="en-US" sz="1400" b="1" dirty="0"/>
              <a:t>TRUE</a:t>
            </a:r>
            <a:r>
              <a:rPr lang="en-US" sz="1400" dirty="0"/>
              <a:t>, the field takes the value of </a:t>
            </a:r>
            <a:r>
              <a:rPr lang="en-US" sz="1400" b="1" dirty="0"/>
              <a:t>expression_1</a:t>
            </a:r>
            <a:r>
              <a:rPr lang="en-US" sz="1400" dirty="0"/>
              <a:t>; otherwise, it takes the value </a:t>
            </a:r>
            <a:r>
              <a:rPr lang="en-US" sz="1400" b="1" dirty="0"/>
              <a:t>of expression_2</a:t>
            </a:r>
            <a:r>
              <a:rPr lang="en-US" sz="1400" dirty="0"/>
              <a:t>. All three parameters of the </a:t>
            </a:r>
            <a:r>
              <a:rPr lang="en-US" sz="1400" b="1" dirty="0"/>
              <a:t>IF()</a:t>
            </a:r>
            <a:r>
              <a:rPr lang="en-US" sz="1400" dirty="0"/>
              <a:t> function are mandatory.</a:t>
            </a:r>
          </a:p>
          <a:p>
            <a:pPr marL="0" indent="0">
              <a:buNone/>
            </a:pPr>
            <a:r>
              <a:rPr lang="en-US" sz="1400" dirty="0"/>
              <a:t>The use of nested functions is permitted, meaning a new IF function can be used in place of either expression_1 or expression_2.</a:t>
            </a:r>
          </a:p>
          <a:p>
            <a:pPr marL="0" indent="0">
              <a:buNone/>
            </a:pPr>
            <a:r>
              <a:rPr lang="en-US" sz="1400" b="1" dirty="0"/>
              <a:t>Example</a:t>
            </a:r>
            <a:endParaRPr lang="en-US" sz="1400" dirty="0"/>
          </a:p>
          <a:p>
            <a:pPr marL="0" indent="0">
              <a:buNone/>
            </a:pPr>
            <a:r>
              <a:rPr lang="en-US" sz="1400" dirty="0"/>
              <a:t>Let's set a discount for each book in the book table as follows: if the number of books is less than 4, the discount will be 50% of the price; otherwise, it will be 30</a:t>
            </a:r>
            <a:r>
              <a:rPr lang="en-US" sz="1400" dirty="0" smtClean="0"/>
              <a:t>%.</a:t>
            </a:r>
            <a:endParaRPr lang="ru-RU" sz="1400" dirty="0" smtClean="0"/>
          </a:p>
          <a:p>
            <a:pPr marL="0" indent="0">
              <a:buNone/>
            </a:pPr>
            <a:endParaRPr lang="en-US" sz="1400" dirty="0"/>
          </a:p>
          <a:p>
            <a:pPr marL="0" indent="0">
              <a:buNone/>
            </a:pPr>
            <a:r>
              <a:rPr lang="en-US" sz="2000" dirty="0">
                <a:solidFill>
                  <a:srgbClr val="A626A4"/>
                </a:solidFill>
              </a:rPr>
              <a:t>SELECT</a:t>
            </a:r>
            <a:r>
              <a:rPr lang="en-US" sz="2000" dirty="0"/>
              <a:t> title</a:t>
            </a:r>
            <a:r>
              <a:rPr lang="en-US" sz="2000" dirty="0">
                <a:solidFill>
                  <a:srgbClr val="383A42"/>
                </a:solidFill>
              </a:rPr>
              <a:t>,</a:t>
            </a:r>
            <a:r>
              <a:rPr lang="en-US" sz="2000" dirty="0"/>
              <a:t> amount</a:t>
            </a:r>
            <a:r>
              <a:rPr lang="en-US" sz="2000" dirty="0">
                <a:solidFill>
                  <a:srgbClr val="383A42"/>
                </a:solidFill>
              </a:rPr>
              <a:t>,</a:t>
            </a:r>
            <a:r>
              <a:rPr lang="en-US" sz="2000" dirty="0"/>
              <a:t> price</a:t>
            </a:r>
            <a:r>
              <a:rPr lang="en-US" sz="2000" dirty="0">
                <a:solidFill>
                  <a:srgbClr val="383A42"/>
                </a:solidFill>
              </a:rPr>
              <a:t>,</a:t>
            </a:r>
            <a:r>
              <a:rPr lang="en-US" sz="2000" dirty="0"/>
              <a:t> </a:t>
            </a:r>
            <a:r>
              <a:rPr lang="en-US" sz="2000" dirty="0">
                <a:solidFill>
                  <a:srgbClr val="A626A4"/>
                </a:solidFill>
              </a:rPr>
              <a:t>IF</a:t>
            </a:r>
            <a:r>
              <a:rPr lang="en-US" sz="2000" dirty="0">
                <a:solidFill>
                  <a:srgbClr val="383A42"/>
                </a:solidFill>
              </a:rPr>
              <a:t>(</a:t>
            </a:r>
            <a:r>
              <a:rPr lang="en-US" sz="2000" dirty="0"/>
              <a:t>amount </a:t>
            </a:r>
            <a:r>
              <a:rPr lang="en-US" sz="2000" dirty="0">
                <a:solidFill>
                  <a:srgbClr val="4078F2"/>
                </a:solidFill>
              </a:rPr>
              <a:t>&lt;</a:t>
            </a:r>
            <a:r>
              <a:rPr lang="en-US" sz="2000" dirty="0"/>
              <a:t> </a:t>
            </a:r>
            <a:r>
              <a:rPr lang="en-US" sz="2000" dirty="0">
                <a:solidFill>
                  <a:srgbClr val="B76B01"/>
                </a:solidFill>
              </a:rPr>
              <a:t>4</a:t>
            </a:r>
            <a:r>
              <a:rPr lang="en-US" sz="2000" dirty="0">
                <a:solidFill>
                  <a:srgbClr val="383A42"/>
                </a:solidFill>
              </a:rPr>
              <a:t>,</a:t>
            </a:r>
            <a:r>
              <a:rPr lang="en-US" sz="2000" dirty="0"/>
              <a:t> price </a:t>
            </a:r>
            <a:r>
              <a:rPr lang="en-US" sz="2000" dirty="0">
                <a:solidFill>
                  <a:srgbClr val="4078F2"/>
                </a:solidFill>
              </a:rPr>
              <a:t>*</a:t>
            </a:r>
            <a:r>
              <a:rPr lang="en-US" sz="2000" dirty="0"/>
              <a:t> </a:t>
            </a:r>
            <a:r>
              <a:rPr lang="en-US" sz="2000" dirty="0">
                <a:solidFill>
                  <a:srgbClr val="B76B01"/>
                </a:solidFill>
              </a:rPr>
              <a:t>0.5</a:t>
            </a:r>
            <a:r>
              <a:rPr lang="en-US" sz="2000" dirty="0">
                <a:solidFill>
                  <a:srgbClr val="383A42"/>
                </a:solidFill>
              </a:rPr>
              <a:t>,</a:t>
            </a:r>
            <a:r>
              <a:rPr lang="en-US" sz="2000" dirty="0"/>
              <a:t> price </a:t>
            </a:r>
            <a:r>
              <a:rPr lang="en-US" sz="2000" dirty="0">
                <a:solidFill>
                  <a:srgbClr val="4078F2"/>
                </a:solidFill>
              </a:rPr>
              <a:t>*</a:t>
            </a:r>
            <a:r>
              <a:rPr lang="en-US" sz="2000" dirty="0"/>
              <a:t> </a:t>
            </a:r>
            <a:r>
              <a:rPr lang="en-US" sz="2000" dirty="0">
                <a:solidFill>
                  <a:srgbClr val="B76B01"/>
                </a:solidFill>
              </a:rPr>
              <a:t>0.3</a:t>
            </a:r>
            <a:r>
              <a:rPr lang="en-US" sz="2000" dirty="0">
                <a:solidFill>
                  <a:srgbClr val="383A42"/>
                </a:solidFill>
              </a:rPr>
              <a:t>)</a:t>
            </a:r>
            <a:r>
              <a:rPr lang="en-US" sz="2000" dirty="0"/>
              <a:t> </a:t>
            </a:r>
            <a:r>
              <a:rPr lang="en-US" sz="2000" dirty="0">
                <a:solidFill>
                  <a:srgbClr val="A626A4"/>
                </a:solidFill>
              </a:rPr>
              <a:t>AS</a:t>
            </a:r>
            <a:r>
              <a:rPr lang="en-US" sz="2000" dirty="0"/>
              <a:t> discount </a:t>
            </a:r>
            <a:r>
              <a:rPr lang="en-US" sz="2000" dirty="0">
                <a:solidFill>
                  <a:srgbClr val="A626A4"/>
                </a:solidFill>
              </a:rPr>
              <a:t>FROM</a:t>
            </a:r>
            <a:r>
              <a:rPr lang="en-US" sz="2000" dirty="0"/>
              <a:t> book</a:t>
            </a:r>
            <a:r>
              <a:rPr lang="en-US" sz="2000" dirty="0">
                <a:solidFill>
                  <a:srgbClr val="383A42"/>
                </a:solidFill>
              </a:rPr>
              <a:t>;</a:t>
            </a:r>
            <a:endParaRPr lang="en-US" sz="2000" dirty="0" smtClean="0"/>
          </a:p>
          <a:p>
            <a:pPr marL="0" indent="0">
              <a:buNone/>
            </a:pP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495094"/>
            <a:ext cx="454342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30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Logical Operations</a:t>
            </a:r>
            <a:endParaRPr lang="en-US" sz="2800" dirty="0"/>
          </a:p>
        </p:txBody>
      </p:sp>
      <p:sp>
        <p:nvSpPr>
          <p:cNvPr id="3" name="Объект 2"/>
          <p:cNvSpPr>
            <a:spLocks noGrp="1"/>
          </p:cNvSpPr>
          <p:nvPr>
            <p:ph idx="1"/>
          </p:nvPr>
        </p:nvSpPr>
        <p:spPr>
          <a:xfrm>
            <a:off x="395536" y="436564"/>
            <a:ext cx="8229600" cy="3024336"/>
          </a:xfrm>
        </p:spPr>
        <p:txBody>
          <a:bodyPr>
            <a:normAutofit fontScale="25000" lnSpcReduction="20000"/>
          </a:bodyPr>
          <a:lstStyle/>
          <a:p>
            <a:pPr marL="0" indent="0">
              <a:buNone/>
            </a:pPr>
            <a:r>
              <a:rPr lang="en-US" sz="4800" dirty="0"/>
              <a:t>The logical expression following the WHERE keyword can include not only comparison operators and expressions but also logical operations (AND, OR, NOT) and parentheses, which change the order of operation precedence.</a:t>
            </a:r>
          </a:p>
          <a:p>
            <a:pPr marL="0" indent="0">
              <a:buNone/>
            </a:pPr>
            <a:endParaRPr lang="en-US" dirty="0"/>
          </a:p>
          <a:p>
            <a:r>
              <a:rPr lang="en-US" sz="4800" dirty="0"/>
              <a:t>Order of Precedence</a:t>
            </a:r>
            <a:r>
              <a:rPr lang="en-US" sz="4800" dirty="0" smtClean="0"/>
              <a:t>:</a:t>
            </a:r>
            <a:endParaRPr lang="en-US" sz="4800" dirty="0"/>
          </a:p>
          <a:p>
            <a:r>
              <a:rPr lang="en-US" sz="4800" dirty="0"/>
              <a:t>Parentheses </a:t>
            </a:r>
            <a:r>
              <a:rPr lang="en-US" sz="4800" dirty="0" smtClean="0"/>
              <a:t>()</a:t>
            </a:r>
            <a:endParaRPr lang="en-US" sz="4800" dirty="0"/>
          </a:p>
          <a:p>
            <a:r>
              <a:rPr lang="en-US" sz="4800" dirty="0"/>
              <a:t>Multiplication (*), Division </a:t>
            </a:r>
            <a:r>
              <a:rPr lang="en-US" sz="4800" dirty="0" smtClean="0"/>
              <a:t>(/)</a:t>
            </a:r>
            <a:endParaRPr lang="en-US" sz="4800" dirty="0"/>
          </a:p>
          <a:p>
            <a:r>
              <a:rPr lang="en-US" sz="4800" dirty="0"/>
              <a:t>Addition (+), Subtraction </a:t>
            </a:r>
            <a:r>
              <a:rPr lang="en-US" sz="4800" dirty="0" smtClean="0"/>
              <a:t>(-)</a:t>
            </a:r>
            <a:endParaRPr lang="en-US" sz="4800" dirty="0"/>
          </a:p>
          <a:p>
            <a:r>
              <a:rPr lang="en-US" sz="4800" dirty="0"/>
              <a:t>Comparison Operators (=, &gt;, &lt;, &gt;=, &lt;=, </a:t>
            </a:r>
            <a:r>
              <a:rPr lang="en-US" sz="4800" dirty="0" smtClean="0"/>
              <a:t>&lt;&gt;)</a:t>
            </a:r>
            <a:endParaRPr lang="en-US" sz="4800" dirty="0"/>
          </a:p>
          <a:p>
            <a:r>
              <a:rPr lang="en-US" sz="4800" dirty="0" smtClean="0"/>
              <a:t>NOT</a:t>
            </a:r>
            <a:endParaRPr lang="en-US" sz="4800" dirty="0"/>
          </a:p>
          <a:p>
            <a:r>
              <a:rPr lang="en-US" sz="4800" dirty="0" smtClean="0"/>
              <a:t>AND</a:t>
            </a:r>
            <a:endParaRPr lang="en-US" sz="4800" dirty="0"/>
          </a:p>
          <a:p>
            <a:r>
              <a:rPr lang="en-US" sz="4800" dirty="0"/>
              <a:t>OR</a:t>
            </a:r>
          </a:p>
          <a:p>
            <a:pPr marL="0" indent="0">
              <a:buNone/>
            </a:pPr>
            <a:endParaRPr lang="en-US" sz="4800" dirty="0"/>
          </a:p>
          <a:p>
            <a:pPr marL="0" indent="0">
              <a:buNone/>
            </a:pPr>
            <a:r>
              <a:rPr lang="en-US" sz="4800" b="1" dirty="0" smtClean="0"/>
              <a:t>Example</a:t>
            </a:r>
            <a:endParaRPr lang="en-US" sz="4800" dirty="0"/>
          </a:p>
          <a:p>
            <a:pPr marL="0" indent="0">
              <a:buNone/>
            </a:pPr>
            <a:r>
              <a:rPr lang="en-US" sz="4800" dirty="0"/>
              <a:t>Select the title, author, and price of books written by </a:t>
            </a:r>
            <a:r>
              <a:rPr lang="en-US" sz="4800" dirty="0" err="1"/>
              <a:t>Bulgakov</a:t>
            </a:r>
            <a:r>
              <a:rPr lang="en-US" sz="4800" dirty="0"/>
              <a:t> with a price greater than 600 rubles</a:t>
            </a:r>
            <a:r>
              <a:rPr lang="en-US" sz="4800" dirty="0" smtClean="0"/>
              <a:t>.</a:t>
            </a:r>
            <a:endParaRPr lang="ru-RU" sz="4800" dirty="0" smtClean="0"/>
          </a:p>
          <a:p>
            <a:pPr marL="0" indent="0">
              <a:buNone/>
            </a:pPr>
            <a:endParaRPr lang="ru-RU" sz="4800" dirty="0" smtClean="0"/>
          </a:p>
          <a:p>
            <a:pPr marL="0" indent="0">
              <a:buNone/>
            </a:pPr>
            <a:r>
              <a:rPr lang="en-US" sz="6400" dirty="0">
                <a:solidFill>
                  <a:srgbClr val="A626A4"/>
                </a:solidFill>
              </a:rPr>
              <a:t>SELECT</a:t>
            </a:r>
            <a:r>
              <a:rPr lang="en-US" sz="6400" dirty="0"/>
              <a:t> title</a:t>
            </a:r>
            <a:r>
              <a:rPr lang="en-US" sz="6400" dirty="0">
                <a:solidFill>
                  <a:srgbClr val="383A42"/>
                </a:solidFill>
              </a:rPr>
              <a:t>,</a:t>
            </a:r>
            <a:r>
              <a:rPr lang="en-US" sz="6400" dirty="0"/>
              <a:t> author</a:t>
            </a:r>
            <a:r>
              <a:rPr lang="en-US" sz="6400" dirty="0">
                <a:solidFill>
                  <a:srgbClr val="383A42"/>
                </a:solidFill>
              </a:rPr>
              <a:t>,</a:t>
            </a:r>
            <a:r>
              <a:rPr lang="en-US" sz="6400" dirty="0"/>
              <a:t> price </a:t>
            </a:r>
            <a:endParaRPr lang="ru-RU" sz="6400" dirty="0" smtClean="0"/>
          </a:p>
          <a:p>
            <a:pPr marL="0" indent="0">
              <a:buNone/>
            </a:pPr>
            <a:r>
              <a:rPr lang="en-US" sz="6400" dirty="0" smtClean="0">
                <a:solidFill>
                  <a:srgbClr val="A626A4"/>
                </a:solidFill>
              </a:rPr>
              <a:t>FROM</a:t>
            </a:r>
            <a:r>
              <a:rPr lang="en-US" sz="6400" dirty="0" smtClean="0"/>
              <a:t> </a:t>
            </a:r>
            <a:r>
              <a:rPr lang="en-US" sz="6400" dirty="0"/>
              <a:t>book </a:t>
            </a:r>
            <a:endParaRPr lang="ru-RU" sz="6400" dirty="0" smtClean="0"/>
          </a:p>
          <a:p>
            <a:pPr marL="0" indent="0">
              <a:buNone/>
            </a:pPr>
            <a:r>
              <a:rPr lang="en-US" sz="6400" dirty="0" smtClean="0">
                <a:solidFill>
                  <a:srgbClr val="A626A4"/>
                </a:solidFill>
              </a:rPr>
              <a:t>WHERE</a:t>
            </a:r>
            <a:r>
              <a:rPr lang="en-US" sz="6400" dirty="0" smtClean="0"/>
              <a:t> </a:t>
            </a:r>
            <a:r>
              <a:rPr lang="en-US" sz="6400" dirty="0"/>
              <a:t>author </a:t>
            </a:r>
            <a:r>
              <a:rPr lang="en-US" sz="6400" dirty="0">
                <a:solidFill>
                  <a:srgbClr val="4078F2"/>
                </a:solidFill>
              </a:rPr>
              <a:t>=</a:t>
            </a:r>
            <a:r>
              <a:rPr lang="en-US" sz="6400" dirty="0"/>
              <a:t> </a:t>
            </a:r>
            <a:r>
              <a:rPr lang="en-US" sz="6400" dirty="0">
                <a:solidFill>
                  <a:srgbClr val="50A14F"/>
                </a:solidFill>
              </a:rPr>
              <a:t>'</a:t>
            </a:r>
            <a:r>
              <a:rPr lang="en-US" sz="6400" dirty="0" err="1">
                <a:solidFill>
                  <a:srgbClr val="50A14F"/>
                </a:solidFill>
              </a:rPr>
              <a:t>Булгаков</a:t>
            </a:r>
            <a:r>
              <a:rPr lang="en-US" sz="6400" dirty="0">
                <a:solidFill>
                  <a:srgbClr val="50A14F"/>
                </a:solidFill>
              </a:rPr>
              <a:t> М.А.'</a:t>
            </a:r>
            <a:r>
              <a:rPr lang="en-US" sz="6400" dirty="0"/>
              <a:t> </a:t>
            </a:r>
            <a:r>
              <a:rPr lang="en-US" sz="6400" dirty="0">
                <a:solidFill>
                  <a:srgbClr val="4078F2"/>
                </a:solidFill>
              </a:rPr>
              <a:t>AND</a:t>
            </a:r>
            <a:r>
              <a:rPr lang="en-US" sz="6400" dirty="0"/>
              <a:t> price </a:t>
            </a:r>
            <a:r>
              <a:rPr lang="en-US" sz="6400" dirty="0">
                <a:solidFill>
                  <a:srgbClr val="4078F2"/>
                </a:solidFill>
              </a:rPr>
              <a:t>&gt;</a:t>
            </a:r>
            <a:r>
              <a:rPr lang="en-US" sz="6400" dirty="0"/>
              <a:t> </a:t>
            </a:r>
            <a:r>
              <a:rPr lang="en-US" sz="6400" dirty="0">
                <a:solidFill>
                  <a:srgbClr val="B76B01"/>
                </a:solidFill>
              </a:rPr>
              <a:t>600</a:t>
            </a:r>
            <a:r>
              <a:rPr lang="en-US" sz="6400" dirty="0">
                <a:solidFill>
                  <a:srgbClr val="383A42"/>
                </a:solidFill>
              </a:rPr>
              <a:t>;</a:t>
            </a:r>
            <a:endParaRPr lang="en-US" sz="6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011910"/>
            <a:ext cx="39909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39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BETWEEN and IN Operators</a:t>
            </a:r>
            <a:endParaRPr lang="en-US" sz="2800" dirty="0"/>
          </a:p>
        </p:txBody>
      </p:sp>
      <p:sp>
        <p:nvSpPr>
          <p:cNvPr id="3" name="Объект 2"/>
          <p:cNvSpPr>
            <a:spLocks noGrp="1"/>
          </p:cNvSpPr>
          <p:nvPr>
            <p:ph idx="1"/>
          </p:nvPr>
        </p:nvSpPr>
        <p:spPr>
          <a:xfrm>
            <a:off x="395536" y="436564"/>
            <a:ext cx="8229600" cy="3359322"/>
          </a:xfrm>
        </p:spPr>
        <p:txBody>
          <a:bodyPr>
            <a:normAutofit fontScale="92500" lnSpcReduction="20000"/>
          </a:bodyPr>
          <a:lstStyle/>
          <a:p>
            <a:pPr marL="0" indent="0">
              <a:buNone/>
            </a:pPr>
            <a:r>
              <a:rPr lang="ru-RU" sz="1400" dirty="0" smtClean="0"/>
              <a:t>	</a:t>
            </a:r>
            <a:r>
              <a:rPr lang="en-US" sz="1400" dirty="0" smtClean="0"/>
              <a:t>The </a:t>
            </a:r>
            <a:r>
              <a:rPr lang="en-US" sz="1400" dirty="0"/>
              <a:t>logical expression following the WHERE keyword can include the BETWEEN and IN operators. The precedence of these operators is the same as that of the comparison operators, meaning they are executed before NOT, AND, and OR</a:t>
            </a:r>
            <a:r>
              <a:rPr lang="en-US" sz="1400" dirty="0" smtClean="0"/>
              <a:t>.</a:t>
            </a:r>
            <a:endParaRPr lang="ru-RU" sz="1400" dirty="0" smtClean="0"/>
          </a:p>
          <a:p>
            <a:pPr marL="0" indent="0">
              <a:buNone/>
            </a:pPr>
            <a:endParaRPr lang="en-US" sz="1400" dirty="0"/>
          </a:p>
          <a:p>
            <a:pPr marL="0" indent="0">
              <a:buNone/>
            </a:pPr>
            <a:r>
              <a:rPr lang="en-US" sz="1400" dirty="0"/>
              <a:t>The BETWEEN operator allows you to select data within a certain range, </a:t>
            </a:r>
            <a:r>
              <a:rPr lang="en-US" sz="1400" b="1" dirty="0"/>
              <a:t>including the boundary values</a:t>
            </a:r>
            <a:r>
              <a:rPr lang="en-US" sz="1400" dirty="0" smtClean="0"/>
              <a:t>.</a:t>
            </a:r>
            <a:endParaRPr lang="ru-RU" sz="1400" dirty="0" smtClean="0"/>
          </a:p>
          <a:p>
            <a:pPr marL="0" indent="0">
              <a:buNone/>
            </a:pPr>
            <a:endParaRPr lang="en-US" sz="1400" dirty="0"/>
          </a:p>
          <a:p>
            <a:pPr marL="0" indent="0">
              <a:buNone/>
            </a:pPr>
            <a:r>
              <a:rPr lang="en-US" sz="1400" b="1" dirty="0"/>
              <a:t>Example</a:t>
            </a:r>
            <a:endParaRPr lang="en-US" sz="1400" dirty="0"/>
          </a:p>
          <a:p>
            <a:pPr marL="0" indent="0">
              <a:buNone/>
            </a:pPr>
            <a:r>
              <a:rPr lang="en-US" sz="1400" dirty="0"/>
              <a:t>Select the titles and quantities of books whose quantity is between 5 and 14, inclusive</a:t>
            </a:r>
            <a:r>
              <a:rPr lang="en-US" sz="1400" dirty="0" smtClean="0"/>
              <a:t>.</a:t>
            </a:r>
            <a:endParaRPr lang="ru-RU" sz="1400" dirty="0" smtClean="0"/>
          </a:p>
          <a:p>
            <a:pPr marL="0" indent="0">
              <a:buNone/>
            </a:pPr>
            <a:endParaRPr lang="ru-RU" sz="1400" dirty="0"/>
          </a:p>
          <a:p>
            <a:pPr marL="0" indent="0">
              <a:buNone/>
            </a:pPr>
            <a:r>
              <a:rPr lang="en-US" sz="1400" dirty="0" smtClean="0">
                <a:solidFill>
                  <a:srgbClr val="000088"/>
                </a:solidFill>
                <a:latin typeface="JetBrains Mono"/>
              </a:rPr>
              <a:t>SELECT</a:t>
            </a:r>
            <a:r>
              <a:rPr lang="en-US" sz="1400" dirty="0" smtClean="0">
                <a:solidFill>
                  <a:srgbClr val="000000"/>
                </a:solidFill>
                <a:latin typeface="JetBrains Mono"/>
              </a:rPr>
              <a:t> </a:t>
            </a:r>
            <a:r>
              <a:rPr lang="en-US" sz="1400" dirty="0">
                <a:solidFill>
                  <a:srgbClr val="000000"/>
                </a:solidFill>
                <a:latin typeface="JetBrains Mono"/>
              </a:rPr>
              <a:t>title, amount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FROM</a:t>
            </a:r>
            <a:r>
              <a:rPr lang="en-US" sz="1400" dirty="0" smtClean="0">
                <a:solidFill>
                  <a:srgbClr val="000000"/>
                </a:solidFill>
                <a:latin typeface="JetBrains Mono"/>
              </a:rPr>
              <a:t> </a:t>
            </a:r>
            <a:r>
              <a:rPr lang="en-US" sz="1400" dirty="0">
                <a:solidFill>
                  <a:srgbClr val="000000"/>
                </a:solidFill>
                <a:latin typeface="JetBrains Mono"/>
              </a:rPr>
              <a:t>book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WHERE</a:t>
            </a:r>
            <a:r>
              <a:rPr lang="en-US" sz="1400" dirty="0" smtClean="0">
                <a:solidFill>
                  <a:srgbClr val="000000"/>
                </a:solidFill>
                <a:latin typeface="JetBrains Mono"/>
              </a:rPr>
              <a:t> </a:t>
            </a:r>
            <a:r>
              <a:rPr lang="en-US" sz="1400" dirty="0">
                <a:solidFill>
                  <a:srgbClr val="000000"/>
                </a:solidFill>
                <a:latin typeface="JetBrains Mono"/>
              </a:rPr>
              <a:t>amount </a:t>
            </a:r>
            <a:r>
              <a:rPr lang="en-US" sz="1400" dirty="0">
                <a:solidFill>
                  <a:srgbClr val="000088"/>
                </a:solidFill>
                <a:latin typeface="JetBrains Mono"/>
              </a:rPr>
              <a:t>BETWEEN</a:t>
            </a:r>
            <a:r>
              <a:rPr lang="en-US" sz="1400" dirty="0">
                <a:solidFill>
                  <a:srgbClr val="000000"/>
                </a:solidFill>
                <a:latin typeface="JetBrains Mono"/>
              </a:rPr>
              <a:t> </a:t>
            </a:r>
            <a:r>
              <a:rPr lang="en-US" sz="1400" dirty="0">
                <a:solidFill>
                  <a:srgbClr val="006666"/>
                </a:solidFill>
                <a:latin typeface="JetBrains Mono"/>
              </a:rPr>
              <a:t>5</a:t>
            </a:r>
            <a:r>
              <a:rPr lang="en-US" sz="1400" dirty="0">
                <a:solidFill>
                  <a:srgbClr val="000000"/>
                </a:solidFill>
                <a:latin typeface="JetBrains Mono"/>
              </a:rPr>
              <a:t> </a:t>
            </a:r>
            <a:r>
              <a:rPr lang="en-US" sz="1400" dirty="0">
                <a:solidFill>
                  <a:srgbClr val="000088"/>
                </a:solidFill>
                <a:latin typeface="JetBrains Mono"/>
              </a:rPr>
              <a:t>AND</a:t>
            </a:r>
            <a:r>
              <a:rPr lang="en-US" sz="1400" dirty="0">
                <a:solidFill>
                  <a:srgbClr val="000000"/>
                </a:solidFill>
                <a:latin typeface="JetBrains Mono"/>
              </a:rPr>
              <a:t> </a:t>
            </a:r>
            <a:r>
              <a:rPr lang="en-US" sz="1400" dirty="0">
                <a:solidFill>
                  <a:srgbClr val="006666"/>
                </a:solidFill>
                <a:latin typeface="JetBrains Mono"/>
              </a:rPr>
              <a:t>14</a:t>
            </a:r>
            <a:r>
              <a:rPr lang="en-US" sz="1400" dirty="0" smtClean="0">
                <a:solidFill>
                  <a:srgbClr val="000000"/>
                </a:solidFill>
                <a:latin typeface="JetBrains Mono"/>
              </a:rPr>
              <a:t>;</a:t>
            </a:r>
            <a:endParaRPr lang="ru-RU" sz="1400" dirty="0" smtClean="0">
              <a:solidFill>
                <a:srgbClr val="000000"/>
              </a:solidFill>
              <a:latin typeface="JetBrains Mono"/>
            </a:endParaRPr>
          </a:p>
          <a:p>
            <a:pPr marL="0" indent="0">
              <a:buNone/>
            </a:pPr>
            <a:endParaRPr lang="ru-RU" sz="1400" dirty="0" smtClean="0">
              <a:solidFill>
                <a:srgbClr val="000000"/>
              </a:solidFill>
              <a:latin typeface="JetBrains Mono"/>
            </a:endParaRPr>
          </a:p>
          <a:p>
            <a:pPr marL="0" indent="0">
              <a:buNone/>
            </a:pPr>
            <a:r>
              <a:rPr lang="en-US" sz="1400" dirty="0">
                <a:solidFill>
                  <a:srgbClr val="000088"/>
                </a:solidFill>
                <a:latin typeface="JetBrains Mono"/>
              </a:rPr>
              <a:t>SELECT</a:t>
            </a:r>
            <a:r>
              <a:rPr lang="en-US" sz="1400" dirty="0">
                <a:solidFill>
                  <a:srgbClr val="000000"/>
                </a:solidFill>
                <a:latin typeface="JetBrains Mono"/>
              </a:rPr>
              <a:t> title, amount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FROM</a:t>
            </a:r>
            <a:r>
              <a:rPr lang="en-US" sz="1400" dirty="0" smtClean="0">
                <a:solidFill>
                  <a:srgbClr val="000000"/>
                </a:solidFill>
                <a:latin typeface="JetBrains Mono"/>
              </a:rPr>
              <a:t> </a:t>
            </a:r>
            <a:r>
              <a:rPr lang="en-US" sz="1400" dirty="0">
                <a:solidFill>
                  <a:srgbClr val="000000"/>
                </a:solidFill>
                <a:latin typeface="JetBrains Mono"/>
              </a:rPr>
              <a:t>book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WHERE</a:t>
            </a:r>
            <a:r>
              <a:rPr lang="en-US" sz="1400" dirty="0" smtClean="0">
                <a:solidFill>
                  <a:srgbClr val="000000"/>
                </a:solidFill>
                <a:latin typeface="JetBrains Mono"/>
              </a:rPr>
              <a:t> </a:t>
            </a:r>
            <a:r>
              <a:rPr lang="en-US" sz="1400" dirty="0">
                <a:solidFill>
                  <a:srgbClr val="000000"/>
                </a:solidFill>
                <a:latin typeface="JetBrains Mono"/>
              </a:rPr>
              <a:t>amount &gt;= </a:t>
            </a:r>
            <a:r>
              <a:rPr lang="en-US" sz="1400" dirty="0">
                <a:solidFill>
                  <a:srgbClr val="006666"/>
                </a:solidFill>
                <a:latin typeface="JetBrains Mono"/>
              </a:rPr>
              <a:t>5</a:t>
            </a:r>
            <a:r>
              <a:rPr lang="en-US" sz="1400" dirty="0">
                <a:solidFill>
                  <a:srgbClr val="000000"/>
                </a:solidFill>
                <a:latin typeface="JetBrains Mono"/>
              </a:rPr>
              <a:t> </a:t>
            </a:r>
            <a:r>
              <a:rPr lang="en-US" sz="1400" dirty="0">
                <a:solidFill>
                  <a:srgbClr val="000088"/>
                </a:solidFill>
                <a:latin typeface="JetBrains Mono"/>
              </a:rPr>
              <a:t>AND</a:t>
            </a:r>
            <a:r>
              <a:rPr lang="en-US" sz="1400" dirty="0">
                <a:solidFill>
                  <a:srgbClr val="000000"/>
                </a:solidFill>
                <a:latin typeface="JetBrains Mono"/>
              </a:rPr>
              <a:t> amount &lt;=</a:t>
            </a:r>
            <a:r>
              <a:rPr lang="en-US" sz="1400" dirty="0">
                <a:solidFill>
                  <a:srgbClr val="006666"/>
                </a:solidFill>
                <a:latin typeface="JetBrains Mono"/>
              </a:rPr>
              <a:t>14</a:t>
            </a:r>
            <a:r>
              <a:rPr lang="en-US" sz="1400" dirty="0">
                <a:solidFill>
                  <a:srgbClr val="000000"/>
                </a:solidFill>
                <a:latin typeface="JetBrains Mono"/>
              </a:rPr>
              <a:t>;</a:t>
            </a:r>
            <a:endParaRPr lang="en-US" sz="1400" dirty="0"/>
          </a:p>
          <a:p>
            <a:pPr marL="0" indent="0">
              <a:buNone/>
            </a:pPr>
            <a:endParaRPr lang="en-US" sz="14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4011910"/>
            <a:ext cx="220027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0352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the LIKE </a:t>
            </a:r>
            <a:r>
              <a:rPr lang="en-US" sz="2800" b="1" dirty="0" smtClean="0"/>
              <a:t>Operator</a:t>
            </a:r>
            <a:endParaRPr lang="en-US" sz="2800" dirty="0"/>
          </a:p>
        </p:txBody>
      </p:sp>
      <p:sp>
        <p:nvSpPr>
          <p:cNvPr id="3" name="Объект 2"/>
          <p:cNvSpPr>
            <a:spLocks noGrp="1"/>
          </p:cNvSpPr>
          <p:nvPr>
            <p:ph idx="1"/>
          </p:nvPr>
        </p:nvSpPr>
        <p:spPr>
          <a:xfrm>
            <a:off x="395536" y="436564"/>
            <a:ext cx="8229600" cy="4007394"/>
          </a:xfrm>
        </p:spPr>
        <p:txBody>
          <a:bodyPr>
            <a:normAutofit/>
          </a:bodyPr>
          <a:lstStyle/>
          <a:p>
            <a:pPr marL="0" indent="0">
              <a:buNone/>
            </a:pPr>
            <a:r>
              <a:rPr lang="en-US" sz="1400" dirty="0">
                <a:solidFill>
                  <a:srgbClr val="0F1115"/>
                </a:solidFill>
                <a:latin typeface="quote-cjk-patch"/>
              </a:rPr>
              <a:t>The </a:t>
            </a:r>
            <a:r>
              <a:rPr lang="en-US" sz="1400" dirty="0"/>
              <a:t>LIKE</a:t>
            </a:r>
            <a:r>
              <a:rPr lang="en-US" sz="1400" dirty="0">
                <a:solidFill>
                  <a:srgbClr val="0F1115"/>
                </a:solidFill>
                <a:latin typeface="quote-cjk-patch"/>
              </a:rPr>
              <a:t> operator is used to compare character strings. Unlike the equality (</a:t>
            </a:r>
            <a:r>
              <a:rPr lang="en-US" sz="1400" dirty="0"/>
              <a:t>=</a:t>
            </a:r>
            <a:r>
              <a:rPr lang="en-US" sz="1400" dirty="0">
                <a:solidFill>
                  <a:srgbClr val="0F1115"/>
                </a:solidFill>
                <a:latin typeface="quote-cjk-patch"/>
              </a:rPr>
              <a:t>) and inequality (</a:t>
            </a:r>
            <a:r>
              <a:rPr lang="en-US" sz="1400" dirty="0"/>
              <a:t>&lt;&gt;</a:t>
            </a:r>
            <a:r>
              <a:rPr lang="en-US" sz="1400" dirty="0">
                <a:solidFill>
                  <a:srgbClr val="0F1115"/>
                </a:solidFill>
                <a:latin typeface="quote-cjk-patch"/>
              </a:rPr>
              <a:t>) operators, </a:t>
            </a:r>
            <a:r>
              <a:rPr lang="en-US" sz="1400" dirty="0"/>
              <a:t>LIKE</a:t>
            </a:r>
            <a:r>
              <a:rPr lang="en-US" sz="1400" dirty="0">
                <a:solidFill>
                  <a:srgbClr val="0F1115"/>
                </a:solidFill>
                <a:latin typeface="quote-cjk-patch"/>
              </a:rPr>
              <a:t> allows for pattern matching instead of exact match comparison. The pattern can include regular characters and wildcard characters. During comparison, the regular characters in the pattern must exactly match the characters in the string. Wildcard characters can match arbitrary elements of the character string.</a:t>
            </a:r>
            <a:endParaRPr lang="ru-RU" sz="1400" dirty="0" smtClean="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r>
              <a:rPr lang="en-US" sz="1400" b="1" dirty="0"/>
              <a:t>Example 1</a:t>
            </a:r>
            <a:endParaRPr lang="en-US" sz="1400" dirty="0"/>
          </a:p>
          <a:p>
            <a:pPr marL="0" indent="0">
              <a:buNone/>
            </a:pPr>
            <a:r>
              <a:rPr lang="en-US" sz="1400" dirty="0"/>
              <a:t>Select the titles of books that start with the letter "Б".</a:t>
            </a:r>
          </a:p>
          <a:p>
            <a:pPr marL="0" indent="0">
              <a:buNone/>
            </a:pPr>
            <a:r>
              <a:rPr lang="en-US" sz="1400" dirty="0">
                <a:solidFill>
                  <a:srgbClr val="A626A4"/>
                </a:solidFill>
              </a:rPr>
              <a:t>SELECT</a:t>
            </a:r>
            <a:r>
              <a:rPr lang="en-US" sz="1400" dirty="0"/>
              <a:t> title </a:t>
            </a:r>
            <a:r>
              <a:rPr lang="en-US" sz="1400" dirty="0">
                <a:solidFill>
                  <a:srgbClr val="A626A4"/>
                </a:solidFill>
              </a:rPr>
              <a:t>FROM</a:t>
            </a:r>
            <a:r>
              <a:rPr lang="en-US" sz="1400" dirty="0"/>
              <a:t> book </a:t>
            </a:r>
            <a:r>
              <a:rPr lang="en-US" sz="1400" dirty="0">
                <a:solidFill>
                  <a:srgbClr val="A626A4"/>
                </a:solidFill>
              </a:rPr>
              <a:t>WHERE</a:t>
            </a:r>
            <a:r>
              <a:rPr lang="en-US" sz="1400" dirty="0"/>
              <a:t> title </a:t>
            </a:r>
            <a:r>
              <a:rPr lang="en-US" sz="1400" dirty="0">
                <a:solidFill>
                  <a:srgbClr val="4078F2"/>
                </a:solidFill>
              </a:rPr>
              <a:t>LIKE</a:t>
            </a:r>
            <a:r>
              <a:rPr lang="en-US" sz="1400" dirty="0"/>
              <a:t> </a:t>
            </a:r>
            <a:r>
              <a:rPr lang="en-US" sz="1400" dirty="0">
                <a:solidFill>
                  <a:srgbClr val="50A14F"/>
                </a:solidFill>
              </a:rPr>
              <a:t>'Б%'</a:t>
            </a:r>
            <a:r>
              <a:rPr lang="en-US" sz="1400" dirty="0">
                <a:solidFill>
                  <a:srgbClr val="383A42"/>
                </a:solidFill>
              </a:rPr>
              <a:t>;</a:t>
            </a:r>
            <a:endParaRPr lang="en-US" sz="1400" dirty="0"/>
          </a:p>
        </p:txBody>
      </p:sp>
      <p:graphicFrame>
        <p:nvGraphicFramePr>
          <p:cNvPr id="4" name="Таблица 3"/>
          <p:cNvGraphicFramePr>
            <a:graphicFrameLocks noGrp="1"/>
          </p:cNvGraphicFramePr>
          <p:nvPr>
            <p:extLst>
              <p:ext uri="{D42A27DB-BD31-4B8C-83A1-F6EECF244321}">
                <p14:modId xmlns:p14="http://schemas.microsoft.com/office/powerpoint/2010/main" val="1585429820"/>
              </p:ext>
            </p:extLst>
          </p:nvPr>
        </p:nvGraphicFramePr>
        <p:xfrm>
          <a:off x="395536" y="1574684"/>
          <a:ext cx="8424936" cy="1933170"/>
        </p:xfrm>
        <a:graphic>
          <a:graphicData uri="http://schemas.openxmlformats.org/drawingml/2006/table">
            <a:tbl>
              <a:tblPr/>
              <a:tblGrid>
                <a:gridCol w="1440160"/>
                <a:gridCol w="1872208"/>
                <a:gridCol w="5112568"/>
              </a:tblGrid>
              <a:tr h="320821">
                <a:tc>
                  <a:txBody>
                    <a:bodyPr/>
                    <a:lstStyle/>
                    <a:p>
                      <a:pPr algn="l"/>
                      <a:r>
                        <a:rPr lang="en-US" sz="1400" b="0" dirty="0">
                          <a:effectLst/>
                          <a:latin typeface="quote-cjk-patch"/>
                        </a:rPr>
                        <a:t>Wildcard</a:t>
                      </a:r>
                    </a:p>
                  </a:txBody>
                  <a:tcPr marL="70344" marR="117239" marT="73275" marB="73275" anchor="ctr">
                    <a:lnL>
                      <a:noFill/>
                    </a:lnL>
                    <a:lnR>
                      <a:noFill/>
                    </a:lnR>
                    <a:lnT>
                      <a:noFill/>
                    </a:lnT>
                    <a:lnB>
                      <a:noFill/>
                    </a:lnB>
                    <a:solidFill>
                      <a:srgbClr val="FFFFFF"/>
                    </a:solidFill>
                  </a:tcPr>
                </a:tc>
                <a:tc>
                  <a:txBody>
                    <a:bodyPr/>
                    <a:lstStyle/>
                    <a:p>
                      <a:pPr algn="l"/>
                      <a:r>
                        <a:rPr lang="en-US" sz="1400" b="0">
                          <a:effectLst/>
                          <a:latin typeface="quote-cjk-patch"/>
                        </a:rPr>
                        <a:t>Description</a:t>
                      </a:r>
                    </a:p>
                  </a:txBody>
                  <a:tcPr marL="117239" marR="117239" marT="73275" marB="73275" anchor="ctr">
                    <a:lnL>
                      <a:noFill/>
                    </a:lnL>
                    <a:lnR>
                      <a:noFill/>
                    </a:lnR>
                    <a:lnT>
                      <a:noFill/>
                    </a:lnT>
                    <a:lnB>
                      <a:noFill/>
                    </a:lnB>
                    <a:solidFill>
                      <a:srgbClr val="FFFFFF"/>
                    </a:solidFill>
                  </a:tcPr>
                </a:tc>
                <a:tc>
                  <a:txBody>
                    <a:bodyPr/>
                    <a:lstStyle/>
                    <a:p>
                      <a:pPr algn="l"/>
                      <a:r>
                        <a:rPr lang="en-US" sz="1400" b="0">
                          <a:effectLst/>
                          <a:latin typeface="quote-cjk-patch"/>
                        </a:rPr>
                        <a:t>Example</a:t>
                      </a:r>
                    </a:p>
                  </a:txBody>
                  <a:tcPr marL="117239" marR="117239" marT="73275" marB="73275" anchor="ctr">
                    <a:lnL>
                      <a:noFill/>
                    </a:lnL>
                    <a:lnR>
                      <a:noFill/>
                    </a:lnR>
                    <a:lnT>
                      <a:noFill/>
                    </a:lnT>
                    <a:lnB>
                      <a:noFill/>
                    </a:lnB>
                    <a:solidFill>
                      <a:srgbClr val="FFFFFF"/>
                    </a:solidFill>
                  </a:tcPr>
                </a:tc>
              </a:tr>
              <a:tr h="706176">
                <a:tc>
                  <a:txBody>
                    <a:bodyPr/>
                    <a:lstStyle/>
                    <a:p>
                      <a:r>
                        <a:rPr lang="en-US" sz="1400" b="0">
                          <a:effectLst/>
                          <a:latin typeface="quote-cjk-patch"/>
                        </a:rPr>
                        <a:t>%</a:t>
                      </a:r>
                    </a:p>
                  </a:txBody>
                  <a:tcPr marL="70344" marR="117239" marT="73275" marB="73275" anchor="ctr">
                    <a:lnL>
                      <a:noFill/>
                    </a:lnL>
                    <a:lnR>
                      <a:noFill/>
                    </a:lnR>
                    <a:lnT>
                      <a:noFill/>
                    </a:lnT>
                    <a:lnB>
                      <a:noFill/>
                    </a:lnB>
                    <a:solidFill>
                      <a:srgbClr val="FFFFFF"/>
                    </a:solidFill>
                  </a:tcPr>
                </a:tc>
                <a:tc>
                  <a:txBody>
                    <a:bodyPr/>
                    <a:lstStyle/>
                    <a:p>
                      <a:r>
                        <a:rPr lang="en-US" sz="1400" b="0" dirty="0">
                          <a:effectLst/>
                          <a:latin typeface="quote-cjk-patch"/>
                        </a:rPr>
                        <a:t>Matches any string of zero or more characters.</a:t>
                      </a:r>
                    </a:p>
                  </a:txBody>
                  <a:tcPr marL="117239" marR="117239" marT="73275" marB="73275" anchor="ctr">
                    <a:lnL>
                      <a:noFill/>
                    </a:lnL>
                    <a:lnR>
                      <a:noFill/>
                    </a:lnR>
                    <a:lnT>
                      <a:noFill/>
                    </a:lnT>
                    <a:lnB>
                      <a:noFill/>
                    </a:lnB>
                    <a:solidFill>
                      <a:srgbClr val="FFFFFF"/>
                    </a:solidFill>
                  </a:tcPr>
                </a:tc>
                <a:tc>
                  <a:txBody>
                    <a:bodyPr/>
                    <a:lstStyle/>
                    <a:p>
                      <a:r>
                        <a:rPr lang="en-US" sz="1400" b="0">
                          <a:effectLst/>
                          <a:latin typeface="quote-cjk-patch"/>
                        </a:rPr>
                        <a:t>SELECT * FROM book WHERE author LIKE '%М.%'</a:t>
                      </a:r>
                      <a:br>
                        <a:rPr lang="en-US" sz="1400" b="0">
                          <a:effectLst/>
                          <a:latin typeface="quote-cjk-patch"/>
                        </a:rPr>
                      </a:br>
                      <a:r>
                        <a:rPr lang="en-US" sz="1400" b="0">
                          <a:effectLst/>
                          <a:latin typeface="quote-cjk-patch"/>
                        </a:rPr>
                        <a:t>This searches for and returns all books where the author's initials contain "М."</a:t>
                      </a:r>
                    </a:p>
                  </a:txBody>
                  <a:tcPr marL="117239" marR="70344" marT="73275" marB="73275" anchor="ctr">
                    <a:lnL>
                      <a:noFill/>
                    </a:lnL>
                    <a:lnR>
                      <a:noFill/>
                    </a:lnR>
                    <a:lnT>
                      <a:noFill/>
                    </a:lnT>
                    <a:lnB>
                      <a:noFill/>
                    </a:lnB>
                    <a:solidFill>
                      <a:srgbClr val="FFFFFF"/>
                    </a:solidFill>
                  </a:tcPr>
                </a:tc>
              </a:tr>
              <a:tr h="653660">
                <a:tc>
                  <a:txBody>
                    <a:bodyPr/>
                    <a:lstStyle/>
                    <a:p>
                      <a:r>
                        <a:rPr lang="en-US" sz="1400" b="0">
                          <a:effectLst/>
                          <a:latin typeface="quote-cjk-patch"/>
                        </a:rPr>
                        <a:t>_ (underscore)</a:t>
                      </a:r>
                    </a:p>
                  </a:txBody>
                  <a:tcPr marL="70344" marR="117239" marT="73275" marB="73275" anchor="ctr">
                    <a:lnL>
                      <a:noFill/>
                    </a:lnL>
                    <a:lnR>
                      <a:noFill/>
                    </a:lnR>
                    <a:lnT>
                      <a:noFill/>
                    </a:lnT>
                    <a:lnB>
                      <a:noFill/>
                    </a:lnB>
                    <a:solidFill>
                      <a:srgbClr val="FFFFFF"/>
                    </a:solidFill>
                  </a:tcPr>
                </a:tc>
                <a:tc>
                  <a:txBody>
                    <a:bodyPr/>
                    <a:lstStyle/>
                    <a:p>
                      <a:r>
                        <a:rPr lang="en-US" sz="1400" b="0">
                          <a:effectLst/>
                          <a:latin typeface="quote-cjk-patch"/>
                        </a:rPr>
                        <a:t>Matches any single character.</a:t>
                      </a:r>
                    </a:p>
                  </a:txBody>
                  <a:tcPr marL="117239" marR="117239" marT="73275" marB="73275" anchor="ctr">
                    <a:lnL>
                      <a:noFill/>
                    </a:lnL>
                    <a:lnR>
                      <a:noFill/>
                    </a:lnR>
                    <a:lnT>
                      <a:noFill/>
                    </a:lnT>
                    <a:lnB>
                      <a:noFill/>
                    </a:lnB>
                    <a:solidFill>
                      <a:srgbClr val="FFFFFF"/>
                    </a:solidFill>
                  </a:tcPr>
                </a:tc>
                <a:tc>
                  <a:txBody>
                    <a:bodyPr/>
                    <a:lstStyle/>
                    <a:p>
                      <a:r>
                        <a:rPr lang="en-US" sz="1400" b="0" dirty="0">
                          <a:effectLst/>
                          <a:latin typeface="quote-cjk-patch"/>
                        </a:rPr>
                        <a:t>SELECT * FROM book WHERE title LIKE '</a:t>
                      </a:r>
                      <a:r>
                        <a:rPr lang="en-US" sz="1400" b="0" dirty="0" err="1">
                          <a:effectLst/>
                          <a:latin typeface="quote-cjk-patch"/>
                        </a:rPr>
                        <a:t>Поэм</a:t>
                      </a:r>
                      <a:r>
                        <a:rPr lang="en-US" sz="1400" b="0" dirty="0">
                          <a:effectLst/>
                          <a:latin typeface="quote-cjk-patch"/>
                        </a:rPr>
                        <a:t>_'</a:t>
                      </a:r>
                      <a:br>
                        <a:rPr lang="en-US" sz="1400" b="0" dirty="0">
                          <a:effectLst/>
                          <a:latin typeface="quote-cjk-patch"/>
                        </a:rPr>
                      </a:br>
                      <a:r>
                        <a:rPr lang="en-US" sz="1400" b="0" dirty="0">
                          <a:effectLst/>
                          <a:latin typeface="quote-cjk-patch"/>
                        </a:rPr>
                        <a:t>This searches for and returns all books whose titles are "</a:t>
                      </a:r>
                      <a:r>
                        <a:rPr lang="en-US" sz="1400" b="0" dirty="0" err="1">
                          <a:effectLst/>
                          <a:latin typeface="quote-cjk-patch"/>
                        </a:rPr>
                        <a:t>Поэма</a:t>
                      </a:r>
                      <a:r>
                        <a:rPr lang="en-US" sz="1400" b="0" dirty="0">
                          <a:effectLst/>
                          <a:latin typeface="quote-cjk-patch"/>
                        </a:rPr>
                        <a:t>", "</a:t>
                      </a:r>
                      <a:r>
                        <a:rPr lang="en-US" sz="1400" b="0" dirty="0" err="1">
                          <a:effectLst/>
                          <a:latin typeface="quote-cjk-patch"/>
                        </a:rPr>
                        <a:t>Поэмы</a:t>
                      </a:r>
                      <a:r>
                        <a:rPr lang="en-US" sz="1400" b="0" dirty="0">
                          <a:effectLst/>
                          <a:latin typeface="quote-cjk-patch"/>
                        </a:rPr>
                        <a:t>", etc.</a:t>
                      </a:r>
                    </a:p>
                  </a:txBody>
                  <a:tcPr marL="117239" marR="70344" marT="73275" marB="73275" anchor="ctr">
                    <a:lnL>
                      <a:noFill/>
                    </a:lnL>
                    <a:lnR>
                      <a:noFill/>
                    </a:lnR>
                    <a:lnT>
                      <a:noFill/>
                    </a:lnT>
                    <a:lnB>
                      <a:noFill/>
                    </a:lnB>
                    <a:solidFill>
                      <a:srgbClr val="FFFFFF"/>
                    </a:solidFill>
                  </a:tcPr>
                </a:tc>
              </a:tr>
            </a:tbl>
          </a:graphicData>
        </a:graphic>
      </p:graphicFrame>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3795886"/>
            <a:ext cx="193357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847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the LIKE </a:t>
            </a:r>
            <a:r>
              <a:rPr lang="en-US" sz="2800" b="1" dirty="0" smtClean="0"/>
              <a:t>Operator</a:t>
            </a:r>
            <a:endParaRPr lang="en-US" sz="2800" dirty="0"/>
          </a:p>
        </p:txBody>
      </p:sp>
      <p:sp>
        <p:nvSpPr>
          <p:cNvPr id="3" name="Объект 2"/>
          <p:cNvSpPr>
            <a:spLocks noGrp="1"/>
          </p:cNvSpPr>
          <p:nvPr>
            <p:ph idx="1"/>
          </p:nvPr>
        </p:nvSpPr>
        <p:spPr>
          <a:xfrm>
            <a:off x="395536" y="436564"/>
            <a:ext cx="8229600" cy="4007394"/>
          </a:xfrm>
        </p:spPr>
        <p:txBody>
          <a:bodyPr>
            <a:normAutofit/>
          </a:bodyPr>
          <a:lstStyle/>
          <a:p>
            <a:pPr marL="0" indent="0">
              <a:buNone/>
            </a:pPr>
            <a:r>
              <a:rPr lang="en-US" sz="1400" b="1" dirty="0"/>
              <a:t>Example 2</a:t>
            </a:r>
            <a:endParaRPr lang="en-US" sz="1400" dirty="0"/>
          </a:p>
          <a:p>
            <a:pPr marL="0" indent="0">
              <a:buNone/>
            </a:pPr>
            <a:r>
              <a:rPr lang="en-US" sz="1400" dirty="0"/>
              <a:t>Select the titles of books that consist of exactly 5 letters.</a:t>
            </a:r>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p:txBody>
      </p:sp>
    </p:spTree>
    <p:extLst>
      <p:ext uri="{BB962C8B-B14F-4D97-AF65-F5344CB8AC3E}">
        <p14:creationId xmlns:p14="http://schemas.microsoft.com/office/powerpoint/2010/main" val="339666948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TotalTime>
  <Words>416</Words>
  <Application>Microsoft Office PowerPoint</Application>
  <PresentationFormat>Экран (16:9)</PresentationFormat>
  <Paragraphs>129</Paragraphs>
  <Slides>11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11</vt:i4>
      </vt:variant>
    </vt:vector>
  </HeadingPairs>
  <TitlesOfParts>
    <vt:vector size="12" baseType="lpstr">
      <vt:lpstr>Тема Office</vt:lpstr>
      <vt:lpstr>Презентация PowerPoint</vt:lpstr>
      <vt:lpstr>Selecting all data from a table</vt:lpstr>
      <vt:lpstr>Selecting Specific Columns</vt:lpstr>
      <vt:lpstr>Assigning New Names to Columns in a Query Result</vt:lpstr>
      <vt:lpstr>Selecting Data with a Calculated Column</vt:lpstr>
      <vt:lpstr>Selecting Data, Calculated Columns, Mathematical Functions</vt:lpstr>
      <vt:lpstr>Selecting Data, Calculated Columns, Logical Functions</vt:lpstr>
      <vt:lpstr>Selecting Data, Logical Operations</vt:lpstr>
      <vt:lpstr>Selecting Data, BETWEEN and IN Operators</vt:lpstr>
      <vt:lpstr>Selecting Data, the LIKE Operator</vt:lpstr>
      <vt:lpstr>Selecting Data, the LIKE Operator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tvi-v</dc:creator>
  <cp:lastModifiedBy>tvi-vlad@mail.ru</cp:lastModifiedBy>
  <cp:revision>13</cp:revision>
  <dcterms:created xsi:type="dcterms:W3CDTF">2025-10-08T04:29:54Z</dcterms:created>
  <dcterms:modified xsi:type="dcterms:W3CDTF">2025-10-08T06:19:58Z</dcterms:modified>
</cp:coreProperties>
</file>