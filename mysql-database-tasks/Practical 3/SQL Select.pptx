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3" r:id="rId17"/>
    <p:sldId id="272"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Lst>
  <p:sldSz cx="9144000" cy="5143500" type="screen16x9"/>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42" d="100"/>
          <a:sy n="142" d="100"/>
        </p:scale>
        <p:origin x="-660" y="-102"/>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Дата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7FAD225-7D9A-4E7B-A9BF-B7B610A8E119}" type="datetimeFigureOut">
              <a:rPr lang="en-US" smtClean="0"/>
              <a:t>10/22/2025</a:t>
            </a:fld>
            <a:endParaRPr lang="en-US"/>
          </a:p>
        </p:txBody>
      </p:sp>
      <p:sp>
        <p:nvSpPr>
          <p:cNvPr id="4" name="Образ слайда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Заметки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6" name="Нижний колонтитул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Номер слайда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F4008A8-29A1-46BA-80B0-A98A7FB79D15}" type="slidenum">
              <a:rPr lang="en-US" smtClean="0"/>
              <a:t>‹#›</a:t>
            </a:fld>
            <a:endParaRPr lang="en-US"/>
          </a:p>
        </p:txBody>
      </p:sp>
    </p:spTree>
    <p:extLst>
      <p:ext uri="{BB962C8B-B14F-4D97-AF65-F5344CB8AC3E}">
        <p14:creationId xmlns:p14="http://schemas.microsoft.com/office/powerpoint/2010/main" val="35588720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en-US" dirty="0"/>
          </a:p>
        </p:txBody>
      </p:sp>
      <p:sp>
        <p:nvSpPr>
          <p:cNvPr id="4" name="Номер слайда 3"/>
          <p:cNvSpPr>
            <a:spLocks noGrp="1"/>
          </p:cNvSpPr>
          <p:nvPr>
            <p:ph type="sldNum" sz="quarter" idx="10"/>
          </p:nvPr>
        </p:nvSpPr>
        <p:spPr/>
        <p:txBody>
          <a:bodyPr/>
          <a:lstStyle/>
          <a:p>
            <a:fld id="{9F4008A8-29A1-46BA-80B0-A98A7FB79D15}" type="slidenum">
              <a:rPr lang="en-US" smtClean="0"/>
              <a:t>11</a:t>
            </a:fld>
            <a:endParaRPr lang="en-US"/>
          </a:p>
        </p:txBody>
      </p:sp>
    </p:spTree>
    <p:extLst>
      <p:ext uri="{BB962C8B-B14F-4D97-AF65-F5344CB8AC3E}">
        <p14:creationId xmlns:p14="http://schemas.microsoft.com/office/powerpoint/2010/main" val="29071656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1597819"/>
            <a:ext cx="7772400" cy="1102519"/>
          </a:xfrm>
        </p:spPr>
        <p:txBody>
          <a:bodyPr/>
          <a:lstStyle/>
          <a:p>
            <a:r>
              <a:rPr lang="ru-RU" smtClean="0"/>
              <a:t>Образец заголовка</a:t>
            </a:r>
            <a:endParaRPr lang="ru-RU"/>
          </a:p>
        </p:txBody>
      </p:sp>
      <p:sp>
        <p:nvSpPr>
          <p:cNvPr id="3" name="Подзаголовок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B4C71EC6-210F-42DE-9C53-41977AD35B3D}" type="datetimeFigureOut">
              <a:rPr lang="ru-RU" smtClean="0"/>
              <a:t>22.10.2025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B4C71EC6-210F-42DE-9C53-41977AD35B3D}" type="datetimeFigureOut">
              <a:rPr lang="ru-RU" smtClean="0"/>
              <a:t>22.10.2025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3305176"/>
            <a:ext cx="7772400" cy="1021556"/>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B4C71EC6-210F-42DE-9C53-41977AD35B3D}" type="datetimeFigureOut">
              <a:rPr lang="ru-RU" smtClean="0"/>
              <a:t>22.10.2025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Содержимое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B4C71EC6-210F-42DE-9C53-41977AD35B3D}" type="datetimeFigureOut">
              <a:rPr lang="ru-RU" smtClean="0"/>
              <a:t>22.10.2025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Содержимое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Содержимое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B4C71EC6-210F-42DE-9C53-41977AD35B3D}" type="datetimeFigureOut">
              <a:rPr lang="ru-RU" smtClean="0"/>
              <a:t>22.10.2025</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B4C71EC6-210F-42DE-9C53-41977AD35B3D}" type="datetimeFigureOut">
              <a:rPr lang="ru-RU" smtClean="0"/>
              <a:t>22.10.2025</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B4C71EC6-210F-42DE-9C53-41977AD35B3D}" type="datetimeFigureOut">
              <a:rPr lang="ru-RU" smtClean="0"/>
              <a:t>22.10.2025</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1" y="204787"/>
            <a:ext cx="3008313" cy="871538"/>
          </a:xfrm>
        </p:spPr>
        <p:txBody>
          <a:bodyPr anchor="b"/>
          <a:lstStyle>
            <a:lvl1pPr algn="l">
              <a:defRPr sz="2000" b="1"/>
            </a:lvl1pPr>
          </a:lstStyle>
          <a:p>
            <a:r>
              <a:rPr lang="ru-RU" smtClean="0"/>
              <a:t>Образец заголовка</a:t>
            </a:r>
            <a:endParaRPr lang="ru-RU"/>
          </a:p>
        </p:txBody>
      </p:sp>
      <p:sp>
        <p:nvSpPr>
          <p:cNvPr id="3" name="Содержимое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B4C71EC6-210F-42DE-9C53-41977AD35B3D}" type="datetimeFigureOut">
              <a:rPr lang="ru-RU" smtClean="0"/>
              <a:t>22.10.2025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3600450"/>
            <a:ext cx="5486400" cy="425054"/>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B4C71EC6-210F-42DE-9C53-41977AD35B3D}" type="datetimeFigureOut">
              <a:rPr lang="ru-RU" smtClean="0"/>
              <a:t>22.10.2025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B4C71EC6-210F-42DE-9C53-41977AD35B3D}" type="datetimeFigureOut">
              <a:rPr lang="ru-RU" smtClean="0"/>
              <a:t>22.10.2025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05979"/>
            <a:ext cx="2057400" cy="4388644"/>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205979"/>
            <a:ext cx="6019800" cy="4388644"/>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B4C71EC6-210F-42DE-9C53-41977AD35B3D}" type="datetimeFigureOut">
              <a:rPr lang="ru-RU" smtClean="0"/>
              <a:t>22.10.2025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05978"/>
            <a:ext cx="8229600" cy="857250"/>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B4C71EC6-210F-42DE-9C53-41977AD35B3D}" type="datetimeFigureOut">
              <a:rPr lang="ru-RU" smtClean="0"/>
              <a:t>22.10.2025</a:t>
            </a:fld>
            <a:endParaRPr lang="ru-RU"/>
          </a:p>
        </p:txBody>
      </p:sp>
      <p:sp>
        <p:nvSpPr>
          <p:cNvPr id="5" name="Нижний колонтитул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19B0651-EE4F-4900-A07F-96A6BFA9D0F0}" type="slidenum">
              <a:rPr lang="ru-RU" smtClean="0"/>
              <a:t>‹#›</a:t>
            </a:fld>
            <a:endParaRPr lang="ru-R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endParaRPr lang="en-US"/>
          </a:p>
        </p:txBody>
      </p:sp>
      <p:sp>
        <p:nvSpPr>
          <p:cNvPr id="3" name="Подзаголовок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41807104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95536" y="123478"/>
            <a:ext cx="8229600" cy="288032"/>
          </a:xfrm>
        </p:spPr>
        <p:txBody>
          <a:bodyPr>
            <a:normAutofit fontScale="90000"/>
          </a:bodyPr>
          <a:lstStyle/>
          <a:p>
            <a:r>
              <a:rPr lang="en-US" dirty="0"/>
              <a:t>Selecting all data from a table</a:t>
            </a:r>
          </a:p>
        </p:txBody>
      </p:sp>
      <p:sp>
        <p:nvSpPr>
          <p:cNvPr id="3" name="Объект 2"/>
          <p:cNvSpPr>
            <a:spLocks noGrp="1"/>
          </p:cNvSpPr>
          <p:nvPr>
            <p:ph idx="1"/>
          </p:nvPr>
        </p:nvSpPr>
        <p:spPr>
          <a:xfrm>
            <a:off x="467544" y="555526"/>
            <a:ext cx="8229600" cy="2880320"/>
          </a:xfrm>
        </p:spPr>
        <p:txBody>
          <a:bodyPr>
            <a:normAutofit/>
          </a:bodyPr>
          <a:lstStyle/>
          <a:p>
            <a:pPr marL="0" indent="0">
              <a:buNone/>
            </a:pPr>
            <a:r>
              <a:rPr lang="en-US" sz="1400" dirty="0"/>
              <a:t>To select all data from a table, an SQL query of the following structure is used:</a:t>
            </a:r>
          </a:p>
          <a:p>
            <a:r>
              <a:rPr lang="en-US" sz="1400" dirty="0"/>
              <a:t>The keyword SELECT;</a:t>
            </a:r>
          </a:p>
          <a:p>
            <a:r>
              <a:rPr lang="en-US" sz="1400" dirty="0"/>
              <a:t>The symbol *;</a:t>
            </a:r>
          </a:p>
          <a:p>
            <a:r>
              <a:rPr lang="en-US" sz="1400" dirty="0"/>
              <a:t>The keyword FROM;</a:t>
            </a:r>
          </a:p>
          <a:p>
            <a:r>
              <a:rPr lang="en-US" sz="1400" dirty="0"/>
              <a:t>The table name.</a:t>
            </a:r>
          </a:p>
          <a:p>
            <a:pPr marL="0" indent="0">
              <a:buNone/>
            </a:pPr>
            <a:r>
              <a:rPr lang="en-US" sz="1400" dirty="0"/>
              <a:t>The result is a table containing all the rows and columns of the specified table from the query.</a:t>
            </a:r>
          </a:p>
          <a:p>
            <a:pPr marL="0" indent="0">
              <a:buNone/>
            </a:pPr>
            <a:r>
              <a:rPr lang="en-US" sz="1400" b="1" dirty="0"/>
              <a:t>Example</a:t>
            </a:r>
            <a:endParaRPr lang="en-US" sz="1400" dirty="0"/>
          </a:p>
          <a:p>
            <a:pPr marL="0" indent="0">
              <a:buNone/>
            </a:pPr>
            <a:r>
              <a:rPr lang="en-US" sz="1400" dirty="0"/>
              <a:t>Select all records from the book table</a:t>
            </a:r>
            <a:r>
              <a:rPr lang="en-US" sz="1400" dirty="0" smtClean="0"/>
              <a:t>.</a:t>
            </a:r>
            <a:endParaRPr lang="ru-RU" sz="1400" dirty="0" smtClean="0"/>
          </a:p>
          <a:p>
            <a:pPr marL="0" indent="0">
              <a:buNone/>
            </a:pPr>
            <a:endParaRPr lang="en-US" sz="1400" dirty="0"/>
          </a:p>
          <a:p>
            <a:pPr marL="0" indent="0">
              <a:buNone/>
            </a:pPr>
            <a:r>
              <a:rPr lang="en-US" sz="1400" b="1" dirty="0"/>
              <a:t>Query:</a:t>
            </a:r>
            <a:endParaRPr lang="en-US" sz="1400" dirty="0"/>
          </a:p>
          <a:p>
            <a:pPr marL="0" indent="0">
              <a:buNone/>
            </a:pPr>
            <a:r>
              <a:rPr lang="en-US" sz="1400" dirty="0">
                <a:solidFill>
                  <a:srgbClr val="000088"/>
                </a:solidFill>
                <a:latin typeface="JetBrains Mono"/>
              </a:rPr>
              <a:t>SELECT</a:t>
            </a:r>
            <a:r>
              <a:rPr lang="en-US" sz="1400" dirty="0">
                <a:solidFill>
                  <a:srgbClr val="000000"/>
                </a:solidFill>
                <a:latin typeface="JetBrains Mono"/>
              </a:rPr>
              <a:t> * </a:t>
            </a:r>
            <a:r>
              <a:rPr lang="en-US" sz="1400" dirty="0">
                <a:solidFill>
                  <a:srgbClr val="000088"/>
                </a:solidFill>
                <a:latin typeface="JetBrains Mono"/>
              </a:rPr>
              <a:t>FROM</a:t>
            </a:r>
            <a:r>
              <a:rPr lang="en-US" sz="1400" dirty="0">
                <a:solidFill>
                  <a:srgbClr val="000000"/>
                </a:solidFill>
                <a:latin typeface="JetBrains Mono"/>
              </a:rPr>
              <a:t> book;</a:t>
            </a:r>
            <a:endParaRPr lang="en-US" sz="1400"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3507854"/>
            <a:ext cx="6645275" cy="1635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708211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123478"/>
            <a:ext cx="8229600" cy="349548"/>
          </a:xfrm>
        </p:spPr>
        <p:txBody>
          <a:bodyPr>
            <a:normAutofit fontScale="90000"/>
          </a:bodyPr>
          <a:lstStyle/>
          <a:p>
            <a:r>
              <a:rPr lang="en-US" b="1" dirty="0"/>
              <a:t>Selecting Specific Columns</a:t>
            </a:r>
            <a:endParaRPr lang="en-US" dirty="0"/>
          </a:p>
        </p:txBody>
      </p:sp>
      <p:sp>
        <p:nvSpPr>
          <p:cNvPr id="3" name="Объект 2"/>
          <p:cNvSpPr>
            <a:spLocks noGrp="1"/>
          </p:cNvSpPr>
          <p:nvPr>
            <p:ph idx="1"/>
          </p:nvPr>
        </p:nvSpPr>
        <p:spPr>
          <a:xfrm>
            <a:off x="395536" y="555526"/>
            <a:ext cx="8229600" cy="3240360"/>
          </a:xfrm>
        </p:spPr>
        <p:txBody>
          <a:bodyPr>
            <a:normAutofit fontScale="55000" lnSpcReduction="20000"/>
          </a:bodyPr>
          <a:lstStyle/>
          <a:p>
            <a:pPr marL="0" indent="0">
              <a:buNone/>
            </a:pPr>
            <a:r>
              <a:rPr lang="en-US" dirty="0"/>
              <a:t>T</a:t>
            </a:r>
            <a:r>
              <a:rPr lang="en-US" dirty="0" smtClean="0"/>
              <a:t>o </a:t>
            </a:r>
            <a:r>
              <a:rPr lang="en-US" dirty="0"/>
              <a:t>select data from specific columns of a table, an SQL query with the following structure is used:</a:t>
            </a:r>
          </a:p>
          <a:p>
            <a:r>
              <a:rPr lang="en-US" dirty="0"/>
              <a:t>The keyword SELECT;</a:t>
            </a:r>
          </a:p>
          <a:p>
            <a:r>
              <a:rPr lang="en-US" dirty="0"/>
              <a:t>A list of the table's column names, separated by commas;</a:t>
            </a:r>
          </a:p>
          <a:p>
            <a:r>
              <a:rPr lang="en-US" dirty="0"/>
              <a:t>The keyword FROM;</a:t>
            </a:r>
          </a:p>
          <a:p>
            <a:r>
              <a:rPr lang="en-US" dirty="0"/>
              <a:t>The table name.</a:t>
            </a:r>
          </a:p>
          <a:p>
            <a:pPr marL="0" indent="0">
              <a:buNone/>
            </a:pPr>
            <a:r>
              <a:rPr lang="en-US" dirty="0"/>
              <a:t>The result is a table containing all the data from the columns specified after SELECT in the original table.</a:t>
            </a:r>
          </a:p>
          <a:p>
            <a:pPr marL="0" indent="0">
              <a:buNone/>
            </a:pPr>
            <a:r>
              <a:rPr lang="en-US" b="1" dirty="0"/>
              <a:t>Example</a:t>
            </a:r>
            <a:endParaRPr lang="en-US" dirty="0"/>
          </a:p>
          <a:p>
            <a:pPr marL="0" indent="0">
              <a:buNone/>
            </a:pPr>
            <a:r>
              <a:rPr lang="en-US" dirty="0"/>
              <a:t>Select the titles and quantities of books from the book table</a:t>
            </a:r>
            <a:r>
              <a:rPr lang="en-US" dirty="0" smtClean="0"/>
              <a:t>.</a:t>
            </a:r>
          </a:p>
          <a:p>
            <a:pPr marL="0" indent="0">
              <a:buNone/>
            </a:pPr>
            <a:endParaRPr lang="en-US" dirty="0" smtClean="0"/>
          </a:p>
          <a:p>
            <a:pPr marL="0" indent="0">
              <a:buNone/>
            </a:pPr>
            <a:r>
              <a:rPr lang="en-US" dirty="0">
                <a:solidFill>
                  <a:srgbClr val="000088"/>
                </a:solidFill>
                <a:latin typeface="JetBrains Mono"/>
              </a:rPr>
              <a:t>SELECT</a:t>
            </a:r>
            <a:r>
              <a:rPr lang="en-US" dirty="0">
                <a:solidFill>
                  <a:srgbClr val="000000"/>
                </a:solidFill>
                <a:latin typeface="JetBrains Mono"/>
              </a:rPr>
              <a:t> title, amount </a:t>
            </a:r>
            <a:r>
              <a:rPr lang="en-US" dirty="0">
                <a:solidFill>
                  <a:srgbClr val="000088"/>
                </a:solidFill>
                <a:latin typeface="JetBrains Mono"/>
              </a:rPr>
              <a:t>FROM</a:t>
            </a:r>
            <a:r>
              <a:rPr lang="en-US" dirty="0">
                <a:solidFill>
                  <a:srgbClr val="000000"/>
                </a:solidFill>
                <a:latin typeface="JetBrains Mono"/>
              </a:rPr>
              <a:t> book;</a:t>
            </a:r>
            <a:endParaRPr lang="en-US" dirty="0"/>
          </a:p>
          <a:p>
            <a:pPr marL="0" indent="0">
              <a:buNone/>
            </a:pPr>
            <a:endParaRPr lang="en-US" dirty="0" smtClean="0"/>
          </a:p>
          <a:p>
            <a:pPr marL="0" indent="0">
              <a:buNone/>
            </a:pPr>
            <a:endParaRPr lang="en-US" dirty="0"/>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3808" y="3794153"/>
            <a:ext cx="2520280" cy="1361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154320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123478"/>
            <a:ext cx="8229600" cy="349548"/>
          </a:xfrm>
        </p:spPr>
        <p:txBody>
          <a:bodyPr>
            <a:noAutofit/>
          </a:bodyPr>
          <a:lstStyle/>
          <a:p>
            <a:r>
              <a:rPr lang="en-US" sz="2800" b="1" dirty="0"/>
              <a:t>Assigning New Names to Columns in a Query Result</a:t>
            </a:r>
            <a:endParaRPr lang="en-US" sz="2800" dirty="0"/>
          </a:p>
        </p:txBody>
      </p:sp>
      <p:sp>
        <p:nvSpPr>
          <p:cNvPr id="3" name="Объект 2"/>
          <p:cNvSpPr>
            <a:spLocks noGrp="1"/>
          </p:cNvSpPr>
          <p:nvPr>
            <p:ph idx="1"/>
          </p:nvPr>
        </p:nvSpPr>
        <p:spPr>
          <a:xfrm>
            <a:off x="395536" y="555526"/>
            <a:ext cx="8229600" cy="3240360"/>
          </a:xfrm>
        </p:spPr>
        <p:txBody>
          <a:bodyPr>
            <a:normAutofit fontScale="32500" lnSpcReduction="20000"/>
          </a:bodyPr>
          <a:lstStyle/>
          <a:p>
            <a:pPr marL="0" indent="0">
              <a:buNone/>
            </a:pPr>
            <a:r>
              <a:rPr lang="en-US" sz="3700" dirty="0" smtClean="0"/>
              <a:t>To select data from specific table columns and simultaneously assign them new names in the output, an SQL query with the following structure is used:</a:t>
            </a:r>
          </a:p>
          <a:p>
            <a:r>
              <a:rPr lang="en-US" sz="3700" dirty="0" smtClean="0"/>
              <a:t>The keyword SELECT;</a:t>
            </a:r>
          </a:p>
          <a:p>
            <a:r>
              <a:rPr lang="en-US" sz="3700" dirty="0" smtClean="0"/>
              <a:t>The column name;</a:t>
            </a:r>
          </a:p>
          <a:p>
            <a:r>
              <a:rPr lang="en-US" sz="3700" dirty="0" smtClean="0"/>
              <a:t>The keyword AS;</a:t>
            </a:r>
          </a:p>
          <a:p>
            <a:r>
              <a:rPr lang="en-US" sz="3700" dirty="0" smtClean="0"/>
              <a:t>The new column name for the query result (you can use Russian letters, but it must be a single word; if the name consists of two words, connect them with an underscore, e.g., </a:t>
            </a:r>
            <a:r>
              <a:rPr lang="en-US" sz="3700" dirty="0" err="1" smtClean="0"/>
              <a:t>Kolichestvo_knig</a:t>
            </a:r>
            <a:r>
              <a:rPr lang="en-US" sz="3700" dirty="0" smtClean="0"/>
              <a:t>);</a:t>
            </a:r>
          </a:p>
          <a:p>
            <a:r>
              <a:rPr lang="en-US" sz="3700" dirty="0" smtClean="0"/>
              <a:t>A comma;</a:t>
            </a:r>
          </a:p>
          <a:p>
            <a:r>
              <a:rPr lang="en-US" sz="3700" dirty="0" smtClean="0"/>
              <a:t>The next column name;</a:t>
            </a:r>
          </a:p>
          <a:p>
            <a:r>
              <a:rPr lang="en-US" sz="3700" dirty="0" smtClean="0"/>
              <a:t>... </a:t>
            </a:r>
            <a:endParaRPr lang="ru-RU" sz="3700" dirty="0" smtClean="0"/>
          </a:p>
          <a:p>
            <a:r>
              <a:rPr lang="en-US" sz="3700" dirty="0" smtClean="0"/>
              <a:t>The keyword FROM;</a:t>
            </a:r>
          </a:p>
          <a:p>
            <a:r>
              <a:rPr lang="en-US" sz="3700" dirty="0" smtClean="0"/>
              <a:t>The table name.</a:t>
            </a:r>
          </a:p>
          <a:p>
            <a:pPr marL="0" indent="0">
              <a:buNone/>
            </a:pPr>
            <a:r>
              <a:rPr lang="en-US" sz="3700" dirty="0" smtClean="0"/>
              <a:t>A single query can use both the original column names from the table and new assigned names.</a:t>
            </a:r>
          </a:p>
          <a:p>
            <a:pPr marL="0" indent="0">
              <a:buNone/>
            </a:pPr>
            <a:r>
              <a:rPr lang="en-US" sz="3700" dirty="0" smtClean="0"/>
              <a:t>The result is a table containing all the data from the columns specified after SELECT in the original table. Each column in the result is given the new name specified after AS, or it retains the original column name from the table if AS is omitted.</a:t>
            </a:r>
          </a:p>
          <a:p>
            <a:pPr marL="0" indent="0">
              <a:buNone/>
            </a:pPr>
            <a:r>
              <a:rPr lang="en-US" sz="3700" b="1" dirty="0" smtClean="0"/>
              <a:t>Example</a:t>
            </a:r>
            <a:endParaRPr lang="en-US" sz="3700" dirty="0" smtClean="0"/>
          </a:p>
          <a:p>
            <a:pPr marL="0" indent="0">
              <a:buNone/>
            </a:pPr>
            <a:r>
              <a:rPr lang="en-US" sz="3700" dirty="0" smtClean="0"/>
              <a:t>Select all book titles and their quantities from the book table, assigning the column </a:t>
            </a:r>
            <a:r>
              <a:rPr lang="en-US" sz="3700" b="1" dirty="0" smtClean="0"/>
              <a:t>title</a:t>
            </a:r>
            <a:r>
              <a:rPr lang="en-US" sz="3700" dirty="0" smtClean="0"/>
              <a:t> the new name </a:t>
            </a:r>
            <a:r>
              <a:rPr lang="ru-RU" sz="3700" b="1" dirty="0" smtClean="0"/>
              <a:t>Название</a:t>
            </a:r>
            <a:r>
              <a:rPr lang="en-US" sz="3700" dirty="0" smtClean="0"/>
              <a:t>.</a:t>
            </a:r>
          </a:p>
          <a:p>
            <a:pPr marL="0" indent="0">
              <a:buNone/>
            </a:pPr>
            <a:endParaRPr lang="en-US" dirty="0" smtClean="0"/>
          </a:p>
          <a:p>
            <a:pPr marL="0" indent="0">
              <a:buNone/>
            </a:pPr>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9792" y="3587763"/>
            <a:ext cx="2592288" cy="1438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966692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123478"/>
            <a:ext cx="8229600" cy="349548"/>
          </a:xfrm>
        </p:spPr>
        <p:txBody>
          <a:bodyPr>
            <a:noAutofit/>
          </a:bodyPr>
          <a:lstStyle/>
          <a:p>
            <a:r>
              <a:rPr lang="en-US" sz="2800" b="1" dirty="0"/>
              <a:t>Selecting Data with a Calculated Column</a:t>
            </a:r>
            <a:endParaRPr lang="en-US" sz="2800" dirty="0"/>
          </a:p>
        </p:txBody>
      </p:sp>
      <p:sp>
        <p:nvSpPr>
          <p:cNvPr id="3" name="Объект 2"/>
          <p:cNvSpPr>
            <a:spLocks noGrp="1"/>
          </p:cNvSpPr>
          <p:nvPr>
            <p:ph idx="1"/>
          </p:nvPr>
        </p:nvSpPr>
        <p:spPr>
          <a:xfrm>
            <a:off x="395536" y="555526"/>
            <a:ext cx="8229600" cy="3240360"/>
          </a:xfrm>
        </p:spPr>
        <p:txBody>
          <a:bodyPr>
            <a:normAutofit/>
          </a:bodyPr>
          <a:lstStyle/>
          <a:p>
            <a:pPr marL="0" indent="0">
              <a:buNone/>
            </a:pPr>
            <a:r>
              <a:rPr lang="en-US" sz="1100" dirty="0"/>
              <a:t>SQL queries can perform calculations for each row of a table using a calculated column. This is specified in the field list after the SELECT operator by providing an expression and assigning it a name.</a:t>
            </a:r>
          </a:p>
          <a:p>
            <a:pPr marL="0" indent="0">
              <a:buNone/>
            </a:pPr>
            <a:r>
              <a:rPr lang="en-US" sz="1100" dirty="0"/>
              <a:t>The expression can include:</a:t>
            </a:r>
          </a:p>
          <a:p>
            <a:r>
              <a:rPr lang="en-US" sz="1100" dirty="0"/>
              <a:t>Column names</a:t>
            </a:r>
          </a:p>
          <a:p>
            <a:r>
              <a:rPr lang="en-US" sz="1100" dirty="0"/>
              <a:t>Constants</a:t>
            </a:r>
          </a:p>
          <a:p>
            <a:r>
              <a:rPr lang="en-US" sz="1100" dirty="0"/>
              <a:t>Arithmetic operators</a:t>
            </a:r>
          </a:p>
          <a:p>
            <a:r>
              <a:rPr lang="en-US" sz="1100" dirty="0"/>
              <a:t>Built-in functions</a:t>
            </a:r>
          </a:p>
          <a:p>
            <a:pPr marL="0" indent="0">
              <a:buNone/>
            </a:pPr>
            <a:r>
              <a:rPr lang="en-US" sz="1100" dirty="0"/>
              <a:t>The result is a table containing all data from the columns specified after SELECT, plus a new column where each row displays the computed value of the given expression.</a:t>
            </a:r>
          </a:p>
          <a:p>
            <a:pPr marL="0" indent="0">
              <a:buNone/>
            </a:pPr>
            <a:r>
              <a:rPr lang="en-US" sz="1100" b="1" dirty="0"/>
              <a:t>Listener's note:</a:t>
            </a:r>
            <a:r>
              <a:rPr lang="en-US" sz="1100" dirty="0"/>
              <a:t> You can perform arithmetic and logical calculations across an entire column, with the result being a new column.</a:t>
            </a:r>
          </a:p>
          <a:p>
            <a:pPr marL="0" indent="0">
              <a:buNone/>
            </a:pPr>
            <a:r>
              <a:rPr lang="en-US" sz="1100" b="1" dirty="0"/>
              <a:t>Example</a:t>
            </a:r>
            <a:endParaRPr lang="en-US" sz="1100" dirty="0"/>
          </a:p>
          <a:p>
            <a:pPr marL="0" indent="0">
              <a:buNone/>
            </a:pPr>
            <a:r>
              <a:rPr lang="en-US" sz="1100" dirty="0"/>
              <a:t>Display all information about books, and for each entry calculate its total value (price multiplied by quantity). Assign the name total to the calculated column</a:t>
            </a:r>
            <a:r>
              <a:rPr lang="en-US" sz="1100" dirty="0" smtClean="0"/>
              <a:t>.</a:t>
            </a:r>
            <a:endParaRPr lang="ru-RU" sz="1100" dirty="0" smtClean="0"/>
          </a:p>
          <a:p>
            <a:pPr marL="0" indent="0">
              <a:buNone/>
            </a:pPr>
            <a:endParaRPr lang="ru-RU" sz="1100" dirty="0" smtClean="0"/>
          </a:p>
          <a:p>
            <a:pPr marL="0" indent="0">
              <a:buNone/>
            </a:pPr>
            <a:r>
              <a:rPr lang="en-US" sz="1100" dirty="0">
                <a:solidFill>
                  <a:srgbClr val="000088"/>
                </a:solidFill>
                <a:latin typeface="JetBrains Mono"/>
              </a:rPr>
              <a:t>SELECT</a:t>
            </a:r>
            <a:r>
              <a:rPr lang="en-US" sz="1100" dirty="0">
                <a:solidFill>
                  <a:srgbClr val="000000"/>
                </a:solidFill>
                <a:latin typeface="JetBrains Mono"/>
              </a:rPr>
              <a:t> title, author, price, amount, price * amount </a:t>
            </a:r>
            <a:r>
              <a:rPr lang="en-US" sz="1100" dirty="0">
                <a:solidFill>
                  <a:srgbClr val="000088"/>
                </a:solidFill>
                <a:latin typeface="JetBrains Mono"/>
              </a:rPr>
              <a:t>AS</a:t>
            </a:r>
            <a:r>
              <a:rPr lang="en-US" sz="1100" dirty="0">
                <a:solidFill>
                  <a:srgbClr val="000000"/>
                </a:solidFill>
                <a:latin typeface="JetBrains Mono"/>
              </a:rPr>
              <a:t> total </a:t>
            </a:r>
            <a:r>
              <a:rPr lang="en-US" sz="1100" dirty="0">
                <a:solidFill>
                  <a:srgbClr val="000088"/>
                </a:solidFill>
                <a:latin typeface="JetBrains Mono"/>
              </a:rPr>
              <a:t>FROM</a:t>
            </a:r>
            <a:r>
              <a:rPr lang="en-US" sz="1100" dirty="0">
                <a:solidFill>
                  <a:srgbClr val="000000"/>
                </a:solidFill>
                <a:latin typeface="JetBrains Mono"/>
              </a:rPr>
              <a:t> book;</a:t>
            </a:r>
            <a:endParaRPr lang="en-US" sz="1100" dirty="0"/>
          </a:p>
          <a:p>
            <a:pPr marL="0" indent="0">
              <a:buNone/>
            </a:pPr>
            <a:endParaRPr lang="en-US" dirty="0" smtClean="0"/>
          </a:p>
          <a:p>
            <a:pPr marL="0" indent="0">
              <a:buNone/>
            </a:pPr>
            <a:endParaRPr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1" y="3536342"/>
            <a:ext cx="5688632" cy="1509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942906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512" y="123478"/>
            <a:ext cx="8856984" cy="349548"/>
          </a:xfrm>
        </p:spPr>
        <p:txBody>
          <a:bodyPr>
            <a:noAutofit/>
          </a:bodyPr>
          <a:lstStyle/>
          <a:p>
            <a:r>
              <a:rPr lang="en-US" sz="2400" b="1" dirty="0"/>
              <a:t>Selecting Data, Calculated Columns, Mathematical Functions</a:t>
            </a:r>
            <a:endParaRPr lang="en-US" sz="2400" dirty="0"/>
          </a:p>
        </p:txBody>
      </p:sp>
      <p:sp>
        <p:nvSpPr>
          <p:cNvPr id="3" name="Объект 2"/>
          <p:cNvSpPr>
            <a:spLocks noGrp="1"/>
          </p:cNvSpPr>
          <p:nvPr>
            <p:ph idx="1"/>
          </p:nvPr>
        </p:nvSpPr>
        <p:spPr>
          <a:xfrm>
            <a:off x="395536" y="555526"/>
            <a:ext cx="8229600" cy="4176464"/>
          </a:xfrm>
        </p:spPr>
        <p:txBody>
          <a:bodyPr>
            <a:normAutofit/>
          </a:bodyPr>
          <a:lstStyle/>
          <a:p>
            <a:pPr marL="0" indent="0">
              <a:buNone/>
            </a:pPr>
            <a:r>
              <a:rPr lang="en-US" sz="1800" dirty="0"/>
              <a:t>SQL implements numerous mathematical functions for working with numerical data. The table below lists some of them.</a:t>
            </a:r>
            <a:endParaRPr lang="en-US" sz="1800" dirty="0" smtClean="0"/>
          </a:p>
          <a:p>
            <a:pPr marL="0" indent="0">
              <a:buNone/>
            </a:pPr>
            <a:endParaRPr 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1236134"/>
            <a:ext cx="4254014" cy="3292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5004048" y="1358903"/>
            <a:ext cx="3923928" cy="2800767"/>
          </a:xfrm>
          <a:prstGeom prst="rect">
            <a:avLst/>
          </a:prstGeom>
          <a:noFill/>
        </p:spPr>
        <p:txBody>
          <a:bodyPr wrap="square" rtlCol="0">
            <a:spAutoFit/>
          </a:bodyPr>
          <a:lstStyle/>
          <a:p>
            <a:r>
              <a:rPr lang="en-US" sz="1600" b="1" dirty="0"/>
              <a:t>Explanation:</a:t>
            </a:r>
            <a:r>
              <a:rPr lang="en-US" sz="1600" dirty="0"/>
              <a:t> There are different methods for rounding numbers. SQL implements mathematical rounding (round half up). To round a real number, you select the digit in the fractional part to which you are rounding. The digit in the selected position:</a:t>
            </a:r>
          </a:p>
          <a:p>
            <a:pPr marL="285750" indent="-285750">
              <a:buFont typeface="Arial" pitchFamily="34" charset="0"/>
              <a:buChar char="•"/>
            </a:pPr>
            <a:r>
              <a:rPr lang="en-US" sz="1600" dirty="0"/>
              <a:t>Remains unchanged if the digit immediately to its right is 0, 1, 2, 3, or 4.</a:t>
            </a:r>
          </a:p>
          <a:p>
            <a:pPr marL="285750" indent="-285750">
              <a:buFont typeface="Arial" pitchFamily="34" charset="0"/>
              <a:buChar char="•"/>
            </a:pPr>
            <a:r>
              <a:rPr lang="en-US" sz="1600" dirty="0"/>
              <a:t>Increases by one if the digit immediately to its right is 5, 6, 7, 8, or 9.</a:t>
            </a:r>
          </a:p>
          <a:p>
            <a:endParaRPr lang="en-US" sz="1600" dirty="0"/>
          </a:p>
        </p:txBody>
      </p:sp>
    </p:spTree>
    <p:extLst>
      <p:ext uri="{BB962C8B-B14F-4D97-AF65-F5344CB8AC3E}">
        <p14:creationId xmlns:p14="http://schemas.microsoft.com/office/powerpoint/2010/main" val="3711357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123478"/>
            <a:ext cx="8229600" cy="349548"/>
          </a:xfrm>
        </p:spPr>
        <p:txBody>
          <a:bodyPr>
            <a:noAutofit/>
          </a:bodyPr>
          <a:lstStyle/>
          <a:p>
            <a:r>
              <a:rPr lang="en-US" sz="2800" b="1" dirty="0"/>
              <a:t>Selecting Data, Calculated Columns, Logical Functions</a:t>
            </a:r>
            <a:endParaRPr lang="en-US" sz="2800" dirty="0"/>
          </a:p>
        </p:txBody>
      </p:sp>
      <p:sp>
        <p:nvSpPr>
          <p:cNvPr id="3" name="Объект 2"/>
          <p:cNvSpPr>
            <a:spLocks noGrp="1"/>
          </p:cNvSpPr>
          <p:nvPr>
            <p:ph idx="1"/>
          </p:nvPr>
        </p:nvSpPr>
        <p:spPr>
          <a:xfrm>
            <a:off x="395536" y="555526"/>
            <a:ext cx="8229600" cy="3024336"/>
          </a:xfrm>
        </p:spPr>
        <p:txBody>
          <a:bodyPr>
            <a:normAutofit lnSpcReduction="10000"/>
          </a:bodyPr>
          <a:lstStyle/>
          <a:p>
            <a:pPr marL="0" indent="0">
              <a:buNone/>
            </a:pPr>
            <a:r>
              <a:rPr lang="en-US" sz="1400" dirty="0"/>
              <a:t>SQL provides the capability to assign a value to a field based on a condition. This is done using the IF() function:</a:t>
            </a:r>
          </a:p>
          <a:p>
            <a:pPr marL="0" indent="0">
              <a:buNone/>
            </a:pPr>
            <a:r>
              <a:rPr lang="en-US" sz="1400" b="1" dirty="0"/>
              <a:t>IF(</a:t>
            </a:r>
            <a:r>
              <a:rPr lang="en-US" sz="1400" b="1" dirty="0" err="1"/>
              <a:t>logical_expression</a:t>
            </a:r>
            <a:r>
              <a:rPr lang="en-US" sz="1400" b="1" dirty="0"/>
              <a:t>, expression_1, expression_2)</a:t>
            </a:r>
          </a:p>
          <a:p>
            <a:pPr marL="0" indent="0">
              <a:buNone/>
            </a:pPr>
            <a:r>
              <a:rPr lang="en-US" sz="1400" dirty="0"/>
              <a:t>The function evaluates the </a:t>
            </a:r>
            <a:r>
              <a:rPr lang="en-US" sz="1400" dirty="0" err="1"/>
              <a:t>logical_expression</a:t>
            </a:r>
            <a:r>
              <a:rPr lang="en-US" sz="1400" dirty="0"/>
              <a:t>. If it is </a:t>
            </a:r>
            <a:r>
              <a:rPr lang="en-US" sz="1400" b="1" dirty="0"/>
              <a:t>TRUE</a:t>
            </a:r>
            <a:r>
              <a:rPr lang="en-US" sz="1400" dirty="0"/>
              <a:t>, the field takes the value of </a:t>
            </a:r>
            <a:r>
              <a:rPr lang="en-US" sz="1400" b="1" dirty="0"/>
              <a:t>expression_1</a:t>
            </a:r>
            <a:r>
              <a:rPr lang="en-US" sz="1400" dirty="0"/>
              <a:t>; otherwise, it takes the value </a:t>
            </a:r>
            <a:r>
              <a:rPr lang="en-US" sz="1400" b="1" dirty="0"/>
              <a:t>of expression_2</a:t>
            </a:r>
            <a:r>
              <a:rPr lang="en-US" sz="1400" dirty="0"/>
              <a:t>. All three parameters of the </a:t>
            </a:r>
            <a:r>
              <a:rPr lang="en-US" sz="1400" b="1" dirty="0"/>
              <a:t>IF()</a:t>
            </a:r>
            <a:r>
              <a:rPr lang="en-US" sz="1400" dirty="0"/>
              <a:t> function are mandatory.</a:t>
            </a:r>
          </a:p>
          <a:p>
            <a:pPr marL="0" indent="0">
              <a:buNone/>
            </a:pPr>
            <a:r>
              <a:rPr lang="en-US" sz="1400" dirty="0"/>
              <a:t>The use of nested functions is permitted, meaning a new IF function can be used in place of either expression_1 or expression_2.</a:t>
            </a:r>
          </a:p>
          <a:p>
            <a:pPr marL="0" indent="0">
              <a:buNone/>
            </a:pPr>
            <a:r>
              <a:rPr lang="en-US" sz="1400" b="1" dirty="0"/>
              <a:t>Example</a:t>
            </a:r>
            <a:endParaRPr lang="en-US" sz="1400" dirty="0"/>
          </a:p>
          <a:p>
            <a:pPr marL="0" indent="0">
              <a:buNone/>
            </a:pPr>
            <a:r>
              <a:rPr lang="en-US" sz="1400" dirty="0"/>
              <a:t>Let's set a discount for each book in the book table as follows: if the number of books is less than 4, the discount will be 50% of the price; otherwise, it will be 30</a:t>
            </a:r>
            <a:r>
              <a:rPr lang="en-US" sz="1400" dirty="0" smtClean="0"/>
              <a:t>%.</a:t>
            </a:r>
            <a:endParaRPr lang="ru-RU" sz="1400" dirty="0" smtClean="0"/>
          </a:p>
          <a:p>
            <a:pPr marL="0" indent="0">
              <a:buNone/>
            </a:pPr>
            <a:endParaRPr lang="en-US" sz="1400" dirty="0"/>
          </a:p>
          <a:p>
            <a:pPr marL="0" indent="0">
              <a:buNone/>
            </a:pPr>
            <a:r>
              <a:rPr lang="en-US" sz="2000" dirty="0">
                <a:solidFill>
                  <a:srgbClr val="A626A4"/>
                </a:solidFill>
              </a:rPr>
              <a:t>SELECT</a:t>
            </a:r>
            <a:r>
              <a:rPr lang="en-US" sz="2000" dirty="0"/>
              <a:t> title</a:t>
            </a:r>
            <a:r>
              <a:rPr lang="en-US" sz="2000" dirty="0">
                <a:solidFill>
                  <a:srgbClr val="383A42"/>
                </a:solidFill>
              </a:rPr>
              <a:t>,</a:t>
            </a:r>
            <a:r>
              <a:rPr lang="en-US" sz="2000" dirty="0"/>
              <a:t> amount</a:t>
            </a:r>
            <a:r>
              <a:rPr lang="en-US" sz="2000" dirty="0">
                <a:solidFill>
                  <a:srgbClr val="383A42"/>
                </a:solidFill>
              </a:rPr>
              <a:t>,</a:t>
            </a:r>
            <a:r>
              <a:rPr lang="en-US" sz="2000" dirty="0"/>
              <a:t> price</a:t>
            </a:r>
            <a:r>
              <a:rPr lang="en-US" sz="2000" dirty="0">
                <a:solidFill>
                  <a:srgbClr val="383A42"/>
                </a:solidFill>
              </a:rPr>
              <a:t>,</a:t>
            </a:r>
            <a:r>
              <a:rPr lang="en-US" sz="2000" dirty="0"/>
              <a:t> </a:t>
            </a:r>
            <a:r>
              <a:rPr lang="en-US" sz="2000" dirty="0">
                <a:solidFill>
                  <a:srgbClr val="A626A4"/>
                </a:solidFill>
              </a:rPr>
              <a:t>IF</a:t>
            </a:r>
            <a:r>
              <a:rPr lang="en-US" sz="2000" dirty="0">
                <a:solidFill>
                  <a:srgbClr val="383A42"/>
                </a:solidFill>
              </a:rPr>
              <a:t>(</a:t>
            </a:r>
            <a:r>
              <a:rPr lang="en-US" sz="2000" dirty="0"/>
              <a:t>amount </a:t>
            </a:r>
            <a:r>
              <a:rPr lang="en-US" sz="2000" dirty="0">
                <a:solidFill>
                  <a:srgbClr val="4078F2"/>
                </a:solidFill>
              </a:rPr>
              <a:t>&lt;</a:t>
            </a:r>
            <a:r>
              <a:rPr lang="en-US" sz="2000" dirty="0"/>
              <a:t> </a:t>
            </a:r>
            <a:r>
              <a:rPr lang="en-US" sz="2000" dirty="0">
                <a:solidFill>
                  <a:srgbClr val="B76B01"/>
                </a:solidFill>
              </a:rPr>
              <a:t>4</a:t>
            </a:r>
            <a:r>
              <a:rPr lang="en-US" sz="2000" dirty="0">
                <a:solidFill>
                  <a:srgbClr val="383A42"/>
                </a:solidFill>
              </a:rPr>
              <a:t>,</a:t>
            </a:r>
            <a:r>
              <a:rPr lang="en-US" sz="2000" dirty="0"/>
              <a:t> price </a:t>
            </a:r>
            <a:r>
              <a:rPr lang="en-US" sz="2000" dirty="0">
                <a:solidFill>
                  <a:srgbClr val="4078F2"/>
                </a:solidFill>
              </a:rPr>
              <a:t>*</a:t>
            </a:r>
            <a:r>
              <a:rPr lang="en-US" sz="2000" dirty="0"/>
              <a:t> </a:t>
            </a:r>
            <a:r>
              <a:rPr lang="en-US" sz="2000" dirty="0">
                <a:solidFill>
                  <a:srgbClr val="B76B01"/>
                </a:solidFill>
              </a:rPr>
              <a:t>0.5</a:t>
            </a:r>
            <a:r>
              <a:rPr lang="en-US" sz="2000" dirty="0">
                <a:solidFill>
                  <a:srgbClr val="383A42"/>
                </a:solidFill>
              </a:rPr>
              <a:t>,</a:t>
            </a:r>
            <a:r>
              <a:rPr lang="en-US" sz="2000" dirty="0"/>
              <a:t> price </a:t>
            </a:r>
            <a:r>
              <a:rPr lang="en-US" sz="2000" dirty="0">
                <a:solidFill>
                  <a:srgbClr val="4078F2"/>
                </a:solidFill>
              </a:rPr>
              <a:t>*</a:t>
            </a:r>
            <a:r>
              <a:rPr lang="en-US" sz="2000" dirty="0"/>
              <a:t> </a:t>
            </a:r>
            <a:r>
              <a:rPr lang="en-US" sz="2000" dirty="0">
                <a:solidFill>
                  <a:srgbClr val="B76B01"/>
                </a:solidFill>
              </a:rPr>
              <a:t>0.3</a:t>
            </a:r>
            <a:r>
              <a:rPr lang="en-US" sz="2000" dirty="0">
                <a:solidFill>
                  <a:srgbClr val="383A42"/>
                </a:solidFill>
              </a:rPr>
              <a:t>)</a:t>
            </a:r>
            <a:r>
              <a:rPr lang="en-US" sz="2000" dirty="0"/>
              <a:t> </a:t>
            </a:r>
            <a:r>
              <a:rPr lang="en-US" sz="2000" dirty="0">
                <a:solidFill>
                  <a:srgbClr val="A626A4"/>
                </a:solidFill>
              </a:rPr>
              <a:t>AS</a:t>
            </a:r>
            <a:r>
              <a:rPr lang="en-US" sz="2000" dirty="0"/>
              <a:t> discount </a:t>
            </a:r>
            <a:r>
              <a:rPr lang="en-US" sz="2000" dirty="0">
                <a:solidFill>
                  <a:srgbClr val="A626A4"/>
                </a:solidFill>
              </a:rPr>
              <a:t>FROM</a:t>
            </a:r>
            <a:r>
              <a:rPr lang="en-US" sz="2000" dirty="0"/>
              <a:t> book</a:t>
            </a:r>
            <a:r>
              <a:rPr lang="en-US" sz="2000" dirty="0">
                <a:solidFill>
                  <a:srgbClr val="383A42"/>
                </a:solidFill>
              </a:rPr>
              <a:t>;</a:t>
            </a:r>
            <a:endParaRPr lang="en-US" sz="2000" dirty="0" smtClean="0"/>
          </a:p>
          <a:p>
            <a:pPr marL="0" indent="0">
              <a:buNone/>
            </a:pPr>
            <a:endParaRPr lang="en-US"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3768" y="3495094"/>
            <a:ext cx="4543425" cy="1628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07307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0"/>
            <a:ext cx="8229600" cy="349548"/>
          </a:xfrm>
        </p:spPr>
        <p:txBody>
          <a:bodyPr>
            <a:noAutofit/>
          </a:bodyPr>
          <a:lstStyle/>
          <a:p>
            <a:r>
              <a:rPr lang="en-US" sz="2800" b="1" dirty="0"/>
              <a:t>Selecting Data, Logical Operations</a:t>
            </a:r>
            <a:endParaRPr lang="en-US" sz="2800" dirty="0"/>
          </a:p>
        </p:txBody>
      </p:sp>
      <p:sp>
        <p:nvSpPr>
          <p:cNvPr id="3" name="Объект 2"/>
          <p:cNvSpPr>
            <a:spLocks noGrp="1"/>
          </p:cNvSpPr>
          <p:nvPr>
            <p:ph idx="1"/>
          </p:nvPr>
        </p:nvSpPr>
        <p:spPr>
          <a:xfrm>
            <a:off x="395536" y="436564"/>
            <a:ext cx="8229600" cy="3024336"/>
          </a:xfrm>
        </p:spPr>
        <p:txBody>
          <a:bodyPr>
            <a:normAutofit fontScale="25000" lnSpcReduction="20000"/>
          </a:bodyPr>
          <a:lstStyle/>
          <a:p>
            <a:pPr marL="0" indent="0">
              <a:buNone/>
            </a:pPr>
            <a:r>
              <a:rPr lang="en-US" sz="4800" dirty="0"/>
              <a:t>The logical expression following the WHERE keyword can include not only comparison operators and expressions but also logical operations (AND, OR, NOT) and parentheses, which change the order of operation precedence.</a:t>
            </a:r>
          </a:p>
          <a:p>
            <a:pPr marL="0" indent="0">
              <a:buNone/>
            </a:pPr>
            <a:endParaRPr lang="en-US" dirty="0"/>
          </a:p>
          <a:p>
            <a:r>
              <a:rPr lang="en-US" sz="4800" dirty="0"/>
              <a:t>Order of Precedence</a:t>
            </a:r>
            <a:r>
              <a:rPr lang="en-US" sz="4800" dirty="0" smtClean="0"/>
              <a:t>:</a:t>
            </a:r>
            <a:endParaRPr lang="en-US" sz="4800" dirty="0"/>
          </a:p>
          <a:p>
            <a:r>
              <a:rPr lang="en-US" sz="4800" dirty="0"/>
              <a:t>Parentheses </a:t>
            </a:r>
            <a:r>
              <a:rPr lang="en-US" sz="4800" dirty="0" smtClean="0"/>
              <a:t>()</a:t>
            </a:r>
            <a:endParaRPr lang="en-US" sz="4800" dirty="0"/>
          </a:p>
          <a:p>
            <a:r>
              <a:rPr lang="en-US" sz="4800" dirty="0"/>
              <a:t>Multiplication (*), Division </a:t>
            </a:r>
            <a:r>
              <a:rPr lang="en-US" sz="4800" dirty="0" smtClean="0"/>
              <a:t>(/)</a:t>
            </a:r>
            <a:endParaRPr lang="en-US" sz="4800" dirty="0"/>
          </a:p>
          <a:p>
            <a:r>
              <a:rPr lang="en-US" sz="4800" dirty="0"/>
              <a:t>Addition (+), Subtraction </a:t>
            </a:r>
            <a:r>
              <a:rPr lang="en-US" sz="4800" dirty="0" smtClean="0"/>
              <a:t>(-)</a:t>
            </a:r>
            <a:endParaRPr lang="en-US" sz="4800" dirty="0"/>
          </a:p>
          <a:p>
            <a:r>
              <a:rPr lang="en-US" sz="4800" dirty="0"/>
              <a:t>Comparison Operators (=, &gt;, &lt;, &gt;=, &lt;=, </a:t>
            </a:r>
            <a:r>
              <a:rPr lang="en-US" sz="4800" dirty="0" smtClean="0"/>
              <a:t>&lt;&gt;)</a:t>
            </a:r>
            <a:endParaRPr lang="en-US" sz="4800" dirty="0"/>
          </a:p>
          <a:p>
            <a:r>
              <a:rPr lang="en-US" sz="4800" dirty="0" smtClean="0"/>
              <a:t>NOT</a:t>
            </a:r>
            <a:endParaRPr lang="en-US" sz="4800" dirty="0"/>
          </a:p>
          <a:p>
            <a:r>
              <a:rPr lang="en-US" sz="4800" dirty="0" smtClean="0"/>
              <a:t>AND</a:t>
            </a:r>
            <a:endParaRPr lang="en-US" sz="4800" dirty="0"/>
          </a:p>
          <a:p>
            <a:r>
              <a:rPr lang="en-US" sz="4800" dirty="0"/>
              <a:t>OR</a:t>
            </a:r>
          </a:p>
          <a:p>
            <a:pPr marL="0" indent="0">
              <a:buNone/>
            </a:pPr>
            <a:endParaRPr lang="en-US" sz="4800" dirty="0"/>
          </a:p>
          <a:p>
            <a:pPr marL="0" indent="0">
              <a:buNone/>
            </a:pPr>
            <a:r>
              <a:rPr lang="en-US" sz="4800" b="1" dirty="0" smtClean="0"/>
              <a:t>Example</a:t>
            </a:r>
            <a:endParaRPr lang="en-US" sz="4800" dirty="0"/>
          </a:p>
          <a:p>
            <a:pPr marL="0" indent="0">
              <a:buNone/>
            </a:pPr>
            <a:r>
              <a:rPr lang="en-US" sz="4800" dirty="0"/>
              <a:t>Select the title, author, and price of books written by </a:t>
            </a:r>
            <a:r>
              <a:rPr lang="en-US" sz="4800" dirty="0" err="1"/>
              <a:t>Bulgakov</a:t>
            </a:r>
            <a:r>
              <a:rPr lang="en-US" sz="4800" dirty="0"/>
              <a:t> with a price greater than 600 rubles</a:t>
            </a:r>
            <a:r>
              <a:rPr lang="en-US" sz="4800" dirty="0" smtClean="0"/>
              <a:t>.</a:t>
            </a:r>
            <a:endParaRPr lang="ru-RU" sz="4800" dirty="0" smtClean="0"/>
          </a:p>
          <a:p>
            <a:pPr marL="0" indent="0">
              <a:buNone/>
            </a:pPr>
            <a:endParaRPr lang="ru-RU" sz="4800" dirty="0" smtClean="0"/>
          </a:p>
          <a:p>
            <a:pPr marL="0" indent="0">
              <a:buNone/>
            </a:pPr>
            <a:r>
              <a:rPr lang="en-US" sz="6400" dirty="0">
                <a:solidFill>
                  <a:srgbClr val="A626A4"/>
                </a:solidFill>
              </a:rPr>
              <a:t>SELECT</a:t>
            </a:r>
            <a:r>
              <a:rPr lang="en-US" sz="6400" dirty="0"/>
              <a:t> title</a:t>
            </a:r>
            <a:r>
              <a:rPr lang="en-US" sz="6400" dirty="0">
                <a:solidFill>
                  <a:srgbClr val="383A42"/>
                </a:solidFill>
              </a:rPr>
              <a:t>,</a:t>
            </a:r>
            <a:r>
              <a:rPr lang="en-US" sz="6400" dirty="0"/>
              <a:t> author</a:t>
            </a:r>
            <a:r>
              <a:rPr lang="en-US" sz="6400" dirty="0">
                <a:solidFill>
                  <a:srgbClr val="383A42"/>
                </a:solidFill>
              </a:rPr>
              <a:t>,</a:t>
            </a:r>
            <a:r>
              <a:rPr lang="en-US" sz="6400" dirty="0"/>
              <a:t> price </a:t>
            </a:r>
            <a:endParaRPr lang="ru-RU" sz="6400" dirty="0" smtClean="0"/>
          </a:p>
          <a:p>
            <a:pPr marL="0" indent="0">
              <a:buNone/>
            </a:pPr>
            <a:r>
              <a:rPr lang="en-US" sz="6400" dirty="0" smtClean="0">
                <a:solidFill>
                  <a:srgbClr val="A626A4"/>
                </a:solidFill>
              </a:rPr>
              <a:t>FROM</a:t>
            </a:r>
            <a:r>
              <a:rPr lang="en-US" sz="6400" dirty="0" smtClean="0"/>
              <a:t> </a:t>
            </a:r>
            <a:r>
              <a:rPr lang="en-US" sz="6400" dirty="0"/>
              <a:t>book </a:t>
            </a:r>
            <a:endParaRPr lang="ru-RU" sz="6400" dirty="0" smtClean="0"/>
          </a:p>
          <a:p>
            <a:pPr marL="0" indent="0">
              <a:buNone/>
            </a:pPr>
            <a:r>
              <a:rPr lang="en-US" sz="6400" dirty="0" smtClean="0">
                <a:solidFill>
                  <a:srgbClr val="A626A4"/>
                </a:solidFill>
              </a:rPr>
              <a:t>WHERE</a:t>
            </a:r>
            <a:r>
              <a:rPr lang="en-US" sz="6400" dirty="0" smtClean="0"/>
              <a:t> </a:t>
            </a:r>
            <a:r>
              <a:rPr lang="en-US" sz="6400" dirty="0"/>
              <a:t>author </a:t>
            </a:r>
            <a:r>
              <a:rPr lang="en-US" sz="6400" dirty="0">
                <a:solidFill>
                  <a:srgbClr val="4078F2"/>
                </a:solidFill>
              </a:rPr>
              <a:t>=</a:t>
            </a:r>
            <a:r>
              <a:rPr lang="en-US" sz="6400" dirty="0"/>
              <a:t> </a:t>
            </a:r>
            <a:r>
              <a:rPr lang="en-US" sz="6400" dirty="0">
                <a:solidFill>
                  <a:srgbClr val="50A14F"/>
                </a:solidFill>
              </a:rPr>
              <a:t>'</a:t>
            </a:r>
            <a:r>
              <a:rPr lang="en-US" sz="6400" dirty="0" err="1">
                <a:solidFill>
                  <a:srgbClr val="50A14F"/>
                </a:solidFill>
              </a:rPr>
              <a:t>Булгаков</a:t>
            </a:r>
            <a:r>
              <a:rPr lang="en-US" sz="6400" dirty="0">
                <a:solidFill>
                  <a:srgbClr val="50A14F"/>
                </a:solidFill>
              </a:rPr>
              <a:t> М.А.'</a:t>
            </a:r>
            <a:r>
              <a:rPr lang="en-US" sz="6400" dirty="0"/>
              <a:t> </a:t>
            </a:r>
            <a:r>
              <a:rPr lang="en-US" sz="6400" dirty="0">
                <a:solidFill>
                  <a:srgbClr val="4078F2"/>
                </a:solidFill>
              </a:rPr>
              <a:t>AND</a:t>
            </a:r>
            <a:r>
              <a:rPr lang="en-US" sz="6400" dirty="0"/>
              <a:t> price </a:t>
            </a:r>
            <a:r>
              <a:rPr lang="en-US" sz="6400" dirty="0">
                <a:solidFill>
                  <a:srgbClr val="4078F2"/>
                </a:solidFill>
              </a:rPr>
              <a:t>&gt;</a:t>
            </a:r>
            <a:r>
              <a:rPr lang="en-US" sz="6400" dirty="0"/>
              <a:t> </a:t>
            </a:r>
            <a:r>
              <a:rPr lang="en-US" sz="6400" dirty="0">
                <a:solidFill>
                  <a:srgbClr val="B76B01"/>
                </a:solidFill>
              </a:rPr>
              <a:t>600</a:t>
            </a:r>
            <a:r>
              <a:rPr lang="en-US" sz="6400" dirty="0">
                <a:solidFill>
                  <a:srgbClr val="383A42"/>
                </a:solidFill>
              </a:rPr>
              <a:t>;</a:t>
            </a:r>
            <a:endParaRPr lang="en-US" sz="6400"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7744" y="4011910"/>
            <a:ext cx="3990975"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863960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0"/>
            <a:ext cx="8229600" cy="349548"/>
          </a:xfrm>
        </p:spPr>
        <p:txBody>
          <a:bodyPr>
            <a:noAutofit/>
          </a:bodyPr>
          <a:lstStyle/>
          <a:p>
            <a:r>
              <a:rPr lang="en-US" sz="2800" b="1" dirty="0"/>
              <a:t>Selecting Data, BETWEEN and IN Operators</a:t>
            </a:r>
            <a:endParaRPr lang="en-US" sz="2800" dirty="0"/>
          </a:p>
        </p:txBody>
      </p:sp>
      <p:sp>
        <p:nvSpPr>
          <p:cNvPr id="3" name="Объект 2"/>
          <p:cNvSpPr>
            <a:spLocks noGrp="1"/>
          </p:cNvSpPr>
          <p:nvPr>
            <p:ph idx="1"/>
          </p:nvPr>
        </p:nvSpPr>
        <p:spPr>
          <a:xfrm>
            <a:off x="395536" y="436564"/>
            <a:ext cx="8229600" cy="3359322"/>
          </a:xfrm>
        </p:spPr>
        <p:txBody>
          <a:bodyPr>
            <a:normAutofit fontScale="92500" lnSpcReduction="20000"/>
          </a:bodyPr>
          <a:lstStyle/>
          <a:p>
            <a:pPr marL="0" indent="0">
              <a:buNone/>
            </a:pPr>
            <a:r>
              <a:rPr lang="ru-RU" sz="1400" dirty="0" smtClean="0"/>
              <a:t>	</a:t>
            </a:r>
            <a:r>
              <a:rPr lang="en-US" sz="1400" dirty="0" smtClean="0"/>
              <a:t>The </a:t>
            </a:r>
            <a:r>
              <a:rPr lang="en-US" sz="1400" dirty="0"/>
              <a:t>logical expression following the WHERE keyword can include the BETWEEN and IN operators. The precedence of these operators is the same as that of the comparison operators, meaning they are executed before NOT, AND, and OR</a:t>
            </a:r>
            <a:r>
              <a:rPr lang="en-US" sz="1400" dirty="0" smtClean="0"/>
              <a:t>.</a:t>
            </a:r>
            <a:endParaRPr lang="ru-RU" sz="1400" dirty="0" smtClean="0"/>
          </a:p>
          <a:p>
            <a:pPr marL="0" indent="0">
              <a:buNone/>
            </a:pPr>
            <a:endParaRPr lang="en-US" sz="1400" dirty="0"/>
          </a:p>
          <a:p>
            <a:pPr marL="0" indent="0">
              <a:buNone/>
            </a:pPr>
            <a:r>
              <a:rPr lang="en-US" sz="1400" dirty="0"/>
              <a:t>The BETWEEN operator allows you to select data within a certain range, </a:t>
            </a:r>
            <a:r>
              <a:rPr lang="en-US" sz="1400" b="1" dirty="0"/>
              <a:t>including the boundary values</a:t>
            </a:r>
            <a:r>
              <a:rPr lang="en-US" sz="1400" dirty="0" smtClean="0"/>
              <a:t>.</a:t>
            </a:r>
            <a:endParaRPr lang="ru-RU" sz="1400" dirty="0" smtClean="0"/>
          </a:p>
          <a:p>
            <a:pPr marL="0" indent="0">
              <a:buNone/>
            </a:pPr>
            <a:endParaRPr lang="en-US" sz="1400" dirty="0"/>
          </a:p>
          <a:p>
            <a:pPr marL="0" indent="0">
              <a:buNone/>
            </a:pPr>
            <a:r>
              <a:rPr lang="en-US" sz="1400" b="1" dirty="0"/>
              <a:t>Example</a:t>
            </a:r>
            <a:endParaRPr lang="en-US" sz="1400" dirty="0"/>
          </a:p>
          <a:p>
            <a:pPr marL="0" indent="0">
              <a:buNone/>
            </a:pPr>
            <a:r>
              <a:rPr lang="en-US" sz="1400" dirty="0"/>
              <a:t>Select the titles and quantities of books whose quantity is between 5 and 14, inclusive</a:t>
            </a:r>
            <a:r>
              <a:rPr lang="en-US" sz="1400" dirty="0" smtClean="0"/>
              <a:t>.</a:t>
            </a:r>
            <a:endParaRPr lang="ru-RU" sz="1400" dirty="0" smtClean="0"/>
          </a:p>
          <a:p>
            <a:pPr marL="0" indent="0">
              <a:buNone/>
            </a:pPr>
            <a:endParaRPr lang="ru-RU" sz="1400" dirty="0"/>
          </a:p>
          <a:p>
            <a:pPr marL="0" indent="0">
              <a:buNone/>
            </a:pPr>
            <a:r>
              <a:rPr lang="en-US" sz="1400" dirty="0" smtClean="0">
                <a:solidFill>
                  <a:srgbClr val="000088"/>
                </a:solidFill>
                <a:latin typeface="JetBrains Mono"/>
              </a:rPr>
              <a:t>SELECT</a:t>
            </a:r>
            <a:r>
              <a:rPr lang="en-US" sz="1400" dirty="0" smtClean="0">
                <a:solidFill>
                  <a:srgbClr val="000000"/>
                </a:solidFill>
                <a:latin typeface="JetBrains Mono"/>
              </a:rPr>
              <a:t> </a:t>
            </a:r>
            <a:r>
              <a:rPr lang="en-US" sz="1400" dirty="0">
                <a:solidFill>
                  <a:srgbClr val="000000"/>
                </a:solidFill>
                <a:latin typeface="JetBrains Mono"/>
              </a:rPr>
              <a:t>title, amount </a:t>
            </a:r>
            <a:endParaRPr lang="ru-RU" sz="1400" dirty="0" smtClean="0">
              <a:solidFill>
                <a:srgbClr val="000000"/>
              </a:solidFill>
              <a:latin typeface="JetBrains Mono"/>
            </a:endParaRPr>
          </a:p>
          <a:p>
            <a:pPr marL="0" indent="0">
              <a:buNone/>
            </a:pPr>
            <a:r>
              <a:rPr lang="en-US" sz="1400" dirty="0" smtClean="0">
                <a:solidFill>
                  <a:srgbClr val="000088"/>
                </a:solidFill>
                <a:latin typeface="JetBrains Mono"/>
              </a:rPr>
              <a:t>FROM</a:t>
            </a:r>
            <a:r>
              <a:rPr lang="en-US" sz="1400" dirty="0" smtClean="0">
                <a:solidFill>
                  <a:srgbClr val="000000"/>
                </a:solidFill>
                <a:latin typeface="JetBrains Mono"/>
              </a:rPr>
              <a:t> </a:t>
            </a:r>
            <a:r>
              <a:rPr lang="en-US" sz="1400" dirty="0">
                <a:solidFill>
                  <a:srgbClr val="000000"/>
                </a:solidFill>
                <a:latin typeface="JetBrains Mono"/>
              </a:rPr>
              <a:t>book </a:t>
            </a:r>
            <a:endParaRPr lang="ru-RU" sz="1400" dirty="0" smtClean="0">
              <a:solidFill>
                <a:srgbClr val="000000"/>
              </a:solidFill>
              <a:latin typeface="JetBrains Mono"/>
            </a:endParaRPr>
          </a:p>
          <a:p>
            <a:pPr marL="0" indent="0">
              <a:buNone/>
            </a:pPr>
            <a:r>
              <a:rPr lang="en-US" sz="1400" dirty="0" smtClean="0">
                <a:solidFill>
                  <a:srgbClr val="000088"/>
                </a:solidFill>
                <a:latin typeface="JetBrains Mono"/>
              </a:rPr>
              <a:t>WHERE</a:t>
            </a:r>
            <a:r>
              <a:rPr lang="en-US" sz="1400" dirty="0" smtClean="0">
                <a:solidFill>
                  <a:srgbClr val="000000"/>
                </a:solidFill>
                <a:latin typeface="JetBrains Mono"/>
              </a:rPr>
              <a:t> </a:t>
            </a:r>
            <a:r>
              <a:rPr lang="en-US" sz="1400" dirty="0">
                <a:solidFill>
                  <a:srgbClr val="000000"/>
                </a:solidFill>
                <a:latin typeface="JetBrains Mono"/>
              </a:rPr>
              <a:t>amount </a:t>
            </a:r>
            <a:r>
              <a:rPr lang="en-US" sz="1400" dirty="0">
                <a:solidFill>
                  <a:srgbClr val="000088"/>
                </a:solidFill>
                <a:latin typeface="JetBrains Mono"/>
              </a:rPr>
              <a:t>BETWEEN</a:t>
            </a:r>
            <a:r>
              <a:rPr lang="en-US" sz="1400" dirty="0">
                <a:solidFill>
                  <a:srgbClr val="000000"/>
                </a:solidFill>
                <a:latin typeface="JetBrains Mono"/>
              </a:rPr>
              <a:t> </a:t>
            </a:r>
            <a:r>
              <a:rPr lang="en-US" sz="1400" dirty="0">
                <a:solidFill>
                  <a:srgbClr val="006666"/>
                </a:solidFill>
                <a:latin typeface="JetBrains Mono"/>
              </a:rPr>
              <a:t>5</a:t>
            </a:r>
            <a:r>
              <a:rPr lang="en-US" sz="1400" dirty="0">
                <a:solidFill>
                  <a:srgbClr val="000000"/>
                </a:solidFill>
                <a:latin typeface="JetBrains Mono"/>
              </a:rPr>
              <a:t> </a:t>
            </a:r>
            <a:r>
              <a:rPr lang="en-US" sz="1400" dirty="0">
                <a:solidFill>
                  <a:srgbClr val="000088"/>
                </a:solidFill>
                <a:latin typeface="JetBrains Mono"/>
              </a:rPr>
              <a:t>AND</a:t>
            </a:r>
            <a:r>
              <a:rPr lang="en-US" sz="1400" dirty="0">
                <a:solidFill>
                  <a:srgbClr val="000000"/>
                </a:solidFill>
                <a:latin typeface="JetBrains Mono"/>
              </a:rPr>
              <a:t> </a:t>
            </a:r>
            <a:r>
              <a:rPr lang="en-US" sz="1400" dirty="0">
                <a:solidFill>
                  <a:srgbClr val="006666"/>
                </a:solidFill>
                <a:latin typeface="JetBrains Mono"/>
              </a:rPr>
              <a:t>14</a:t>
            </a:r>
            <a:r>
              <a:rPr lang="en-US" sz="1400" dirty="0" smtClean="0">
                <a:solidFill>
                  <a:srgbClr val="000000"/>
                </a:solidFill>
                <a:latin typeface="JetBrains Mono"/>
              </a:rPr>
              <a:t>;</a:t>
            </a:r>
            <a:endParaRPr lang="ru-RU" sz="1400" dirty="0" smtClean="0">
              <a:solidFill>
                <a:srgbClr val="000000"/>
              </a:solidFill>
              <a:latin typeface="JetBrains Mono"/>
            </a:endParaRPr>
          </a:p>
          <a:p>
            <a:pPr marL="0" indent="0">
              <a:buNone/>
            </a:pPr>
            <a:endParaRPr lang="ru-RU" sz="1400" dirty="0" smtClean="0">
              <a:solidFill>
                <a:srgbClr val="000000"/>
              </a:solidFill>
              <a:latin typeface="JetBrains Mono"/>
            </a:endParaRPr>
          </a:p>
          <a:p>
            <a:pPr marL="0" indent="0">
              <a:buNone/>
            </a:pPr>
            <a:r>
              <a:rPr lang="en-US" sz="1400" dirty="0">
                <a:solidFill>
                  <a:srgbClr val="000088"/>
                </a:solidFill>
                <a:latin typeface="JetBrains Mono"/>
              </a:rPr>
              <a:t>SELECT</a:t>
            </a:r>
            <a:r>
              <a:rPr lang="en-US" sz="1400" dirty="0">
                <a:solidFill>
                  <a:srgbClr val="000000"/>
                </a:solidFill>
                <a:latin typeface="JetBrains Mono"/>
              </a:rPr>
              <a:t> title, amount </a:t>
            </a:r>
            <a:endParaRPr lang="ru-RU" sz="1400" dirty="0" smtClean="0">
              <a:solidFill>
                <a:srgbClr val="000000"/>
              </a:solidFill>
              <a:latin typeface="JetBrains Mono"/>
            </a:endParaRPr>
          </a:p>
          <a:p>
            <a:pPr marL="0" indent="0">
              <a:buNone/>
            </a:pPr>
            <a:r>
              <a:rPr lang="en-US" sz="1400" dirty="0" smtClean="0">
                <a:solidFill>
                  <a:srgbClr val="000088"/>
                </a:solidFill>
                <a:latin typeface="JetBrains Mono"/>
              </a:rPr>
              <a:t>FROM</a:t>
            </a:r>
            <a:r>
              <a:rPr lang="en-US" sz="1400" dirty="0" smtClean="0">
                <a:solidFill>
                  <a:srgbClr val="000000"/>
                </a:solidFill>
                <a:latin typeface="JetBrains Mono"/>
              </a:rPr>
              <a:t> </a:t>
            </a:r>
            <a:r>
              <a:rPr lang="en-US" sz="1400" dirty="0">
                <a:solidFill>
                  <a:srgbClr val="000000"/>
                </a:solidFill>
                <a:latin typeface="JetBrains Mono"/>
              </a:rPr>
              <a:t>book </a:t>
            </a:r>
            <a:endParaRPr lang="ru-RU" sz="1400" dirty="0" smtClean="0">
              <a:solidFill>
                <a:srgbClr val="000000"/>
              </a:solidFill>
              <a:latin typeface="JetBrains Mono"/>
            </a:endParaRPr>
          </a:p>
          <a:p>
            <a:pPr marL="0" indent="0">
              <a:buNone/>
            </a:pPr>
            <a:r>
              <a:rPr lang="en-US" sz="1400" dirty="0" smtClean="0">
                <a:solidFill>
                  <a:srgbClr val="000088"/>
                </a:solidFill>
                <a:latin typeface="JetBrains Mono"/>
              </a:rPr>
              <a:t>WHERE</a:t>
            </a:r>
            <a:r>
              <a:rPr lang="en-US" sz="1400" dirty="0" smtClean="0">
                <a:solidFill>
                  <a:srgbClr val="000000"/>
                </a:solidFill>
                <a:latin typeface="JetBrains Mono"/>
              </a:rPr>
              <a:t> </a:t>
            </a:r>
            <a:r>
              <a:rPr lang="en-US" sz="1400" dirty="0">
                <a:solidFill>
                  <a:srgbClr val="000000"/>
                </a:solidFill>
                <a:latin typeface="JetBrains Mono"/>
              </a:rPr>
              <a:t>amount &gt;= </a:t>
            </a:r>
            <a:r>
              <a:rPr lang="en-US" sz="1400" dirty="0">
                <a:solidFill>
                  <a:srgbClr val="006666"/>
                </a:solidFill>
                <a:latin typeface="JetBrains Mono"/>
              </a:rPr>
              <a:t>5</a:t>
            </a:r>
            <a:r>
              <a:rPr lang="en-US" sz="1400" dirty="0">
                <a:solidFill>
                  <a:srgbClr val="000000"/>
                </a:solidFill>
                <a:latin typeface="JetBrains Mono"/>
              </a:rPr>
              <a:t> </a:t>
            </a:r>
            <a:r>
              <a:rPr lang="en-US" sz="1400" dirty="0">
                <a:solidFill>
                  <a:srgbClr val="000088"/>
                </a:solidFill>
                <a:latin typeface="JetBrains Mono"/>
              </a:rPr>
              <a:t>AND</a:t>
            </a:r>
            <a:r>
              <a:rPr lang="en-US" sz="1400" dirty="0">
                <a:solidFill>
                  <a:srgbClr val="000000"/>
                </a:solidFill>
                <a:latin typeface="JetBrains Mono"/>
              </a:rPr>
              <a:t> amount &lt;=</a:t>
            </a:r>
            <a:r>
              <a:rPr lang="en-US" sz="1400" dirty="0">
                <a:solidFill>
                  <a:srgbClr val="006666"/>
                </a:solidFill>
                <a:latin typeface="JetBrains Mono"/>
              </a:rPr>
              <a:t>14</a:t>
            </a:r>
            <a:r>
              <a:rPr lang="en-US" sz="1400" dirty="0">
                <a:solidFill>
                  <a:srgbClr val="000000"/>
                </a:solidFill>
                <a:latin typeface="JetBrains Mono"/>
              </a:rPr>
              <a:t>;</a:t>
            </a:r>
            <a:endParaRPr lang="en-US" sz="1400" dirty="0"/>
          </a:p>
          <a:p>
            <a:pPr marL="0" indent="0">
              <a:buNone/>
            </a:pPr>
            <a:endParaRPr lang="en-US" sz="1400"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1840" y="4011910"/>
            <a:ext cx="2200275" cy="1000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703524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0"/>
            <a:ext cx="8229600" cy="349548"/>
          </a:xfrm>
        </p:spPr>
        <p:txBody>
          <a:bodyPr>
            <a:noAutofit/>
          </a:bodyPr>
          <a:lstStyle/>
          <a:p>
            <a:r>
              <a:rPr lang="en-US" sz="2800" b="1" dirty="0"/>
              <a:t>Selecting Data, the LIKE </a:t>
            </a:r>
            <a:r>
              <a:rPr lang="en-US" sz="2800" b="1" dirty="0" smtClean="0"/>
              <a:t>Operator</a:t>
            </a:r>
            <a:endParaRPr lang="en-US" sz="2800" dirty="0"/>
          </a:p>
        </p:txBody>
      </p:sp>
      <p:sp>
        <p:nvSpPr>
          <p:cNvPr id="3" name="Объект 2"/>
          <p:cNvSpPr>
            <a:spLocks noGrp="1"/>
          </p:cNvSpPr>
          <p:nvPr>
            <p:ph idx="1"/>
          </p:nvPr>
        </p:nvSpPr>
        <p:spPr>
          <a:xfrm>
            <a:off x="395536" y="436564"/>
            <a:ext cx="8229600" cy="4007394"/>
          </a:xfrm>
        </p:spPr>
        <p:txBody>
          <a:bodyPr>
            <a:normAutofit/>
          </a:bodyPr>
          <a:lstStyle/>
          <a:p>
            <a:pPr marL="0" indent="0">
              <a:buNone/>
            </a:pPr>
            <a:r>
              <a:rPr lang="en-US" sz="1400" dirty="0">
                <a:solidFill>
                  <a:srgbClr val="0F1115"/>
                </a:solidFill>
                <a:latin typeface="quote-cjk-patch"/>
              </a:rPr>
              <a:t>The </a:t>
            </a:r>
            <a:r>
              <a:rPr lang="en-US" sz="1400" dirty="0"/>
              <a:t>LIKE</a:t>
            </a:r>
            <a:r>
              <a:rPr lang="en-US" sz="1400" dirty="0">
                <a:solidFill>
                  <a:srgbClr val="0F1115"/>
                </a:solidFill>
                <a:latin typeface="quote-cjk-patch"/>
              </a:rPr>
              <a:t> operator is used to compare character strings. Unlike the equality (</a:t>
            </a:r>
            <a:r>
              <a:rPr lang="en-US" sz="1400" dirty="0"/>
              <a:t>=</a:t>
            </a:r>
            <a:r>
              <a:rPr lang="en-US" sz="1400" dirty="0">
                <a:solidFill>
                  <a:srgbClr val="0F1115"/>
                </a:solidFill>
                <a:latin typeface="quote-cjk-patch"/>
              </a:rPr>
              <a:t>) and inequality (</a:t>
            </a:r>
            <a:r>
              <a:rPr lang="en-US" sz="1400" dirty="0"/>
              <a:t>&lt;&gt;</a:t>
            </a:r>
            <a:r>
              <a:rPr lang="en-US" sz="1400" dirty="0">
                <a:solidFill>
                  <a:srgbClr val="0F1115"/>
                </a:solidFill>
                <a:latin typeface="quote-cjk-patch"/>
              </a:rPr>
              <a:t>) operators, </a:t>
            </a:r>
            <a:r>
              <a:rPr lang="en-US" sz="1400" dirty="0"/>
              <a:t>LIKE</a:t>
            </a:r>
            <a:r>
              <a:rPr lang="en-US" sz="1400" dirty="0">
                <a:solidFill>
                  <a:srgbClr val="0F1115"/>
                </a:solidFill>
                <a:latin typeface="quote-cjk-patch"/>
              </a:rPr>
              <a:t> allows for pattern matching instead of exact match comparison. The pattern can include regular characters and wildcard characters. During comparison, the regular characters in the pattern must exactly match the characters in the string. Wildcard characters can match arbitrary elements of the character string.</a:t>
            </a:r>
            <a:endParaRPr lang="ru-RU" sz="1400" dirty="0" smtClean="0"/>
          </a:p>
          <a:p>
            <a:pPr marL="0" indent="0">
              <a:buNone/>
            </a:pPr>
            <a:endParaRPr lang="ru-RU" sz="1400" dirty="0" smtClean="0"/>
          </a:p>
          <a:p>
            <a:pPr marL="0" indent="0">
              <a:buNone/>
            </a:pPr>
            <a:endParaRPr lang="ru-RU" sz="1400" dirty="0"/>
          </a:p>
          <a:p>
            <a:pPr marL="0" indent="0">
              <a:buNone/>
            </a:pPr>
            <a:endParaRPr lang="ru-RU" sz="1400" dirty="0" smtClean="0"/>
          </a:p>
          <a:p>
            <a:pPr marL="0" indent="0">
              <a:buNone/>
            </a:pPr>
            <a:endParaRPr lang="ru-RU" sz="1400" dirty="0"/>
          </a:p>
          <a:p>
            <a:pPr marL="0" indent="0">
              <a:buNone/>
            </a:pPr>
            <a:endParaRPr lang="ru-RU" sz="1400" dirty="0" smtClean="0"/>
          </a:p>
          <a:p>
            <a:pPr marL="0" indent="0">
              <a:buNone/>
            </a:pPr>
            <a:endParaRPr lang="ru-RU" sz="1400" dirty="0"/>
          </a:p>
          <a:p>
            <a:pPr marL="0" indent="0">
              <a:buNone/>
            </a:pPr>
            <a:endParaRPr lang="ru-RU" sz="1400" dirty="0" smtClean="0"/>
          </a:p>
          <a:p>
            <a:pPr marL="0" indent="0">
              <a:buNone/>
            </a:pPr>
            <a:endParaRPr lang="ru-RU" sz="1400" dirty="0"/>
          </a:p>
          <a:p>
            <a:pPr marL="0" indent="0">
              <a:buNone/>
            </a:pPr>
            <a:r>
              <a:rPr lang="en-US" sz="1400" b="1" dirty="0"/>
              <a:t>Example 1</a:t>
            </a:r>
            <a:endParaRPr lang="en-US" sz="1400" dirty="0"/>
          </a:p>
          <a:p>
            <a:pPr marL="0" indent="0">
              <a:buNone/>
            </a:pPr>
            <a:r>
              <a:rPr lang="en-US" sz="1400" dirty="0"/>
              <a:t>Select the titles of books that start with the letter "Б".</a:t>
            </a:r>
          </a:p>
          <a:p>
            <a:pPr marL="0" indent="0">
              <a:buNone/>
            </a:pPr>
            <a:r>
              <a:rPr lang="en-US" sz="1400" dirty="0">
                <a:solidFill>
                  <a:srgbClr val="A626A4"/>
                </a:solidFill>
              </a:rPr>
              <a:t>SELECT</a:t>
            </a:r>
            <a:r>
              <a:rPr lang="en-US" sz="1400" dirty="0"/>
              <a:t> title </a:t>
            </a:r>
            <a:r>
              <a:rPr lang="en-US" sz="1400" dirty="0">
                <a:solidFill>
                  <a:srgbClr val="A626A4"/>
                </a:solidFill>
              </a:rPr>
              <a:t>FROM</a:t>
            </a:r>
            <a:r>
              <a:rPr lang="en-US" sz="1400" dirty="0"/>
              <a:t> book </a:t>
            </a:r>
            <a:r>
              <a:rPr lang="en-US" sz="1400" dirty="0">
                <a:solidFill>
                  <a:srgbClr val="A626A4"/>
                </a:solidFill>
              </a:rPr>
              <a:t>WHERE</a:t>
            </a:r>
            <a:r>
              <a:rPr lang="en-US" sz="1400" dirty="0"/>
              <a:t> title </a:t>
            </a:r>
            <a:r>
              <a:rPr lang="en-US" sz="1400" dirty="0">
                <a:solidFill>
                  <a:srgbClr val="4078F2"/>
                </a:solidFill>
              </a:rPr>
              <a:t>LIKE</a:t>
            </a:r>
            <a:r>
              <a:rPr lang="en-US" sz="1400" dirty="0"/>
              <a:t> </a:t>
            </a:r>
            <a:r>
              <a:rPr lang="en-US" sz="1400" dirty="0">
                <a:solidFill>
                  <a:srgbClr val="50A14F"/>
                </a:solidFill>
              </a:rPr>
              <a:t>'Б%'</a:t>
            </a:r>
            <a:r>
              <a:rPr lang="en-US" sz="1400" dirty="0">
                <a:solidFill>
                  <a:srgbClr val="383A42"/>
                </a:solidFill>
              </a:rPr>
              <a:t>;</a:t>
            </a:r>
            <a:endParaRPr lang="en-US" sz="1400" dirty="0"/>
          </a:p>
        </p:txBody>
      </p:sp>
      <p:graphicFrame>
        <p:nvGraphicFramePr>
          <p:cNvPr id="4" name="Таблица 3"/>
          <p:cNvGraphicFramePr>
            <a:graphicFrameLocks noGrp="1"/>
          </p:cNvGraphicFramePr>
          <p:nvPr>
            <p:extLst>
              <p:ext uri="{D42A27DB-BD31-4B8C-83A1-F6EECF244321}">
                <p14:modId xmlns:p14="http://schemas.microsoft.com/office/powerpoint/2010/main" val="1585429820"/>
              </p:ext>
            </p:extLst>
          </p:nvPr>
        </p:nvGraphicFramePr>
        <p:xfrm>
          <a:off x="395536" y="1574684"/>
          <a:ext cx="8424936" cy="1933170"/>
        </p:xfrm>
        <a:graphic>
          <a:graphicData uri="http://schemas.openxmlformats.org/drawingml/2006/table">
            <a:tbl>
              <a:tblPr/>
              <a:tblGrid>
                <a:gridCol w="1440160"/>
                <a:gridCol w="1872208"/>
                <a:gridCol w="5112568"/>
              </a:tblGrid>
              <a:tr h="320821">
                <a:tc>
                  <a:txBody>
                    <a:bodyPr/>
                    <a:lstStyle/>
                    <a:p>
                      <a:pPr algn="l"/>
                      <a:r>
                        <a:rPr lang="en-US" sz="1400" b="0" dirty="0">
                          <a:effectLst/>
                          <a:latin typeface="quote-cjk-patch"/>
                        </a:rPr>
                        <a:t>Wildcard</a:t>
                      </a:r>
                    </a:p>
                  </a:txBody>
                  <a:tcPr marL="70344" marR="117239" marT="73275" marB="73275" anchor="ctr">
                    <a:lnL>
                      <a:noFill/>
                    </a:lnL>
                    <a:lnR>
                      <a:noFill/>
                    </a:lnR>
                    <a:lnT>
                      <a:noFill/>
                    </a:lnT>
                    <a:lnB>
                      <a:noFill/>
                    </a:lnB>
                    <a:solidFill>
                      <a:srgbClr val="FFFFFF"/>
                    </a:solidFill>
                  </a:tcPr>
                </a:tc>
                <a:tc>
                  <a:txBody>
                    <a:bodyPr/>
                    <a:lstStyle/>
                    <a:p>
                      <a:pPr algn="l"/>
                      <a:r>
                        <a:rPr lang="en-US" sz="1400" b="0">
                          <a:effectLst/>
                          <a:latin typeface="quote-cjk-patch"/>
                        </a:rPr>
                        <a:t>Description</a:t>
                      </a:r>
                    </a:p>
                  </a:txBody>
                  <a:tcPr marL="117239" marR="117239" marT="73275" marB="73275" anchor="ctr">
                    <a:lnL>
                      <a:noFill/>
                    </a:lnL>
                    <a:lnR>
                      <a:noFill/>
                    </a:lnR>
                    <a:lnT>
                      <a:noFill/>
                    </a:lnT>
                    <a:lnB>
                      <a:noFill/>
                    </a:lnB>
                    <a:solidFill>
                      <a:srgbClr val="FFFFFF"/>
                    </a:solidFill>
                  </a:tcPr>
                </a:tc>
                <a:tc>
                  <a:txBody>
                    <a:bodyPr/>
                    <a:lstStyle/>
                    <a:p>
                      <a:pPr algn="l"/>
                      <a:r>
                        <a:rPr lang="en-US" sz="1400" b="0">
                          <a:effectLst/>
                          <a:latin typeface="quote-cjk-patch"/>
                        </a:rPr>
                        <a:t>Example</a:t>
                      </a:r>
                    </a:p>
                  </a:txBody>
                  <a:tcPr marL="117239" marR="117239" marT="73275" marB="73275" anchor="ctr">
                    <a:lnL>
                      <a:noFill/>
                    </a:lnL>
                    <a:lnR>
                      <a:noFill/>
                    </a:lnR>
                    <a:lnT>
                      <a:noFill/>
                    </a:lnT>
                    <a:lnB>
                      <a:noFill/>
                    </a:lnB>
                    <a:solidFill>
                      <a:srgbClr val="FFFFFF"/>
                    </a:solidFill>
                  </a:tcPr>
                </a:tc>
              </a:tr>
              <a:tr h="706176">
                <a:tc>
                  <a:txBody>
                    <a:bodyPr/>
                    <a:lstStyle/>
                    <a:p>
                      <a:r>
                        <a:rPr lang="en-US" sz="1400" b="0">
                          <a:effectLst/>
                          <a:latin typeface="quote-cjk-patch"/>
                        </a:rPr>
                        <a:t>%</a:t>
                      </a:r>
                    </a:p>
                  </a:txBody>
                  <a:tcPr marL="70344" marR="117239" marT="73275" marB="73275" anchor="ctr">
                    <a:lnL>
                      <a:noFill/>
                    </a:lnL>
                    <a:lnR>
                      <a:noFill/>
                    </a:lnR>
                    <a:lnT>
                      <a:noFill/>
                    </a:lnT>
                    <a:lnB>
                      <a:noFill/>
                    </a:lnB>
                    <a:solidFill>
                      <a:srgbClr val="FFFFFF"/>
                    </a:solidFill>
                  </a:tcPr>
                </a:tc>
                <a:tc>
                  <a:txBody>
                    <a:bodyPr/>
                    <a:lstStyle/>
                    <a:p>
                      <a:r>
                        <a:rPr lang="en-US" sz="1400" b="0" dirty="0">
                          <a:effectLst/>
                          <a:latin typeface="quote-cjk-patch"/>
                        </a:rPr>
                        <a:t>Matches any string of zero or more characters.</a:t>
                      </a:r>
                    </a:p>
                  </a:txBody>
                  <a:tcPr marL="117239" marR="117239" marT="73275" marB="73275" anchor="ctr">
                    <a:lnL>
                      <a:noFill/>
                    </a:lnL>
                    <a:lnR>
                      <a:noFill/>
                    </a:lnR>
                    <a:lnT>
                      <a:noFill/>
                    </a:lnT>
                    <a:lnB>
                      <a:noFill/>
                    </a:lnB>
                    <a:solidFill>
                      <a:srgbClr val="FFFFFF"/>
                    </a:solidFill>
                  </a:tcPr>
                </a:tc>
                <a:tc>
                  <a:txBody>
                    <a:bodyPr/>
                    <a:lstStyle/>
                    <a:p>
                      <a:r>
                        <a:rPr lang="en-US" sz="1400" b="0">
                          <a:effectLst/>
                          <a:latin typeface="quote-cjk-patch"/>
                        </a:rPr>
                        <a:t>SELECT * FROM book WHERE author LIKE '%М.%'</a:t>
                      </a:r>
                      <a:br>
                        <a:rPr lang="en-US" sz="1400" b="0">
                          <a:effectLst/>
                          <a:latin typeface="quote-cjk-patch"/>
                        </a:rPr>
                      </a:br>
                      <a:r>
                        <a:rPr lang="en-US" sz="1400" b="0">
                          <a:effectLst/>
                          <a:latin typeface="quote-cjk-patch"/>
                        </a:rPr>
                        <a:t>This searches for and returns all books where the author's initials contain "М."</a:t>
                      </a:r>
                    </a:p>
                  </a:txBody>
                  <a:tcPr marL="117239" marR="70344" marT="73275" marB="73275" anchor="ctr">
                    <a:lnL>
                      <a:noFill/>
                    </a:lnL>
                    <a:lnR>
                      <a:noFill/>
                    </a:lnR>
                    <a:lnT>
                      <a:noFill/>
                    </a:lnT>
                    <a:lnB>
                      <a:noFill/>
                    </a:lnB>
                    <a:solidFill>
                      <a:srgbClr val="FFFFFF"/>
                    </a:solidFill>
                  </a:tcPr>
                </a:tc>
              </a:tr>
              <a:tr h="653660">
                <a:tc>
                  <a:txBody>
                    <a:bodyPr/>
                    <a:lstStyle/>
                    <a:p>
                      <a:r>
                        <a:rPr lang="en-US" sz="1400" b="0">
                          <a:effectLst/>
                          <a:latin typeface="quote-cjk-patch"/>
                        </a:rPr>
                        <a:t>_ (underscore)</a:t>
                      </a:r>
                    </a:p>
                  </a:txBody>
                  <a:tcPr marL="70344" marR="117239" marT="73275" marB="73275" anchor="ctr">
                    <a:lnL>
                      <a:noFill/>
                    </a:lnL>
                    <a:lnR>
                      <a:noFill/>
                    </a:lnR>
                    <a:lnT>
                      <a:noFill/>
                    </a:lnT>
                    <a:lnB>
                      <a:noFill/>
                    </a:lnB>
                    <a:solidFill>
                      <a:srgbClr val="FFFFFF"/>
                    </a:solidFill>
                  </a:tcPr>
                </a:tc>
                <a:tc>
                  <a:txBody>
                    <a:bodyPr/>
                    <a:lstStyle/>
                    <a:p>
                      <a:r>
                        <a:rPr lang="en-US" sz="1400" b="0">
                          <a:effectLst/>
                          <a:latin typeface="quote-cjk-patch"/>
                        </a:rPr>
                        <a:t>Matches any single character.</a:t>
                      </a:r>
                    </a:p>
                  </a:txBody>
                  <a:tcPr marL="117239" marR="117239" marT="73275" marB="73275" anchor="ctr">
                    <a:lnL>
                      <a:noFill/>
                    </a:lnL>
                    <a:lnR>
                      <a:noFill/>
                    </a:lnR>
                    <a:lnT>
                      <a:noFill/>
                    </a:lnT>
                    <a:lnB>
                      <a:noFill/>
                    </a:lnB>
                    <a:solidFill>
                      <a:srgbClr val="FFFFFF"/>
                    </a:solidFill>
                  </a:tcPr>
                </a:tc>
                <a:tc>
                  <a:txBody>
                    <a:bodyPr/>
                    <a:lstStyle/>
                    <a:p>
                      <a:r>
                        <a:rPr lang="en-US" sz="1400" b="0" dirty="0">
                          <a:effectLst/>
                          <a:latin typeface="quote-cjk-patch"/>
                        </a:rPr>
                        <a:t>SELECT * FROM book WHERE title LIKE '</a:t>
                      </a:r>
                      <a:r>
                        <a:rPr lang="en-US" sz="1400" b="0" dirty="0" err="1">
                          <a:effectLst/>
                          <a:latin typeface="quote-cjk-patch"/>
                        </a:rPr>
                        <a:t>Поэм</a:t>
                      </a:r>
                      <a:r>
                        <a:rPr lang="en-US" sz="1400" b="0" dirty="0">
                          <a:effectLst/>
                          <a:latin typeface="quote-cjk-patch"/>
                        </a:rPr>
                        <a:t>_'</a:t>
                      </a:r>
                      <a:br>
                        <a:rPr lang="en-US" sz="1400" b="0" dirty="0">
                          <a:effectLst/>
                          <a:latin typeface="quote-cjk-patch"/>
                        </a:rPr>
                      </a:br>
                      <a:r>
                        <a:rPr lang="en-US" sz="1400" b="0" dirty="0">
                          <a:effectLst/>
                          <a:latin typeface="quote-cjk-patch"/>
                        </a:rPr>
                        <a:t>This searches for and returns all books whose titles are "</a:t>
                      </a:r>
                      <a:r>
                        <a:rPr lang="en-US" sz="1400" b="0" dirty="0" err="1">
                          <a:effectLst/>
                          <a:latin typeface="quote-cjk-patch"/>
                        </a:rPr>
                        <a:t>Поэма</a:t>
                      </a:r>
                      <a:r>
                        <a:rPr lang="en-US" sz="1400" b="0" dirty="0">
                          <a:effectLst/>
                          <a:latin typeface="quote-cjk-patch"/>
                        </a:rPr>
                        <a:t>", "</a:t>
                      </a:r>
                      <a:r>
                        <a:rPr lang="en-US" sz="1400" b="0" dirty="0" err="1">
                          <a:effectLst/>
                          <a:latin typeface="quote-cjk-patch"/>
                        </a:rPr>
                        <a:t>Поэмы</a:t>
                      </a:r>
                      <a:r>
                        <a:rPr lang="en-US" sz="1400" b="0" dirty="0">
                          <a:effectLst/>
                          <a:latin typeface="quote-cjk-patch"/>
                        </a:rPr>
                        <a:t>", etc.</a:t>
                      </a:r>
                    </a:p>
                  </a:txBody>
                  <a:tcPr marL="117239" marR="70344" marT="73275" marB="73275" anchor="ctr">
                    <a:lnL>
                      <a:noFill/>
                    </a:lnL>
                    <a:lnR>
                      <a:noFill/>
                    </a:lnR>
                    <a:lnT>
                      <a:noFill/>
                    </a:lnT>
                    <a:lnB>
                      <a:noFill/>
                    </a:lnB>
                    <a:solidFill>
                      <a:srgbClr val="FFFFFF"/>
                    </a:solidFill>
                  </a:tcPr>
                </a:tc>
              </a:tr>
            </a:tbl>
          </a:graphicData>
        </a:graphic>
      </p:graphicFrame>
      <p:pic>
        <p:nvPicPr>
          <p:cNvPr id="922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4048" y="3795886"/>
            <a:ext cx="1933575" cy="1000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3384719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0"/>
            <a:ext cx="8229600" cy="349548"/>
          </a:xfrm>
        </p:spPr>
        <p:txBody>
          <a:bodyPr>
            <a:noAutofit/>
          </a:bodyPr>
          <a:lstStyle/>
          <a:p>
            <a:r>
              <a:rPr lang="en-US" sz="2800" b="1" dirty="0"/>
              <a:t>Selecting Data, the LIKE </a:t>
            </a:r>
            <a:r>
              <a:rPr lang="en-US" sz="2800" b="1" dirty="0" smtClean="0"/>
              <a:t>Operator</a:t>
            </a:r>
            <a:endParaRPr lang="en-US" sz="2800" dirty="0"/>
          </a:p>
        </p:txBody>
      </p:sp>
      <p:sp>
        <p:nvSpPr>
          <p:cNvPr id="3" name="Объект 2"/>
          <p:cNvSpPr>
            <a:spLocks noGrp="1"/>
          </p:cNvSpPr>
          <p:nvPr>
            <p:ph idx="1"/>
          </p:nvPr>
        </p:nvSpPr>
        <p:spPr>
          <a:xfrm>
            <a:off x="395536" y="436564"/>
            <a:ext cx="8229600" cy="4007394"/>
          </a:xfrm>
        </p:spPr>
        <p:txBody>
          <a:bodyPr>
            <a:normAutofit/>
          </a:bodyPr>
          <a:lstStyle/>
          <a:p>
            <a:pPr marL="0" indent="0">
              <a:buNone/>
            </a:pPr>
            <a:r>
              <a:rPr lang="en-US" sz="1400" b="1" dirty="0"/>
              <a:t>Example 2</a:t>
            </a:r>
            <a:endParaRPr lang="en-US" sz="1400" dirty="0"/>
          </a:p>
          <a:p>
            <a:pPr marL="0" indent="0">
              <a:buNone/>
            </a:pPr>
            <a:r>
              <a:rPr lang="en-US" sz="1400" dirty="0"/>
              <a:t>Select the titles of books that consist of exactly 5 letters.</a:t>
            </a:r>
          </a:p>
          <a:p>
            <a:pPr marL="0" indent="0">
              <a:buNone/>
            </a:pPr>
            <a:endParaRPr lang="ru-RU" sz="1400" dirty="0" smtClean="0"/>
          </a:p>
          <a:p>
            <a:pPr marL="0" indent="0">
              <a:buNone/>
            </a:pPr>
            <a:endParaRPr lang="ru-RU" sz="1400" dirty="0"/>
          </a:p>
          <a:p>
            <a:pPr marL="0" indent="0">
              <a:buNone/>
            </a:pPr>
            <a:endParaRPr lang="ru-RU" sz="1400" dirty="0" smtClean="0"/>
          </a:p>
          <a:p>
            <a:pPr marL="0" indent="0">
              <a:buNone/>
            </a:pPr>
            <a:endParaRPr lang="ru-RU" sz="1400" dirty="0"/>
          </a:p>
          <a:p>
            <a:pPr marL="0" indent="0">
              <a:buNone/>
            </a:pPr>
            <a:endParaRPr lang="ru-RU" sz="1400" dirty="0" smtClean="0"/>
          </a:p>
          <a:p>
            <a:pPr marL="0" indent="0">
              <a:buNone/>
            </a:pPr>
            <a:endParaRPr lang="ru-RU" sz="1400" dirty="0"/>
          </a:p>
          <a:p>
            <a:pPr marL="0" indent="0">
              <a:buNone/>
            </a:pPr>
            <a:endParaRPr lang="ru-RU" sz="1400" dirty="0" smtClean="0"/>
          </a:p>
          <a:p>
            <a:pPr marL="0" indent="0">
              <a:buNone/>
            </a:pPr>
            <a:endParaRPr lang="ru-RU" sz="1400" dirty="0"/>
          </a:p>
        </p:txBody>
      </p:sp>
    </p:spTree>
    <p:extLst>
      <p:ext uri="{BB962C8B-B14F-4D97-AF65-F5344CB8AC3E}">
        <p14:creationId xmlns:p14="http://schemas.microsoft.com/office/powerpoint/2010/main" val="339666948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0"/>
            <a:ext cx="8229600" cy="349548"/>
          </a:xfrm>
        </p:spPr>
        <p:txBody>
          <a:bodyPr>
            <a:noAutofit/>
          </a:bodyPr>
          <a:lstStyle/>
          <a:p>
            <a:r>
              <a:rPr lang="en-US" sz="2800" b="1" dirty="0"/>
              <a:t>Selecting unique column elements</a:t>
            </a:r>
            <a:endParaRPr lang="en-US" sz="2800" dirty="0"/>
          </a:p>
        </p:txBody>
      </p:sp>
      <p:sp>
        <p:nvSpPr>
          <p:cNvPr id="3" name="Объект 2"/>
          <p:cNvSpPr>
            <a:spLocks noGrp="1"/>
          </p:cNvSpPr>
          <p:nvPr>
            <p:ph idx="1"/>
          </p:nvPr>
        </p:nvSpPr>
        <p:spPr>
          <a:xfrm>
            <a:off x="395536" y="436564"/>
            <a:ext cx="8229600" cy="4007394"/>
          </a:xfrm>
        </p:spPr>
        <p:txBody>
          <a:bodyPr>
            <a:normAutofit lnSpcReduction="10000"/>
          </a:bodyPr>
          <a:lstStyle/>
          <a:p>
            <a:pPr marL="0" indent="0">
              <a:buNone/>
            </a:pPr>
            <a:r>
              <a:rPr lang="en-US" sz="1400" dirty="0"/>
              <a:t>To select unique elements from a column, the </a:t>
            </a:r>
            <a:r>
              <a:rPr lang="en-US" sz="1400" b="1" dirty="0"/>
              <a:t>DISTINCT</a:t>
            </a:r>
            <a:r>
              <a:rPr lang="en-US" sz="1400" dirty="0"/>
              <a:t> keyword is used, which is placed right after </a:t>
            </a:r>
            <a:r>
              <a:rPr lang="en-US" sz="1400" b="1" dirty="0"/>
              <a:t>SELECT</a:t>
            </a:r>
            <a:r>
              <a:rPr lang="en-US" sz="1400" dirty="0"/>
              <a:t>.</a:t>
            </a:r>
            <a:endParaRPr lang="ru-RU" sz="1400" dirty="0" smtClean="0"/>
          </a:p>
          <a:p>
            <a:pPr marL="0" indent="0">
              <a:buNone/>
            </a:pPr>
            <a:endParaRPr lang="en-US" sz="1400" dirty="0"/>
          </a:p>
          <a:p>
            <a:pPr marL="0" indent="0">
              <a:buNone/>
            </a:pPr>
            <a:r>
              <a:rPr lang="en-US" sz="1400" b="1" dirty="0" smtClean="0"/>
              <a:t>Example</a:t>
            </a:r>
            <a:endParaRPr lang="ru-RU" sz="1400" b="1" dirty="0" smtClean="0"/>
          </a:p>
          <a:p>
            <a:pPr marL="0" indent="0">
              <a:buNone/>
            </a:pPr>
            <a:r>
              <a:rPr lang="en-US" sz="1400" dirty="0" smtClean="0"/>
              <a:t>Select </a:t>
            </a:r>
            <a:r>
              <a:rPr lang="en-US" sz="1400" dirty="0"/>
              <a:t>distinct authors whose books are stored in the book table</a:t>
            </a:r>
            <a:r>
              <a:rPr lang="en-US" sz="1400" dirty="0" smtClean="0"/>
              <a:t>.</a:t>
            </a:r>
            <a:endParaRPr lang="ru-RU" sz="1400" dirty="0"/>
          </a:p>
          <a:p>
            <a:pPr marL="0" indent="0">
              <a:buNone/>
            </a:pPr>
            <a:r>
              <a:rPr lang="en-US" sz="1400" dirty="0">
                <a:solidFill>
                  <a:srgbClr val="A626A4"/>
                </a:solidFill>
              </a:rPr>
              <a:t>SELECT</a:t>
            </a:r>
            <a:r>
              <a:rPr lang="en-US" sz="1400" dirty="0"/>
              <a:t> </a:t>
            </a:r>
            <a:r>
              <a:rPr lang="en-US" sz="1400" dirty="0">
                <a:solidFill>
                  <a:srgbClr val="A626A4"/>
                </a:solidFill>
              </a:rPr>
              <a:t>DISTINCT</a:t>
            </a:r>
            <a:r>
              <a:rPr lang="en-US" sz="1400" dirty="0"/>
              <a:t> author </a:t>
            </a:r>
            <a:r>
              <a:rPr lang="en-US" sz="1400" dirty="0">
                <a:solidFill>
                  <a:srgbClr val="A626A4"/>
                </a:solidFill>
              </a:rPr>
              <a:t>FROM</a:t>
            </a:r>
            <a:r>
              <a:rPr lang="en-US" sz="1400" dirty="0"/>
              <a:t> book</a:t>
            </a:r>
            <a:r>
              <a:rPr lang="en-US" sz="1400" dirty="0">
                <a:solidFill>
                  <a:srgbClr val="383A42"/>
                </a:solidFill>
              </a:rPr>
              <a:t>;</a:t>
            </a:r>
            <a:endParaRPr lang="ru-RU" sz="1400" dirty="0" smtClean="0"/>
          </a:p>
          <a:p>
            <a:pPr marL="0" indent="0">
              <a:buNone/>
            </a:pPr>
            <a:endParaRPr lang="en-US" sz="1400" dirty="0" smtClean="0"/>
          </a:p>
          <a:p>
            <a:pPr marL="0" indent="0">
              <a:buNone/>
            </a:pPr>
            <a:endParaRPr lang="en-US" sz="1400" dirty="0"/>
          </a:p>
          <a:p>
            <a:pPr marL="0" indent="0">
              <a:buNone/>
            </a:pPr>
            <a:endParaRPr lang="ru-RU" sz="1400" dirty="0"/>
          </a:p>
          <a:p>
            <a:pPr marL="0" indent="0">
              <a:buNone/>
            </a:pPr>
            <a:endParaRPr lang="ru-RU" sz="1400" dirty="0" smtClean="0"/>
          </a:p>
          <a:p>
            <a:pPr marL="0" indent="0">
              <a:buNone/>
            </a:pPr>
            <a:r>
              <a:rPr lang="en-US" sz="1400" b="1" dirty="0"/>
              <a:t>Another method </a:t>
            </a:r>
            <a:r>
              <a:rPr lang="en-US" sz="1400" dirty="0"/>
              <a:t>is using the </a:t>
            </a:r>
            <a:r>
              <a:rPr lang="en-US" sz="1400" b="1" dirty="0"/>
              <a:t>GROUP </a:t>
            </a:r>
            <a:r>
              <a:rPr lang="en-US" sz="1400" dirty="0"/>
              <a:t>BY operator, which groups data during selection that have identical values in a specific column. The column used for grouping is specified after GROUP BY.</a:t>
            </a:r>
          </a:p>
          <a:p>
            <a:pPr marL="0" indent="0">
              <a:buNone/>
            </a:pPr>
            <a:endParaRPr lang="en-US" sz="1400" dirty="0"/>
          </a:p>
          <a:p>
            <a:pPr marL="0" indent="0">
              <a:buNone/>
            </a:pPr>
            <a:r>
              <a:rPr lang="en-US" sz="1400" dirty="0"/>
              <a:t>Using GROUP BY, you can select unique elements from the column used for grouping. The result will be exactly the same as when using DISTINCT</a:t>
            </a:r>
            <a:r>
              <a:rPr lang="en-US" sz="1400" dirty="0" smtClean="0"/>
              <a:t>.</a:t>
            </a:r>
            <a:endParaRPr lang="ru-RU" sz="1400" dirty="0" smtClean="0"/>
          </a:p>
          <a:p>
            <a:pPr marL="0" indent="0">
              <a:buNone/>
            </a:pPr>
            <a:endParaRPr lang="ru-RU" sz="1400" dirty="0" smtClean="0"/>
          </a:p>
          <a:p>
            <a:pPr marL="0" indent="0">
              <a:buNone/>
            </a:pPr>
            <a:r>
              <a:rPr lang="en-US" sz="1400" dirty="0">
                <a:solidFill>
                  <a:srgbClr val="000088"/>
                </a:solidFill>
                <a:latin typeface="JetBrains Mono"/>
              </a:rPr>
              <a:t>SELECT</a:t>
            </a:r>
            <a:r>
              <a:rPr lang="en-US" sz="1400" dirty="0">
                <a:solidFill>
                  <a:srgbClr val="000000"/>
                </a:solidFill>
                <a:latin typeface="JetBrains Mono"/>
              </a:rPr>
              <a:t> author </a:t>
            </a:r>
            <a:r>
              <a:rPr lang="en-US" sz="1400" dirty="0">
                <a:solidFill>
                  <a:srgbClr val="000088"/>
                </a:solidFill>
                <a:latin typeface="JetBrains Mono"/>
              </a:rPr>
              <a:t>FROM</a:t>
            </a:r>
            <a:r>
              <a:rPr lang="en-US" sz="1400" dirty="0">
                <a:solidFill>
                  <a:srgbClr val="000000"/>
                </a:solidFill>
                <a:latin typeface="JetBrains Mono"/>
              </a:rPr>
              <a:t> book </a:t>
            </a:r>
            <a:r>
              <a:rPr lang="en-US" sz="1400" dirty="0">
                <a:solidFill>
                  <a:srgbClr val="000088"/>
                </a:solidFill>
                <a:latin typeface="JetBrains Mono"/>
              </a:rPr>
              <a:t>GROUP</a:t>
            </a:r>
            <a:r>
              <a:rPr lang="en-US" sz="1400" dirty="0">
                <a:solidFill>
                  <a:srgbClr val="000000"/>
                </a:solidFill>
                <a:latin typeface="JetBrains Mono"/>
              </a:rPr>
              <a:t> </a:t>
            </a:r>
            <a:r>
              <a:rPr lang="en-US" sz="1400" dirty="0">
                <a:solidFill>
                  <a:srgbClr val="000088"/>
                </a:solidFill>
                <a:latin typeface="JetBrains Mono"/>
              </a:rPr>
              <a:t>BY</a:t>
            </a:r>
            <a:r>
              <a:rPr lang="en-US" sz="1400" dirty="0">
                <a:solidFill>
                  <a:srgbClr val="000000"/>
                </a:solidFill>
                <a:latin typeface="JetBrains Mono"/>
              </a:rPr>
              <a:t> author;</a:t>
            </a:r>
            <a:endParaRPr lang="ru-RU" sz="1400" dirty="0"/>
          </a:p>
          <a:p>
            <a:pPr marL="0" indent="0">
              <a:buNone/>
            </a:pPr>
            <a:endParaRPr lang="ru-RU" sz="1400" dirty="0" smtClean="0"/>
          </a:p>
          <a:p>
            <a:pPr marL="0" indent="0">
              <a:buNone/>
            </a:pPr>
            <a:endParaRPr lang="ru-RU" sz="14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1879" y="1563638"/>
            <a:ext cx="1375593" cy="96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0585336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0"/>
            <a:ext cx="8229600" cy="349548"/>
          </a:xfrm>
        </p:spPr>
        <p:txBody>
          <a:bodyPr>
            <a:noAutofit/>
          </a:bodyPr>
          <a:lstStyle/>
          <a:p>
            <a:r>
              <a:rPr lang="en-US" sz="2800" b="1" dirty="0"/>
              <a:t>Data Retrieval, Aggregate Functions SUM and COUNT</a:t>
            </a:r>
            <a:endParaRPr lang="en-US" sz="2800" dirty="0"/>
          </a:p>
        </p:txBody>
      </p:sp>
      <p:sp>
        <p:nvSpPr>
          <p:cNvPr id="3" name="Объект 2"/>
          <p:cNvSpPr>
            <a:spLocks noGrp="1"/>
          </p:cNvSpPr>
          <p:nvPr>
            <p:ph idx="1"/>
          </p:nvPr>
        </p:nvSpPr>
        <p:spPr>
          <a:xfrm>
            <a:off x="395536" y="436564"/>
            <a:ext cx="8229600" cy="4007394"/>
          </a:xfrm>
        </p:spPr>
        <p:txBody>
          <a:bodyPr>
            <a:normAutofit lnSpcReduction="10000"/>
          </a:bodyPr>
          <a:lstStyle/>
          <a:p>
            <a:pPr marL="0" indent="0">
              <a:buNone/>
            </a:pPr>
            <a:r>
              <a:rPr lang="en-US" sz="1400" dirty="0"/>
              <a:t>When grouping, various operations can be performed on the column elements within each group, such as summing them up or counting the number of elements in the group.</a:t>
            </a:r>
          </a:p>
          <a:p>
            <a:pPr marL="0" indent="0">
              <a:buNone/>
            </a:pPr>
            <a:r>
              <a:rPr lang="en-US" sz="1400" dirty="0"/>
              <a:t>Let's examine in detail how data grouping by a specific column and calculations on the group are performed using the following example</a:t>
            </a:r>
            <a:r>
              <a:rPr lang="en-US" sz="1400" dirty="0" smtClean="0"/>
              <a:t>:</a:t>
            </a:r>
            <a:endParaRPr lang="ru-RU" sz="1400" dirty="0" smtClean="0"/>
          </a:p>
          <a:p>
            <a:pPr marL="0" indent="0">
              <a:buNone/>
            </a:pPr>
            <a:endParaRPr lang="en-US" sz="1400" dirty="0"/>
          </a:p>
          <a:p>
            <a:pPr marL="0" indent="0">
              <a:buNone/>
            </a:pPr>
            <a:r>
              <a:rPr lang="en-US" sz="1200" dirty="0">
                <a:solidFill>
                  <a:srgbClr val="000088"/>
                </a:solidFill>
                <a:latin typeface="JetBrains Mono"/>
              </a:rPr>
              <a:t>SELECT</a:t>
            </a:r>
            <a:r>
              <a:rPr lang="en-US" sz="1200" dirty="0">
                <a:solidFill>
                  <a:srgbClr val="000000"/>
                </a:solidFill>
                <a:latin typeface="JetBrains Mono"/>
              </a:rPr>
              <a:t> author, </a:t>
            </a:r>
            <a:r>
              <a:rPr lang="en-US" sz="1200" dirty="0">
                <a:solidFill>
                  <a:srgbClr val="660066"/>
                </a:solidFill>
                <a:latin typeface="JetBrains Mono"/>
              </a:rPr>
              <a:t>sum</a:t>
            </a:r>
            <a:r>
              <a:rPr lang="en-US" sz="1200" dirty="0">
                <a:solidFill>
                  <a:srgbClr val="000000"/>
                </a:solidFill>
                <a:latin typeface="JetBrains Mono"/>
              </a:rPr>
              <a:t>(amount), </a:t>
            </a:r>
            <a:r>
              <a:rPr lang="en-US" sz="1200" dirty="0">
                <a:solidFill>
                  <a:srgbClr val="660066"/>
                </a:solidFill>
                <a:latin typeface="JetBrains Mono"/>
              </a:rPr>
              <a:t>count</a:t>
            </a:r>
            <a:r>
              <a:rPr lang="en-US" sz="1200" dirty="0">
                <a:solidFill>
                  <a:srgbClr val="000000"/>
                </a:solidFill>
                <a:latin typeface="JetBrains Mono"/>
              </a:rPr>
              <a:t>(amount) </a:t>
            </a:r>
            <a:r>
              <a:rPr lang="en-US" sz="1200" dirty="0">
                <a:solidFill>
                  <a:srgbClr val="000088"/>
                </a:solidFill>
                <a:latin typeface="JetBrains Mono"/>
              </a:rPr>
              <a:t>FROM</a:t>
            </a:r>
            <a:r>
              <a:rPr lang="en-US" sz="1200" dirty="0">
                <a:solidFill>
                  <a:srgbClr val="000000"/>
                </a:solidFill>
                <a:latin typeface="JetBrains Mono"/>
              </a:rPr>
              <a:t> book </a:t>
            </a:r>
            <a:r>
              <a:rPr lang="en-US" sz="1200" dirty="0">
                <a:solidFill>
                  <a:srgbClr val="000088"/>
                </a:solidFill>
                <a:latin typeface="JetBrains Mono"/>
              </a:rPr>
              <a:t>GROUP</a:t>
            </a:r>
            <a:r>
              <a:rPr lang="en-US" sz="1200" dirty="0">
                <a:solidFill>
                  <a:srgbClr val="000000"/>
                </a:solidFill>
                <a:latin typeface="JetBrains Mono"/>
              </a:rPr>
              <a:t> </a:t>
            </a:r>
            <a:r>
              <a:rPr lang="en-US" sz="1200" dirty="0">
                <a:solidFill>
                  <a:srgbClr val="000088"/>
                </a:solidFill>
                <a:latin typeface="JetBrains Mono"/>
              </a:rPr>
              <a:t>BY</a:t>
            </a:r>
            <a:r>
              <a:rPr lang="en-US" sz="1200" dirty="0">
                <a:solidFill>
                  <a:srgbClr val="000000"/>
                </a:solidFill>
                <a:latin typeface="JetBrains Mono"/>
              </a:rPr>
              <a:t> author</a:t>
            </a:r>
            <a:r>
              <a:rPr lang="en-US" sz="1200" dirty="0" smtClean="0">
                <a:solidFill>
                  <a:srgbClr val="000000"/>
                </a:solidFill>
                <a:latin typeface="JetBrains Mono"/>
              </a:rPr>
              <a:t>;</a:t>
            </a:r>
            <a:endParaRPr lang="ru-RU" sz="1200" dirty="0" smtClean="0">
              <a:solidFill>
                <a:srgbClr val="000000"/>
              </a:solidFill>
              <a:latin typeface="JetBrains Mono"/>
            </a:endParaRPr>
          </a:p>
          <a:p>
            <a:pPr marL="0" indent="0">
              <a:buNone/>
            </a:pPr>
            <a:endParaRPr lang="ru-RU" sz="1200" dirty="0">
              <a:solidFill>
                <a:srgbClr val="000000"/>
              </a:solidFill>
              <a:latin typeface="JetBrains Mono"/>
            </a:endParaRPr>
          </a:p>
          <a:p>
            <a:pPr marL="0" indent="0">
              <a:buNone/>
            </a:pPr>
            <a:endParaRPr lang="en-US" sz="1200" dirty="0" smtClean="0"/>
          </a:p>
          <a:p>
            <a:pPr marL="0" indent="0">
              <a:buNone/>
            </a:pPr>
            <a:endParaRPr lang="ru-RU" sz="1200" dirty="0" smtClean="0"/>
          </a:p>
          <a:p>
            <a:pPr marL="0" indent="0">
              <a:buNone/>
            </a:pPr>
            <a:endParaRPr lang="ru-RU" sz="1200" dirty="0"/>
          </a:p>
          <a:p>
            <a:pPr marL="0" indent="0">
              <a:buNone/>
            </a:pPr>
            <a:endParaRPr lang="ru-RU" sz="1200" dirty="0" smtClean="0"/>
          </a:p>
          <a:p>
            <a:pPr marL="0" indent="0">
              <a:buNone/>
            </a:pPr>
            <a:endParaRPr lang="ru-RU" sz="1200" dirty="0"/>
          </a:p>
          <a:p>
            <a:pPr marL="0" indent="0">
              <a:buNone/>
            </a:pPr>
            <a:endParaRPr lang="ru-RU" sz="1200" dirty="0" smtClean="0"/>
          </a:p>
          <a:p>
            <a:pPr marL="0" indent="0">
              <a:buNone/>
            </a:pPr>
            <a:endParaRPr lang="en-US" sz="1200" dirty="0"/>
          </a:p>
          <a:p>
            <a:pPr marL="0" indent="0">
              <a:buNone/>
            </a:pPr>
            <a:r>
              <a:rPr lang="en-US" sz="1200" b="1" dirty="0">
                <a:solidFill>
                  <a:srgbClr val="0F1115"/>
                </a:solidFill>
                <a:latin typeface="quote-cjk-patch"/>
              </a:rPr>
              <a:t>1. Rows with identical values in the author column are identified in the book table:</a:t>
            </a:r>
            <a:endParaRPr lang="en-US" sz="1200" dirty="0">
              <a:solidFill>
                <a:srgbClr val="0F1115"/>
              </a:solidFill>
              <a:latin typeface="quote-cjk-patch"/>
            </a:endParaRPr>
          </a:p>
          <a:p>
            <a:pPr marL="0" indent="0">
              <a:buNone/>
            </a:pPr>
            <a:r>
              <a:rPr lang="en-US" sz="1200" dirty="0">
                <a:solidFill>
                  <a:srgbClr val="0F1115"/>
                </a:solidFill>
                <a:latin typeface="quote-cjk-patch"/>
              </a:rPr>
              <a:t>Three distinct groups are formed:</a:t>
            </a:r>
          </a:p>
          <a:p>
            <a:pPr marL="0" indent="0">
              <a:buNone/>
            </a:pPr>
            <a:r>
              <a:rPr lang="en-US" sz="1200" b="1" dirty="0">
                <a:solidFill>
                  <a:srgbClr val="0F1115"/>
                </a:solidFill>
                <a:latin typeface="quote-cjk-patch"/>
              </a:rPr>
              <a:t>Group I</a:t>
            </a:r>
            <a:r>
              <a:rPr lang="en-US" sz="1200" dirty="0">
                <a:solidFill>
                  <a:srgbClr val="0F1115"/>
                </a:solidFill>
                <a:latin typeface="quote-cjk-patch"/>
              </a:rPr>
              <a:t> combines two entries with the value </a:t>
            </a:r>
            <a:r>
              <a:rPr lang="en-US" sz="1200" dirty="0" err="1">
                <a:solidFill>
                  <a:srgbClr val="0F1115"/>
                </a:solidFill>
                <a:latin typeface="quote-cjk-patch"/>
              </a:rPr>
              <a:t>Булгаков</a:t>
            </a:r>
            <a:r>
              <a:rPr lang="en-US" sz="1200" dirty="0">
                <a:solidFill>
                  <a:srgbClr val="0F1115"/>
                </a:solidFill>
                <a:latin typeface="quote-cjk-patch"/>
              </a:rPr>
              <a:t> М.А. in the author column.</a:t>
            </a:r>
          </a:p>
          <a:p>
            <a:pPr marL="0" indent="0">
              <a:buNone/>
            </a:pPr>
            <a:r>
              <a:rPr lang="en-US" sz="1200" b="1" dirty="0">
                <a:solidFill>
                  <a:srgbClr val="0F1115"/>
                </a:solidFill>
                <a:latin typeface="quote-cjk-patch"/>
              </a:rPr>
              <a:t>Group II</a:t>
            </a:r>
            <a:r>
              <a:rPr lang="en-US" sz="1200" dirty="0">
                <a:solidFill>
                  <a:srgbClr val="0F1115"/>
                </a:solidFill>
                <a:latin typeface="quote-cjk-patch"/>
              </a:rPr>
              <a:t> combines three entries with the value </a:t>
            </a:r>
            <a:r>
              <a:rPr lang="en-US" sz="1200" dirty="0" err="1">
                <a:solidFill>
                  <a:srgbClr val="0F1115"/>
                </a:solidFill>
                <a:latin typeface="quote-cjk-patch"/>
              </a:rPr>
              <a:t>Достоевский</a:t>
            </a:r>
            <a:r>
              <a:rPr lang="en-US" sz="1200" dirty="0">
                <a:solidFill>
                  <a:srgbClr val="0F1115"/>
                </a:solidFill>
                <a:latin typeface="quote-cjk-patch"/>
              </a:rPr>
              <a:t> Ф.М. in the author column.</a:t>
            </a:r>
          </a:p>
          <a:p>
            <a:pPr marL="0" indent="0">
              <a:buNone/>
            </a:pPr>
            <a:r>
              <a:rPr lang="en-US" sz="1200" b="1" dirty="0">
                <a:solidFill>
                  <a:srgbClr val="0F1115"/>
                </a:solidFill>
                <a:latin typeface="quote-cjk-patch"/>
              </a:rPr>
              <a:t>Group III</a:t>
            </a:r>
            <a:r>
              <a:rPr lang="en-US" sz="1200" dirty="0">
                <a:solidFill>
                  <a:srgbClr val="0F1115"/>
                </a:solidFill>
                <a:latin typeface="quote-cjk-patch"/>
              </a:rPr>
              <a:t> combines one entry with the value </a:t>
            </a:r>
            <a:r>
              <a:rPr lang="en-US" sz="1200" dirty="0" err="1">
                <a:solidFill>
                  <a:srgbClr val="0F1115"/>
                </a:solidFill>
                <a:latin typeface="quote-cjk-patch"/>
              </a:rPr>
              <a:t>Есенин</a:t>
            </a:r>
            <a:r>
              <a:rPr lang="en-US" sz="1200" dirty="0">
                <a:solidFill>
                  <a:srgbClr val="0F1115"/>
                </a:solidFill>
                <a:latin typeface="quote-cjk-patch"/>
              </a:rPr>
              <a:t> С.А. in the author column.</a:t>
            </a:r>
          </a:p>
          <a:p>
            <a:pPr marL="0" indent="0">
              <a:buNone/>
            </a:pPr>
            <a:endParaRPr lang="ru-RU" sz="1400" dirty="0"/>
          </a:p>
          <a:p>
            <a:pPr marL="0" indent="0">
              <a:buNone/>
            </a:pPr>
            <a:endParaRPr lang="ru-RU" sz="1400" dirty="0" smtClean="0"/>
          </a:p>
          <a:p>
            <a:pPr marL="0" indent="0">
              <a:buNone/>
            </a:pPr>
            <a:endParaRPr lang="ru-RU" sz="1400" dirty="0" smtClean="0"/>
          </a:p>
          <a:p>
            <a:pPr marL="0" indent="0">
              <a:buNone/>
            </a:pPr>
            <a:endParaRPr lang="ru-RU" sz="1400"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2" y="1779662"/>
            <a:ext cx="3741351" cy="15121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7664886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0"/>
            <a:ext cx="8229600" cy="349548"/>
          </a:xfrm>
        </p:spPr>
        <p:txBody>
          <a:bodyPr>
            <a:noAutofit/>
          </a:bodyPr>
          <a:lstStyle/>
          <a:p>
            <a:r>
              <a:rPr lang="en-US" sz="2800" b="1" dirty="0"/>
              <a:t>Data Retrieval, Aggregate Functions SUM and COUNT</a:t>
            </a:r>
            <a:endParaRPr lang="en-US" sz="2800" dirty="0"/>
          </a:p>
        </p:txBody>
      </p:sp>
      <p:sp>
        <p:nvSpPr>
          <p:cNvPr id="3" name="Объект 2"/>
          <p:cNvSpPr>
            <a:spLocks noGrp="1"/>
          </p:cNvSpPr>
          <p:nvPr>
            <p:ph idx="1"/>
          </p:nvPr>
        </p:nvSpPr>
        <p:spPr>
          <a:xfrm>
            <a:off x="323528" y="483518"/>
            <a:ext cx="8229600" cy="4392488"/>
          </a:xfrm>
        </p:spPr>
        <p:txBody>
          <a:bodyPr>
            <a:normAutofit/>
          </a:bodyPr>
          <a:lstStyle/>
          <a:p>
            <a:pPr marL="0" indent="0">
              <a:buNone/>
            </a:pPr>
            <a:r>
              <a:rPr lang="en-US" sz="1400" dirty="0"/>
              <a:t>2. Instead of each group, a single record is included in the result set. This record includes at least the value of the column used for grouping (in our case, author</a:t>
            </a:r>
            <a:r>
              <a:rPr lang="en-US" sz="1400" dirty="0" smtClean="0"/>
              <a:t>):</a:t>
            </a:r>
            <a:endParaRPr lang="ru-RU" sz="1400" dirty="0" smtClean="0"/>
          </a:p>
          <a:p>
            <a:pPr marL="0" indent="0">
              <a:buNone/>
            </a:pPr>
            <a:endParaRPr lang="ru-RU" sz="1400" dirty="0" smtClean="0"/>
          </a:p>
          <a:p>
            <a:pPr marL="0" indent="0">
              <a:buNone/>
            </a:pPr>
            <a:endParaRPr lang="ru-RU" sz="1400" dirty="0"/>
          </a:p>
          <a:p>
            <a:pPr marL="0" indent="0">
              <a:buNone/>
            </a:pPr>
            <a:endParaRPr lang="ru-RU" sz="1400" dirty="0"/>
          </a:p>
          <a:p>
            <a:pPr marL="0" indent="0">
              <a:buNone/>
            </a:pPr>
            <a:endParaRPr lang="ru-RU" sz="1400" dirty="0" smtClean="0"/>
          </a:p>
          <a:p>
            <a:pPr marL="0" indent="0">
              <a:buNone/>
            </a:pPr>
            <a:endParaRPr lang="en-US" sz="1400" dirty="0"/>
          </a:p>
          <a:p>
            <a:pPr marL="0" indent="0">
              <a:buNone/>
            </a:pPr>
            <a:r>
              <a:rPr lang="en-US" sz="1400" dirty="0"/>
              <a:t>3. Next, calculations can be performed on the elements of EACH group individually, for example, calculating the total number of book copies for each author. For this, the aggregate function SUM() is used, and the column to be summed is specified in parentheses (in our case, amount):</a:t>
            </a:r>
          </a:p>
          <a:p>
            <a:pPr marL="0" indent="0">
              <a:buNone/>
            </a:pPr>
            <a:endParaRPr lang="ru-RU" sz="1400" dirty="0"/>
          </a:p>
        </p:txBody>
      </p:sp>
      <p:pic>
        <p:nvPicPr>
          <p:cNvPr id="3076"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15616" y="976314"/>
            <a:ext cx="3704853" cy="13579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608" y="3147814"/>
            <a:ext cx="5093251" cy="14748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2739389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0"/>
            <a:ext cx="8229600" cy="349548"/>
          </a:xfrm>
        </p:spPr>
        <p:txBody>
          <a:bodyPr>
            <a:noAutofit/>
          </a:bodyPr>
          <a:lstStyle/>
          <a:p>
            <a:r>
              <a:rPr lang="en-US" sz="2800" b="1" dirty="0"/>
              <a:t>Data Retrieval, Aggregate Functions SUM and COUNT</a:t>
            </a:r>
            <a:endParaRPr lang="en-US" sz="2800" dirty="0"/>
          </a:p>
        </p:txBody>
      </p:sp>
      <p:sp>
        <p:nvSpPr>
          <p:cNvPr id="3" name="Объект 2"/>
          <p:cNvSpPr>
            <a:spLocks noGrp="1"/>
          </p:cNvSpPr>
          <p:nvPr>
            <p:ph idx="1"/>
          </p:nvPr>
        </p:nvSpPr>
        <p:spPr>
          <a:xfrm>
            <a:off x="323528" y="483518"/>
            <a:ext cx="8229600" cy="4392488"/>
          </a:xfrm>
        </p:spPr>
        <p:txBody>
          <a:bodyPr>
            <a:normAutofit/>
          </a:bodyPr>
          <a:lstStyle/>
          <a:p>
            <a:pPr marL="0" indent="0">
              <a:buNone/>
            </a:pPr>
            <a:r>
              <a:rPr lang="en-US" sz="1400" dirty="0"/>
              <a:t>You can also count how many records belong to a group. For this, the COUNT() function is used. You can specify ANY column from the group in parentheses, provided the group contains no empty values (an example is provided below showing how COUNT() works if there are empty values in the group):</a:t>
            </a:r>
          </a:p>
          <a:p>
            <a:pPr marL="0" indent="0">
              <a:buNone/>
            </a:pPr>
            <a:endParaRPr lang="ru-RU" sz="1400" dirty="0" smtClean="0"/>
          </a:p>
          <a:p>
            <a:pPr marL="0" indent="0">
              <a:buNone/>
            </a:pPr>
            <a:endParaRPr lang="ru-RU" sz="1400" dirty="0" smtClean="0"/>
          </a:p>
          <a:p>
            <a:pPr marL="0" indent="0">
              <a:buNone/>
            </a:pPr>
            <a:endParaRPr lang="ru-RU" sz="1400" dirty="0"/>
          </a:p>
          <a:p>
            <a:pPr marL="0" indent="0">
              <a:buNone/>
            </a:pPr>
            <a:endParaRPr lang="ru-RU" sz="1400" dirty="0" smtClean="0"/>
          </a:p>
          <a:p>
            <a:pPr marL="0" indent="0">
              <a:buNone/>
            </a:pPr>
            <a:endParaRPr lang="ru-RU" sz="1400" dirty="0"/>
          </a:p>
          <a:p>
            <a:pPr marL="0" indent="0">
              <a:buNone/>
            </a:pPr>
            <a:endParaRPr lang="en-US" sz="1400" dirty="0"/>
          </a:p>
          <a:p>
            <a:pPr marL="0" indent="0">
              <a:buNone/>
            </a:pPr>
            <a:r>
              <a:rPr lang="en-US" sz="1400" b="1" dirty="0" smtClean="0"/>
              <a:t>Example</a:t>
            </a:r>
            <a:endParaRPr lang="ru-RU" sz="1400" b="1" dirty="0" smtClean="0"/>
          </a:p>
          <a:p>
            <a:pPr marL="0" indent="0">
              <a:buNone/>
            </a:pPr>
            <a:r>
              <a:rPr lang="en-US" sz="1400" dirty="0"/>
              <a:t>Calculate how many copies of books by each author are stored in the warehouse.</a:t>
            </a:r>
            <a:endParaRPr lang="ru-RU" sz="1400" dirty="0"/>
          </a:p>
          <a:p>
            <a:pPr marL="0" indent="0">
              <a:buNone/>
            </a:pPr>
            <a:endParaRPr lang="en-US" sz="1400" b="1" dirty="0"/>
          </a:p>
          <a:p>
            <a:pPr marL="0" indent="0">
              <a:buNone/>
            </a:pPr>
            <a:r>
              <a:rPr lang="en-US" sz="1200" dirty="0">
                <a:solidFill>
                  <a:srgbClr val="000088"/>
                </a:solidFill>
                <a:latin typeface="JetBrains Mono"/>
              </a:rPr>
              <a:t>SELECT</a:t>
            </a:r>
            <a:r>
              <a:rPr lang="en-US" sz="1200" dirty="0">
                <a:solidFill>
                  <a:srgbClr val="000000"/>
                </a:solidFill>
                <a:latin typeface="JetBrains Mono"/>
              </a:rPr>
              <a:t> author, </a:t>
            </a:r>
            <a:r>
              <a:rPr lang="en-US" sz="1200" dirty="0">
                <a:solidFill>
                  <a:srgbClr val="660066"/>
                </a:solidFill>
                <a:latin typeface="JetBrains Mono"/>
              </a:rPr>
              <a:t>SUM</a:t>
            </a:r>
            <a:r>
              <a:rPr lang="en-US" sz="1200" dirty="0">
                <a:solidFill>
                  <a:srgbClr val="000000"/>
                </a:solidFill>
                <a:latin typeface="JetBrains Mono"/>
              </a:rPr>
              <a:t>(amount) </a:t>
            </a:r>
            <a:r>
              <a:rPr lang="en-US" sz="1200" dirty="0">
                <a:solidFill>
                  <a:srgbClr val="000088"/>
                </a:solidFill>
                <a:latin typeface="JetBrains Mono"/>
              </a:rPr>
              <a:t>FROM</a:t>
            </a:r>
            <a:r>
              <a:rPr lang="en-US" sz="1200" dirty="0">
                <a:solidFill>
                  <a:srgbClr val="000000"/>
                </a:solidFill>
                <a:latin typeface="JetBrains Mono"/>
              </a:rPr>
              <a:t> book </a:t>
            </a:r>
            <a:r>
              <a:rPr lang="en-US" sz="1200" dirty="0">
                <a:solidFill>
                  <a:srgbClr val="000088"/>
                </a:solidFill>
                <a:latin typeface="JetBrains Mono"/>
              </a:rPr>
              <a:t>GROUP</a:t>
            </a:r>
            <a:r>
              <a:rPr lang="en-US" sz="1200" dirty="0">
                <a:solidFill>
                  <a:srgbClr val="000000"/>
                </a:solidFill>
                <a:latin typeface="JetBrains Mono"/>
              </a:rPr>
              <a:t> </a:t>
            </a:r>
            <a:r>
              <a:rPr lang="en-US" sz="1200" dirty="0">
                <a:solidFill>
                  <a:srgbClr val="000088"/>
                </a:solidFill>
                <a:latin typeface="JetBrains Mono"/>
              </a:rPr>
              <a:t>BY</a:t>
            </a:r>
            <a:r>
              <a:rPr lang="en-US" sz="1200" dirty="0">
                <a:solidFill>
                  <a:srgbClr val="000000"/>
                </a:solidFill>
                <a:latin typeface="JetBrains Mono"/>
              </a:rPr>
              <a:t> author</a:t>
            </a:r>
            <a:r>
              <a:rPr lang="en-US" sz="1200" dirty="0" smtClean="0">
                <a:solidFill>
                  <a:srgbClr val="000000"/>
                </a:solidFill>
                <a:latin typeface="JetBrains Mono"/>
              </a:rPr>
              <a:t>;</a:t>
            </a:r>
            <a:endParaRPr lang="ru-RU" sz="1200" dirty="0" smtClean="0">
              <a:solidFill>
                <a:srgbClr val="000000"/>
              </a:solidFill>
              <a:latin typeface="JetBrains Mono"/>
            </a:endParaRPr>
          </a:p>
          <a:p>
            <a:pPr marL="0" indent="0">
              <a:buNone/>
            </a:pPr>
            <a:endParaRPr lang="ru-RU" sz="1200" dirty="0">
              <a:solidFill>
                <a:srgbClr val="000000"/>
              </a:solidFill>
              <a:latin typeface="JetBrains Mono"/>
            </a:endParaRPr>
          </a:p>
          <a:p>
            <a:pPr marL="0" indent="0">
              <a:buNone/>
            </a:pPr>
            <a:endParaRPr lang="en-US" sz="1200" dirty="0"/>
          </a:p>
        </p:txBody>
      </p:sp>
      <p:sp>
        <p:nvSpPr>
          <p:cNvPr id="4" name="AutoShape 2" descr="https://ucarecdn.com/708aa6d7-f879-41b4-8030-103e4b43754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1275606"/>
            <a:ext cx="5093294" cy="14748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9752" y="3795886"/>
            <a:ext cx="2867025" cy="1181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7070523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51520" y="-6229"/>
            <a:ext cx="8496944" cy="349548"/>
          </a:xfrm>
        </p:spPr>
        <p:txBody>
          <a:bodyPr>
            <a:noAutofit/>
          </a:bodyPr>
          <a:lstStyle/>
          <a:p>
            <a:r>
              <a:rPr lang="en-US" sz="2800" b="1" dirty="0"/>
              <a:t>Data Retrieval, Aggregate Functions MIN, MAX and AVG</a:t>
            </a:r>
            <a:endParaRPr lang="en-US" sz="2800" dirty="0"/>
          </a:p>
        </p:txBody>
      </p:sp>
      <p:sp>
        <p:nvSpPr>
          <p:cNvPr id="3" name="Объект 2"/>
          <p:cNvSpPr>
            <a:spLocks noGrp="1"/>
          </p:cNvSpPr>
          <p:nvPr>
            <p:ph idx="1"/>
          </p:nvPr>
        </p:nvSpPr>
        <p:spPr>
          <a:xfrm>
            <a:off x="323528" y="483518"/>
            <a:ext cx="8229600" cy="2880320"/>
          </a:xfrm>
        </p:spPr>
        <p:txBody>
          <a:bodyPr>
            <a:normAutofit/>
          </a:bodyPr>
          <a:lstStyle/>
          <a:p>
            <a:pPr marL="0" indent="0">
              <a:buNone/>
            </a:pPr>
            <a:r>
              <a:rPr lang="en-US" sz="1200" dirty="0">
                <a:solidFill>
                  <a:srgbClr val="0F1115"/>
                </a:solidFill>
                <a:latin typeface="quote-cjk-patch"/>
              </a:rPr>
              <a:t>SQL aggregate functions include: </a:t>
            </a:r>
            <a:r>
              <a:rPr lang="en-US" sz="1200" b="1" dirty="0">
                <a:solidFill>
                  <a:srgbClr val="0F1115"/>
                </a:solidFill>
                <a:latin typeface="quote-cjk-patch"/>
              </a:rPr>
              <a:t>MIN()</a:t>
            </a:r>
            <a:r>
              <a:rPr lang="en-US" sz="1200" dirty="0">
                <a:solidFill>
                  <a:srgbClr val="0F1115"/>
                </a:solidFill>
                <a:latin typeface="quote-cjk-patch"/>
              </a:rPr>
              <a:t>, </a:t>
            </a:r>
            <a:r>
              <a:rPr lang="en-US" sz="1200" b="1" dirty="0">
                <a:solidFill>
                  <a:srgbClr val="0F1115"/>
                </a:solidFill>
                <a:latin typeface="quote-cjk-patch"/>
              </a:rPr>
              <a:t>MAX()</a:t>
            </a:r>
            <a:r>
              <a:rPr lang="en-US" sz="1200" dirty="0">
                <a:solidFill>
                  <a:srgbClr val="0F1115"/>
                </a:solidFill>
                <a:latin typeface="quote-cjk-patch"/>
              </a:rPr>
              <a:t> and </a:t>
            </a:r>
            <a:r>
              <a:rPr lang="en-US" sz="1200" b="1" dirty="0">
                <a:solidFill>
                  <a:srgbClr val="0F1115"/>
                </a:solidFill>
                <a:latin typeface="quote-cjk-patch"/>
              </a:rPr>
              <a:t>AVG()</a:t>
            </a:r>
            <a:r>
              <a:rPr lang="en-US" sz="1200" dirty="0">
                <a:solidFill>
                  <a:srgbClr val="0F1115"/>
                </a:solidFill>
                <a:latin typeface="quote-cjk-patch"/>
              </a:rPr>
              <a:t>, which calculate the minimum, maximum, and average values of the column elements belonging to a group</a:t>
            </a:r>
            <a:r>
              <a:rPr lang="en-US" sz="1200" dirty="0" smtClean="0">
                <a:solidFill>
                  <a:srgbClr val="0F1115"/>
                </a:solidFill>
                <a:latin typeface="quote-cjk-patch"/>
              </a:rPr>
              <a:t>.</a:t>
            </a:r>
            <a:endParaRPr lang="ru-RU" sz="1200" dirty="0" smtClean="0">
              <a:solidFill>
                <a:srgbClr val="0F1115"/>
              </a:solidFill>
              <a:latin typeface="quote-cjk-patch"/>
            </a:endParaRPr>
          </a:p>
          <a:p>
            <a:pPr marL="0" indent="0">
              <a:buNone/>
            </a:pPr>
            <a:endParaRPr lang="en-US" sz="1200" dirty="0">
              <a:solidFill>
                <a:srgbClr val="0F1115"/>
              </a:solidFill>
              <a:latin typeface="quote-cjk-patch"/>
            </a:endParaRPr>
          </a:p>
          <a:p>
            <a:pPr marL="0" indent="0">
              <a:buNone/>
            </a:pPr>
            <a:r>
              <a:rPr lang="en-US" sz="1200" b="1" dirty="0" smtClean="0">
                <a:solidFill>
                  <a:srgbClr val="0F1115"/>
                </a:solidFill>
                <a:latin typeface="quote-cjk-patch"/>
              </a:rPr>
              <a:t>Example</a:t>
            </a:r>
            <a:endParaRPr lang="en-US" sz="1200" dirty="0">
              <a:solidFill>
                <a:srgbClr val="0F1115"/>
              </a:solidFill>
              <a:latin typeface="quote-cjk-patch"/>
            </a:endParaRPr>
          </a:p>
          <a:p>
            <a:pPr marL="0" indent="0">
              <a:buNone/>
            </a:pPr>
            <a:r>
              <a:rPr lang="en-US" sz="1200" dirty="0">
                <a:solidFill>
                  <a:srgbClr val="0F1115"/>
                </a:solidFill>
                <a:latin typeface="quote-cjk-patch"/>
              </a:rPr>
              <a:t>Display the minimum price for each author's books</a:t>
            </a:r>
            <a:r>
              <a:rPr lang="en-US" sz="1200" dirty="0" smtClean="0">
                <a:solidFill>
                  <a:srgbClr val="0F1115"/>
                </a:solidFill>
                <a:latin typeface="quote-cjk-patch"/>
              </a:rPr>
              <a:t>.</a:t>
            </a:r>
            <a:endParaRPr lang="ru-RU" sz="1200" dirty="0" smtClean="0">
              <a:solidFill>
                <a:srgbClr val="0F1115"/>
              </a:solidFill>
              <a:latin typeface="quote-cjk-patch"/>
            </a:endParaRPr>
          </a:p>
          <a:p>
            <a:pPr marL="0" indent="0">
              <a:buNone/>
            </a:pPr>
            <a:endParaRPr lang="ru-RU" sz="1200" dirty="0" smtClean="0">
              <a:solidFill>
                <a:srgbClr val="0F1115"/>
              </a:solidFill>
              <a:latin typeface="quote-cjk-patch"/>
            </a:endParaRPr>
          </a:p>
          <a:p>
            <a:pPr marL="0" indent="0">
              <a:buNone/>
            </a:pPr>
            <a:r>
              <a:rPr lang="en-US" sz="1200" dirty="0">
                <a:solidFill>
                  <a:srgbClr val="000088"/>
                </a:solidFill>
                <a:latin typeface="JetBrains Mono"/>
              </a:rPr>
              <a:t>SELECT</a:t>
            </a:r>
            <a:r>
              <a:rPr lang="en-US" sz="1200" dirty="0">
                <a:solidFill>
                  <a:srgbClr val="000000"/>
                </a:solidFill>
                <a:latin typeface="JetBrains Mono"/>
              </a:rPr>
              <a:t> author, </a:t>
            </a:r>
            <a:r>
              <a:rPr lang="en-US" sz="1200" dirty="0">
                <a:solidFill>
                  <a:srgbClr val="660066"/>
                </a:solidFill>
                <a:latin typeface="JetBrains Mono"/>
              </a:rPr>
              <a:t>MIN</a:t>
            </a:r>
            <a:r>
              <a:rPr lang="en-US" sz="1200" dirty="0">
                <a:solidFill>
                  <a:srgbClr val="000000"/>
                </a:solidFill>
                <a:latin typeface="JetBrains Mono"/>
              </a:rPr>
              <a:t>(price) </a:t>
            </a:r>
            <a:r>
              <a:rPr lang="en-US" sz="1200" dirty="0">
                <a:solidFill>
                  <a:srgbClr val="000088"/>
                </a:solidFill>
                <a:latin typeface="JetBrains Mono"/>
              </a:rPr>
              <a:t>AS</a:t>
            </a:r>
            <a:r>
              <a:rPr lang="en-US" sz="1200" dirty="0">
                <a:solidFill>
                  <a:srgbClr val="000000"/>
                </a:solidFill>
                <a:latin typeface="JetBrains Mono"/>
              </a:rPr>
              <a:t> </a:t>
            </a:r>
            <a:r>
              <a:rPr lang="en-US" sz="1200" dirty="0" err="1">
                <a:solidFill>
                  <a:srgbClr val="000000"/>
                </a:solidFill>
                <a:latin typeface="JetBrains Mono"/>
              </a:rPr>
              <a:t>min_price</a:t>
            </a:r>
            <a:r>
              <a:rPr lang="en-US" sz="1200" dirty="0">
                <a:solidFill>
                  <a:srgbClr val="000000"/>
                </a:solidFill>
                <a:latin typeface="JetBrains Mono"/>
              </a:rPr>
              <a:t> </a:t>
            </a:r>
            <a:r>
              <a:rPr lang="en-US" sz="1200" dirty="0">
                <a:solidFill>
                  <a:srgbClr val="000088"/>
                </a:solidFill>
                <a:latin typeface="JetBrains Mono"/>
              </a:rPr>
              <a:t>FROM</a:t>
            </a:r>
            <a:r>
              <a:rPr lang="en-US" sz="1200" dirty="0">
                <a:solidFill>
                  <a:srgbClr val="000000"/>
                </a:solidFill>
                <a:latin typeface="JetBrains Mono"/>
              </a:rPr>
              <a:t> book </a:t>
            </a:r>
            <a:r>
              <a:rPr lang="en-US" sz="1200" dirty="0">
                <a:solidFill>
                  <a:srgbClr val="000088"/>
                </a:solidFill>
                <a:latin typeface="JetBrains Mono"/>
              </a:rPr>
              <a:t>GROUP</a:t>
            </a:r>
            <a:r>
              <a:rPr lang="en-US" sz="1200" dirty="0">
                <a:solidFill>
                  <a:srgbClr val="000000"/>
                </a:solidFill>
                <a:latin typeface="JetBrains Mono"/>
              </a:rPr>
              <a:t> </a:t>
            </a:r>
            <a:r>
              <a:rPr lang="en-US" sz="1200" dirty="0">
                <a:solidFill>
                  <a:srgbClr val="000088"/>
                </a:solidFill>
                <a:latin typeface="JetBrains Mono"/>
              </a:rPr>
              <a:t>BY</a:t>
            </a:r>
            <a:r>
              <a:rPr lang="en-US" sz="1200" dirty="0">
                <a:solidFill>
                  <a:srgbClr val="000000"/>
                </a:solidFill>
                <a:latin typeface="JetBrains Mono"/>
              </a:rPr>
              <a:t> author;</a:t>
            </a:r>
            <a:endParaRPr lang="ru-RU" sz="1200" dirty="0">
              <a:solidFill>
                <a:srgbClr val="0F1115"/>
              </a:solidFill>
              <a:latin typeface="quote-cjk-patch"/>
            </a:endParaRPr>
          </a:p>
          <a:p>
            <a:pPr marL="0" indent="0">
              <a:buNone/>
            </a:pPr>
            <a:endParaRPr lang="en-US" sz="1200" dirty="0">
              <a:solidFill>
                <a:srgbClr val="0F1115"/>
              </a:solidFill>
              <a:latin typeface="quote-cjk-patch"/>
            </a:endParaRPr>
          </a:p>
          <a:p>
            <a:pPr marL="0" indent="0">
              <a:buNone/>
            </a:pPr>
            <a:endParaRPr lang="en-US" sz="1200" dirty="0"/>
          </a:p>
        </p:txBody>
      </p:sp>
      <p:sp>
        <p:nvSpPr>
          <p:cNvPr id="4" name="AutoShape 2" descr="https://ucarecdn.com/708aa6d7-f879-41b4-8030-103e4b43754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9792" y="2595744"/>
            <a:ext cx="2771775"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6703139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51520" y="-6229"/>
            <a:ext cx="8496944" cy="349548"/>
          </a:xfrm>
        </p:spPr>
        <p:txBody>
          <a:bodyPr>
            <a:noAutofit/>
          </a:bodyPr>
          <a:lstStyle/>
          <a:p>
            <a:r>
              <a:rPr lang="en-US" sz="2800" b="1" dirty="0"/>
              <a:t>Data Retrieval with Calculation, Aggregate Functions</a:t>
            </a:r>
            <a:endParaRPr lang="en-US" sz="2800" dirty="0"/>
          </a:p>
        </p:txBody>
      </p:sp>
      <p:sp>
        <p:nvSpPr>
          <p:cNvPr id="3" name="Объект 2"/>
          <p:cNvSpPr>
            <a:spLocks noGrp="1"/>
          </p:cNvSpPr>
          <p:nvPr>
            <p:ph idx="1"/>
          </p:nvPr>
        </p:nvSpPr>
        <p:spPr>
          <a:xfrm>
            <a:off x="323528" y="483518"/>
            <a:ext cx="8229600" cy="3528392"/>
          </a:xfrm>
        </p:spPr>
        <p:txBody>
          <a:bodyPr>
            <a:normAutofit fontScale="92500" lnSpcReduction="10000"/>
          </a:bodyPr>
          <a:lstStyle/>
          <a:p>
            <a:pPr marL="0" indent="0">
              <a:buNone/>
            </a:pPr>
            <a:r>
              <a:rPr lang="en-US" sz="1200" dirty="0" smtClean="0"/>
              <a:t>The </a:t>
            </a:r>
            <a:r>
              <a:rPr lang="en-US" sz="1200" dirty="0"/>
              <a:t>argument for SQL aggregate functions can be not only a column, but any valid SQL arithmetic expression</a:t>
            </a:r>
            <a:r>
              <a:rPr lang="en-US" sz="1200" dirty="0" smtClean="0"/>
              <a:t>.</a:t>
            </a:r>
            <a:endParaRPr lang="ru-RU" sz="1200" dirty="0" smtClean="0"/>
          </a:p>
          <a:p>
            <a:pPr marL="0" indent="0">
              <a:buNone/>
            </a:pPr>
            <a:r>
              <a:rPr lang="en-US" sz="1200" b="1" dirty="0" smtClean="0"/>
              <a:t>Example</a:t>
            </a:r>
            <a:endParaRPr lang="en-US" sz="1200" dirty="0"/>
          </a:p>
          <a:p>
            <a:pPr marL="0" indent="0">
              <a:buNone/>
            </a:pPr>
            <a:r>
              <a:rPr lang="en-US" sz="1200" dirty="0"/>
              <a:t>Display the total cost of books for each author</a:t>
            </a:r>
            <a:r>
              <a:rPr lang="en-US" sz="1200" dirty="0" smtClean="0"/>
              <a:t>.</a:t>
            </a:r>
            <a:endParaRPr lang="ru-RU" sz="1200" dirty="0" smtClean="0"/>
          </a:p>
          <a:p>
            <a:pPr marL="0" indent="0">
              <a:buNone/>
            </a:pPr>
            <a:r>
              <a:rPr lang="en-US" sz="1200" dirty="0">
                <a:solidFill>
                  <a:srgbClr val="000088"/>
                </a:solidFill>
                <a:latin typeface="JetBrains Mono"/>
              </a:rPr>
              <a:t>SELECT</a:t>
            </a:r>
            <a:r>
              <a:rPr lang="en-US" sz="1200" dirty="0">
                <a:solidFill>
                  <a:srgbClr val="000000"/>
                </a:solidFill>
                <a:latin typeface="JetBrains Mono"/>
              </a:rPr>
              <a:t> author, </a:t>
            </a:r>
            <a:r>
              <a:rPr lang="en-US" sz="1200" dirty="0">
                <a:solidFill>
                  <a:srgbClr val="660066"/>
                </a:solidFill>
                <a:latin typeface="JetBrains Mono"/>
              </a:rPr>
              <a:t>SUM</a:t>
            </a:r>
            <a:r>
              <a:rPr lang="en-US" sz="1200" dirty="0">
                <a:solidFill>
                  <a:srgbClr val="000000"/>
                </a:solidFill>
                <a:latin typeface="JetBrains Mono"/>
              </a:rPr>
              <a:t>(price * amount) </a:t>
            </a:r>
            <a:r>
              <a:rPr lang="en-US" sz="1200" dirty="0">
                <a:solidFill>
                  <a:srgbClr val="000088"/>
                </a:solidFill>
                <a:latin typeface="JetBrains Mono"/>
              </a:rPr>
              <a:t>AS</a:t>
            </a:r>
            <a:r>
              <a:rPr lang="en-US" sz="1200" dirty="0">
                <a:solidFill>
                  <a:srgbClr val="000000"/>
                </a:solidFill>
                <a:latin typeface="JetBrains Mono"/>
              </a:rPr>
              <a:t> </a:t>
            </a:r>
            <a:r>
              <a:rPr lang="en-US" sz="1200" dirty="0" err="1">
                <a:solidFill>
                  <a:srgbClr val="000000"/>
                </a:solidFill>
                <a:latin typeface="JetBrains Mono"/>
              </a:rPr>
              <a:t>Стоимость</a:t>
            </a:r>
            <a:r>
              <a:rPr lang="en-US" sz="1200" dirty="0">
                <a:solidFill>
                  <a:srgbClr val="000000"/>
                </a:solidFill>
                <a:latin typeface="JetBrains Mono"/>
              </a:rPr>
              <a:t> </a:t>
            </a:r>
            <a:endParaRPr lang="ru-RU" sz="1200" dirty="0" smtClean="0">
              <a:solidFill>
                <a:srgbClr val="000000"/>
              </a:solidFill>
              <a:latin typeface="JetBrains Mono"/>
            </a:endParaRPr>
          </a:p>
          <a:p>
            <a:pPr marL="0" indent="0">
              <a:buNone/>
            </a:pPr>
            <a:r>
              <a:rPr lang="en-US" sz="1200" dirty="0" smtClean="0">
                <a:solidFill>
                  <a:srgbClr val="000088"/>
                </a:solidFill>
                <a:latin typeface="JetBrains Mono"/>
              </a:rPr>
              <a:t>FROM</a:t>
            </a:r>
            <a:r>
              <a:rPr lang="en-US" sz="1200" dirty="0" smtClean="0">
                <a:solidFill>
                  <a:srgbClr val="000000"/>
                </a:solidFill>
                <a:latin typeface="JetBrains Mono"/>
              </a:rPr>
              <a:t> </a:t>
            </a:r>
            <a:r>
              <a:rPr lang="en-US" sz="1200" dirty="0">
                <a:solidFill>
                  <a:srgbClr val="000000"/>
                </a:solidFill>
                <a:latin typeface="JetBrains Mono"/>
              </a:rPr>
              <a:t>book </a:t>
            </a:r>
            <a:endParaRPr lang="ru-RU" sz="1200" dirty="0" smtClean="0">
              <a:solidFill>
                <a:srgbClr val="000000"/>
              </a:solidFill>
              <a:latin typeface="JetBrains Mono"/>
            </a:endParaRPr>
          </a:p>
          <a:p>
            <a:pPr marL="0" indent="0">
              <a:buNone/>
            </a:pPr>
            <a:r>
              <a:rPr lang="en-US" sz="1200" dirty="0" smtClean="0">
                <a:solidFill>
                  <a:srgbClr val="000088"/>
                </a:solidFill>
                <a:latin typeface="JetBrains Mono"/>
              </a:rPr>
              <a:t>GROUP</a:t>
            </a:r>
            <a:r>
              <a:rPr lang="en-US" sz="1200" dirty="0" smtClean="0">
                <a:solidFill>
                  <a:srgbClr val="000000"/>
                </a:solidFill>
                <a:latin typeface="JetBrains Mono"/>
              </a:rPr>
              <a:t> </a:t>
            </a:r>
            <a:r>
              <a:rPr lang="en-US" sz="1200" dirty="0">
                <a:solidFill>
                  <a:srgbClr val="000088"/>
                </a:solidFill>
                <a:latin typeface="JetBrains Mono"/>
              </a:rPr>
              <a:t>BY</a:t>
            </a:r>
            <a:r>
              <a:rPr lang="en-US" sz="1200" dirty="0">
                <a:solidFill>
                  <a:srgbClr val="000000"/>
                </a:solidFill>
                <a:latin typeface="JetBrains Mono"/>
              </a:rPr>
              <a:t> author</a:t>
            </a:r>
            <a:r>
              <a:rPr lang="en-US" sz="1200" dirty="0" smtClean="0">
                <a:solidFill>
                  <a:srgbClr val="000000"/>
                </a:solidFill>
                <a:latin typeface="JetBrains Mono"/>
              </a:rPr>
              <a:t>;</a:t>
            </a:r>
            <a:endParaRPr lang="ru-RU" sz="1200" dirty="0" smtClean="0">
              <a:solidFill>
                <a:srgbClr val="000000"/>
              </a:solidFill>
              <a:latin typeface="JetBrains Mono"/>
            </a:endParaRPr>
          </a:p>
          <a:p>
            <a:pPr marL="0" indent="0">
              <a:buNone/>
            </a:pPr>
            <a:endParaRPr lang="ru-RU" sz="1200" dirty="0">
              <a:solidFill>
                <a:srgbClr val="000000"/>
              </a:solidFill>
              <a:latin typeface="JetBrains Mono"/>
            </a:endParaRPr>
          </a:p>
          <a:p>
            <a:pPr marL="0" indent="0">
              <a:buNone/>
            </a:pPr>
            <a:endParaRPr lang="ru-RU" sz="1200" dirty="0" smtClean="0">
              <a:solidFill>
                <a:srgbClr val="000000"/>
              </a:solidFill>
              <a:latin typeface="JetBrains Mono"/>
            </a:endParaRPr>
          </a:p>
          <a:p>
            <a:pPr marL="0" indent="0">
              <a:buNone/>
            </a:pPr>
            <a:endParaRPr lang="ru-RU" sz="1200" dirty="0">
              <a:solidFill>
                <a:srgbClr val="000000"/>
              </a:solidFill>
              <a:latin typeface="JetBrains Mono"/>
            </a:endParaRPr>
          </a:p>
          <a:p>
            <a:pPr marL="0" indent="0">
              <a:buNone/>
            </a:pPr>
            <a:endParaRPr lang="ru-RU" sz="1200" dirty="0" smtClean="0">
              <a:solidFill>
                <a:srgbClr val="000000"/>
              </a:solidFill>
              <a:latin typeface="JetBrains Mono"/>
            </a:endParaRPr>
          </a:p>
          <a:p>
            <a:pPr marL="0" indent="0">
              <a:buNone/>
            </a:pPr>
            <a:endParaRPr lang="ru-RU" sz="1200" dirty="0">
              <a:solidFill>
                <a:srgbClr val="000000"/>
              </a:solidFill>
              <a:latin typeface="JetBrains Mono"/>
            </a:endParaRPr>
          </a:p>
          <a:p>
            <a:pPr marL="0" indent="0">
              <a:buNone/>
            </a:pPr>
            <a:r>
              <a:rPr lang="en-US" sz="1200" b="1" dirty="0"/>
              <a:t>Aggregate functions can be part of expressions.</a:t>
            </a:r>
            <a:r>
              <a:rPr lang="en-US" sz="1200" dirty="0"/>
              <a:t> For example, when calculating the average cost of books for each author in the previous step, values with six decimal places were obtained. Since this represents money, the values need to be rounded to 2 decimal places.</a:t>
            </a:r>
          </a:p>
          <a:p>
            <a:pPr marL="0" indent="0">
              <a:buNone/>
            </a:pPr>
            <a:r>
              <a:rPr lang="en-US" sz="1200" b="1" dirty="0" smtClean="0"/>
              <a:t>Example</a:t>
            </a:r>
            <a:r>
              <a:rPr lang="ru-RU" sz="1200" b="1" dirty="0" smtClean="0"/>
              <a:t>2</a:t>
            </a:r>
            <a:endParaRPr lang="en-US" sz="1200" dirty="0"/>
          </a:p>
          <a:p>
            <a:pPr marL="0" indent="0">
              <a:buNone/>
            </a:pPr>
            <a:r>
              <a:rPr lang="en-US" sz="1200" dirty="0"/>
              <a:t>Find the average price of books for each author</a:t>
            </a:r>
            <a:r>
              <a:rPr lang="en-US" sz="1200" dirty="0" smtClean="0"/>
              <a:t>.</a:t>
            </a:r>
            <a:endParaRPr lang="ru-RU" sz="1200" dirty="0" smtClean="0"/>
          </a:p>
          <a:p>
            <a:pPr marL="0" indent="0">
              <a:buNone/>
            </a:pPr>
            <a:r>
              <a:rPr lang="en-US" sz="1200" dirty="0">
                <a:solidFill>
                  <a:srgbClr val="000088"/>
                </a:solidFill>
                <a:latin typeface="JetBrains Mono"/>
              </a:rPr>
              <a:t>SELECT</a:t>
            </a:r>
            <a:r>
              <a:rPr lang="en-US" sz="1200" dirty="0">
                <a:solidFill>
                  <a:srgbClr val="000000"/>
                </a:solidFill>
                <a:latin typeface="JetBrains Mono"/>
              </a:rPr>
              <a:t> author, ROUND(</a:t>
            </a:r>
            <a:r>
              <a:rPr lang="en-US" sz="1200" dirty="0">
                <a:solidFill>
                  <a:srgbClr val="660066"/>
                </a:solidFill>
                <a:latin typeface="JetBrains Mono"/>
              </a:rPr>
              <a:t>AVG</a:t>
            </a:r>
            <a:r>
              <a:rPr lang="en-US" sz="1200" dirty="0">
                <a:solidFill>
                  <a:srgbClr val="000000"/>
                </a:solidFill>
                <a:latin typeface="JetBrains Mono"/>
              </a:rPr>
              <a:t>(price),</a:t>
            </a:r>
            <a:r>
              <a:rPr lang="en-US" sz="1200" dirty="0">
                <a:solidFill>
                  <a:srgbClr val="006666"/>
                </a:solidFill>
                <a:latin typeface="JetBrains Mono"/>
              </a:rPr>
              <a:t>2</a:t>
            </a:r>
            <a:r>
              <a:rPr lang="en-US" sz="1200" dirty="0">
                <a:solidFill>
                  <a:srgbClr val="000000"/>
                </a:solidFill>
                <a:latin typeface="JetBrains Mono"/>
              </a:rPr>
              <a:t>) </a:t>
            </a:r>
            <a:r>
              <a:rPr lang="en-US" sz="1200" dirty="0">
                <a:solidFill>
                  <a:srgbClr val="000088"/>
                </a:solidFill>
                <a:latin typeface="JetBrains Mono"/>
              </a:rPr>
              <a:t>AS</a:t>
            </a:r>
            <a:r>
              <a:rPr lang="en-US" sz="1200" dirty="0">
                <a:solidFill>
                  <a:srgbClr val="000000"/>
                </a:solidFill>
                <a:latin typeface="JetBrains Mono"/>
              </a:rPr>
              <a:t> </a:t>
            </a:r>
            <a:r>
              <a:rPr lang="en-US" sz="1200" dirty="0" err="1">
                <a:solidFill>
                  <a:srgbClr val="000000"/>
                </a:solidFill>
                <a:latin typeface="JetBrains Mono"/>
              </a:rPr>
              <a:t>Средняя_цена</a:t>
            </a:r>
            <a:r>
              <a:rPr lang="en-US" sz="1200" dirty="0">
                <a:solidFill>
                  <a:srgbClr val="000000"/>
                </a:solidFill>
                <a:latin typeface="JetBrains Mono"/>
              </a:rPr>
              <a:t> </a:t>
            </a:r>
            <a:endParaRPr lang="ru-RU" sz="1200" dirty="0" smtClean="0">
              <a:solidFill>
                <a:srgbClr val="000000"/>
              </a:solidFill>
              <a:latin typeface="JetBrains Mono"/>
            </a:endParaRPr>
          </a:p>
          <a:p>
            <a:pPr marL="0" indent="0">
              <a:buNone/>
            </a:pPr>
            <a:r>
              <a:rPr lang="en-US" sz="1200" dirty="0" smtClean="0">
                <a:solidFill>
                  <a:srgbClr val="000088"/>
                </a:solidFill>
                <a:latin typeface="JetBrains Mono"/>
              </a:rPr>
              <a:t>FROM</a:t>
            </a:r>
            <a:r>
              <a:rPr lang="en-US" sz="1200" dirty="0" smtClean="0">
                <a:solidFill>
                  <a:srgbClr val="000000"/>
                </a:solidFill>
                <a:latin typeface="JetBrains Mono"/>
              </a:rPr>
              <a:t> </a:t>
            </a:r>
            <a:r>
              <a:rPr lang="en-US" sz="1200" dirty="0">
                <a:solidFill>
                  <a:srgbClr val="000000"/>
                </a:solidFill>
                <a:latin typeface="JetBrains Mono"/>
              </a:rPr>
              <a:t>book </a:t>
            </a:r>
            <a:endParaRPr lang="ru-RU" sz="1200" dirty="0" smtClean="0">
              <a:solidFill>
                <a:srgbClr val="000000"/>
              </a:solidFill>
              <a:latin typeface="JetBrains Mono"/>
            </a:endParaRPr>
          </a:p>
          <a:p>
            <a:pPr marL="0" indent="0">
              <a:buNone/>
            </a:pPr>
            <a:r>
              <a:rPr lang="en-US" sz="1200" dirty="0" smtClean="0">
                <a:solidFill>
                  <a:srgbClr val="000088"/>
                </a:solidFill>
                <a:latin typeface="JetBrains Mono"/>
              </a:rPr>
              <a:t>GROUP</a:t>
            </a:r>
            <a:r>
              <a:rPr lang="en-US" sz="1200" dirty="0" smtClean="0">
                <a:solidFill>
                  <a:srgbClr val="000000"/>
                </a:solidFill>
                <a:latin typeface="JetBrains Mono"/>
              </a:rPr>
              <a:t> </a:t>
            </a:r>
            <a:r>
              <a:rPr lang="en-US" sz="1200" dirty="0">
                <a:solidFill>
                  <a:srgbClr val="000088"/>
                </a:solidFill>
                <a:latin typeface="JetBrains Mono"/>
              </a:rPr>
              <a:t>BY</a:t>
            </a:r>
            <a:r>
              <a:rPr lang="en-US" sz="1200" dirty="0">
                <a:solidFill>
                  <a:srgbClr val="000000"/>
                </a:solidFill>
                <a:latin typeface="JetBrains Mono"/>
              </a:rPr>
              <a:t> author;</a:t>
            </a:r>
            <a:endParaRPr lang="en-US" sz="1200" dirty="0"/>
          </a:p>
          <a:p>
            <a:pPr marL="0" indent="0">
              <a:buNone/>
            </a:pPr>
            <a:endParaRPr lang="en-US" sz="1200" dirty="0"/>
          </a:p>
          <a:p>
            <a:pPr marL="0" indent="0">
              <a:buNone/>
            </a:pPr>
            <a:endParaRPr lang="en-US" sz="1200" dirty="0"/>
          </a:p>
        </p:txBody>
      </p:sp>
      <p:sp>
        <p:nvSpPr>
          <p:cNvPr id="4" name="AutoShape 2" descr="https://ucarecdn.com/708aa6d7-f879-41b4-8030-103e4b43754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1799" y="1491630"/>
            <a:ext cx="2048817" cy="888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50456" y="4011910"/>
            <a:ext cx="2448272" cy="99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9620277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51520" y="-6229"/>
            <a:ext cx="8496944" cy="349548"/>
          </a:xfrm>
        </p:spPr>
        <p:txBody>
          <a:bodyPr>
            <a:noAutofit/>
          </a:bodyPr>
          <a:lstStyle/>
          <a:p>
            <a:r>
              <a:rPr lang="en-US" sz="2800" b="1" dirty="0"/>
              <a:t>Calculations on the Entire Table</a:t>
            </a:r>
            <a:endParaRPr lang="en-US" sz="2800" dirty="0"/>
          </a:p>
        </p:txBody>
      </p:sp>
      <p:sp>
        <p:nvSpPr>
          <p:cNvPr id="3" name="Объект 2"/>
          <p:cNvSpPr>
            <a:spLocks noGrp="1"/>
          </p:cNvSpPr>
          <p:nvPr>
            <p:ph idx="1"/>
          </p:nvPr>
        </p:nvSpPr>
        <p:spPr>
          <a:xfrm>
            <a:off x="323528" y="483518"/>
            <a:ext cx="8229600" cy="3744416"/>
          </a:xfrm>
        </p:spPr>
        <p:txBody>
          <a:bodyPr>
            <a:normAutofit lnSpcReduction="10000"/>
          </a:bodyPr>
          <a:lstStyle/>
          <a:p>
            <a:pPr marL="0" indent="0">
              <a:buNone/>
            </a:pPr>
            <a:r>
              <a:rPr lang="en-US" sz="1200" dirty="0"/>
              <a:t>Aggregate functions allow you to calculate summary values for the entire table. For example, you can calculate the total number of books in the warehouse, compute the total cost, etc. To do this, the aggregate function for an expression or column name is specified after the SELECT keyword, and the GROUP BY clause is omitted</a:t>
            </a:r>
            <a:r>
              <a:rPr lang="en-US" sz="1200" dirty="0" smtClean="0"/>
              <a:t>.</a:t>
            </a:r>
            <a:endParaRPr lang="ru-RU" sz="1200" dirty="0" smtClean="0"/>
          </a:p>
          <a:p>
            <a:pPr marL="0" indent="0">
              <a:buNone/>
            </a:pPr>
            <a:endParaRPr lang="ru-RU" sz="1200" dirty="0"/>
          </a:p>
          <a:p>
            <a:pPr marL="0" indent="0">
              <a:buNone/>
            </a:pPr>
            <a:r>
              <a:rPr lang="en-US" sz="1200" b="1" dirty="0">
                <a:solidFill>
                  <a:srgbClr val="0F1115"/>
                </a:solidFill>
                <a:latin typeface="quote-cjk-patch"/>
              </a:rPr>
              <a:t>Example</a:t>
            </a:r>
            <a:endParaRPr lang="en-US" sz="1200" dirty="0">
              <a:solidFill>
                <a:srgbClr val="0F1115"/>
              </a:solidFill>
              <a:latin typeface="quote-cjk-patch"/>
            </a:endParaRPr>
          </a:p>
          <a:p>
            <a:pPr marL="0" indent="0">
              <a:buNone/>
            </a:pPr>
            <a:r>
              <a:rPr lang="en-US" sz="1200" dirty="0">
                <a:solidFill>
                  <a:srgbClr val="0F1115"/>
                </a:solidFill>
                <a:latin typeface="quote-cjk-patch"/>
              </a:rPr>
              <a:t>Calculate the total number of book copies in the warehouse.</a:t>
            </a:r>
          </a:p>
          <a:p>
            <a:pPr marL="0" indent="0">
              <a:buNone/>
            </a:pPr>
            <a:r>
              <a:rPr lang="en-US" sz="1200" dirty="0">
                <a:solidFill>
                  <a:srgbClr val="000088"/>
                </a:solidFill>
                <a:latin typeface="JetBrains Mono"/>
              </a:rPr>
              <a:t>SELECT</a:t>
            </a:r>
            <a:r>
              <a:rPr lang="en-US" sz="1200" dirty="0">
                <a:solidFill>
                  <a:srgbClr val="000000"/>
                </a:solidFill>
                <a:latin typeface="JetBrains Mono"/>
              </a:rPr>
              <a:t> </a:t>
            </a:r>
            <a:r>
              <a:rPr lang="en-US" sz="1200" dirty="0">
                <a:solidFill>
                  <a:srgbClr val="660066"/>
                </a:solidFill>
                <a:latin typeface="JetBrains Mono"/>
              </a:rPr>
              <a:t>SUM</a:t>
            </a:r>
            <a:r>
              <a:rPr lang="en-US" sz="1200" dirty="0">
                <a:solidFill>
                  <a:srgbClr val="000000"/>
                </a:solidFill>
                <a:latin typeface="JetBrains Mono"/>
              </a:rPr>
              <a:t>(amount) </a:t>
            </a:r>
            <a:r>
              <a:rPr lang="en-US" sz="1200" dirty="0">
                <a:solidFill>
                  <a:srgbClr val="000088"/>
                </a:solidFill>
                <a:latin typeface="JetBrains Mono"/>
              </a:rPr>
              <a:t>AS</a:t>
            </a:r>
            <a:r>
              <a:rPr lang="en-US" sz="1200" dirty="0">
                <a:solidFill>
                  <a:srgbClr val="000000"/>
                </a:solidFill>
                <a:latin typeface="JetBrains Mono"/>
              </a:rPr>
              <a:t> </a:t>
            </a:r>
            <a:r>
              <a:rPr lang="en-US" sz="1200" dirty="0" err="1">
                <a:solidFill>
                  <a:srgbClr val="000000"/>
                </a:solidFill>
                <a:latin typeface="JetBrains Mono"/>
              </a:rPr>
              <a:t>Количество</a:t>
            </a:r>
            <a:r>
              <a:rPr lang="en-US" sz="1200" dirty="0">
                <a:solidFill>
                  <a:srgbClr val="000000"/>
                </a:solidFill>
                <a:latin typeface="JetBrains Mono"/>
              </a:rPr>
              <a:t> </a:t>
            </a:r>
            <a:endParaRPr lang="ru-RU" sz="1200" dirty="0" smtClean="0">
              <a:solidFill>
                <a:srgbClr val="000000"/>
              </a:solidFill>
              <a:latin typeface="JetBrains Mono"/>
            </a:endParaRPr>
          </a:p>
          <a:p>
            <a:pPr marL="0" indent="0">
              <a:buNone/>
            </a:pPr>
            <a:r>
              <a:rPr lang="en-US" sz="1200" dirty="0" smtClean="0">
                <a:solidFill>
                  <a:srgbClr val="000088"/>
                </a:solidFill>
                <a:latin typeface="JetBrains Mono"/>
              </a:rPr>
              <a:t>FROM</a:t>
            </a:r>
            <a:r>
              <a:rPr lang="en-US" sz="1200" dirty="0" smtClean="0">
                <a:solidFill>
                  <a:srgbClr val="000000"/>
                </a:solidFill>
                <a:latin typeface="JetBrains Mono"/>
              </a:rPr>
              <a:t> </a:t>
            </a:r>
            <a:r>
              <a:rPr lang="en-US" sz="1200" dirty="0">
                <a:solidFill>
                  <a:srgbClr val="000000"/>
                </a:solidFill>
                <a:latin typeface="JetBrains Mono"/>
              </a:rPr>
              <a:t>book</a:t>
            </a:r>
            <a:r>
              <a:rPr lang="en-US" sz="1200" dirty="0" smtClean="0">
                <a:solidFill>
                  <a:srgbClr val="000000"/>
                </a:solidFill>
                <a:latin typeface="JetBrains Mono"/>
              </a:rPr>
              <a:t>;</a:t>
            </a:r>
            <a:endParaRPr lang="ru-RU" sz="1200" dirty="0" smtClean="0">
              <a:solidFill>
                <a:srgbClr val="000000"/>
              </a:solidFill>
              <a:latin typeface="JetBrains Mono"/>
            </a:endParaRPr>
          </a:p>
          <a:p>
            <a:pPr marL="0" indent="0">
              <a:buNone/>
            </a:pPr>
            <a:endParaRPr lang="ru-RU" sz="1200" dirty="0">
              <a:solidFill>
                <a:srgbClr val="000000"/>
              </a:solidFill>
              <a:latin typeface="JetBrains Mono"/>
            </a:endParaRPr>
          </a:p>
          <a:p>
            <a:pPr marL="0" indent="0">
              <a:buNone/>
            </a:pPr>
            <a:endParaRPr lang="ru-RU" sz="1200" dirty="0" smtClean="0">
              <a:solidFill>
                <a:srgbClr val="000000"/>
              </a:solidFill>
              <a:latin typeface="JetBrains Mono"/>
            </a:endParaRPr>
          </a:p>
          <a:p>
            <a:pPr marL="0" indent="0">
              <a:buNone/>
            </a:pPr>
            <a:endParaRPr lang="ru-RU" sz="1200" dirty="0">
              <a:solidFill>
                <a:srgbClr val="000000"/>
              </a:solidFill>
              <a:latin typeface="JetBrains Mono"/>
            </a:endParaRPr>
          </a:p>
          <a:p>
            <a:pPr marL="0" indent="0">
              <a:buNone/>
            </a:pPr>
            <a:endParaRPr lang="ru-RU" sz="1200" dirty="0" smtClean="0">
              <a:solidFill>
                <a:srgbClr val="000000"/>
              </a:solidFill>
              <a:latin typeface="JetBrains Mono"/>
            </a:endParaRPr>
          </a:p>
          <a:p>
            <a:pPr marL="0" indent="0">
              <a:buNone/>
            </a:pPr>
            <a:r>
              <a:rPr lang="en-US" sz="1200" b="1" dirty="0"/>
              <a:t>Example</a:t>
            </a:r>
            <a:endParaRPr lang="en-US" sz="1200" dirty="0"/>
          </a:p>
          <a:p>
            <a:pPr marL="0" indent="0">
              <a:buNone/>
            </a:pPr>
            <a:r>
              <a:rPr lang="en-US" sz="1200" dirty="0"/>
              <a:t>Calculate the total number of book copies in the warehouse.</a:t>
            </a:r>
          </a:p>
          <a:p>
            <a:pPr marL="0" indent="0">
              <a:buNone/>
            </a:pPr>
            <a:r>
              <a:rPr lang="en-US" sz="1200" dirty="0">
                <a:solidFill>
                  <a:srgbClr val="000088"/>
                </a:solidFill>
                <a:latin typeface="JetBrains Mono"/>
              </a:rPr>
              <a:t>SELECT</a:t>
            </a:r>
            <a:r>
              <a:rPr lang="en-US" sz="1200" dirty="0">
                <a:solidFill>
                  <a:srgbClr val="000000"/>
                </a:solidFill>
                <a:latin typeface="JetBrains Mono"/>
              </a:rPr>
              <a:t> </a:t>
            </a:r>
            <a:r>
              <a:rPr lang="en-US" sz="1200" dirty="0">
                <a:solidFill>
                  <a:srgbClr val="660066"/>
                </a:solidFill>
                <a:latin typeface="JetBrains Mono"/>
              </a:rPr>
              <a:t>SUM</a:t>
            </a:r>
            <a:r>
              <a:rPr lang="en-US" sz="1200" dirty="0">
                <a:solidFill>
                  <a:srgbClr val="000000"/>
                </a:solidFill>
                <a:latin typeface="JetBrains Mono"/>
              </a:rPr>
              <a:t>(amount) </a:t>
            </a:r>
            <a:r>
              <a:rPr lang="en-US" sz="1200" dirty="0">
                <a:solidFill>
                  <a:srgbClr val="000088"/>
                </a:solidFill>
                <a:latin typeface="JetBrains Mono"/>
              </a:rPr>
              <a:t>AS</a:t>
            </a:r>
            <a:r>
              <a:rPr lang="en-US" sz="1200" dirty="0">
                <a:solidFill>
                  <a:srgbClr val="000000"/>
                </a:solidFill>
                <a:latin typeface="JetBrains Mono"/>
              </a:rPr>
              <a:t> </a:t>
            </a:r>
            <a:r>
              <a:rPr lang="en-US" sz="1200" dirty="0" err="1">
                <a:solidFill>
                  <a:srgbClr val="000000"/>
                </a:solidFill>
                <a:latin typeface="JetBrains Mono"/>
              </a:rPr>
              <a:t>Количество</a:t>
            </a:r>
            <a:r>
              <a:rPr lang="en-US" sz="1200" dirty="0">
                <a:solidFill>
                  <a:srgbClr val="000000"/>
                </a:solidFill>
                <a:latin typeface="JetBrains Mono"/>
              </a:rPr>
              <a:t>, </a:t>
            </a:r>
            <a:endParaRPr lang="ru-RU" sz="1200" dirty="0" smtClean="0">
              <a:solidFill>
                <a:srgbClr val="000000"/>
              </a:solidFill>
              <a:latin typeface="JetBrains Mono"/>
            </a:endParaRPr>
          </a:p>
          <a:p>
            <a:pPr marL="0" indent="0">
              <a:buNone/>
            </a:pPr>
            <a:r>
              <a:rPr lang="ru-RU" sz="1200" dirty="0" smtClean="0">
                <a:solidFill>
                  <a:srgbClr val="000000"/>
                </a:solidFill>
                <a:latin typeface="JetBrains Mono"/>
              </a:rPr>
              <a:t>       </a:t>
            </a:r>
            <a:r>
              <a:rPr lang="en-US" sz="1200" dirty="0" smtClean="0">
                <a:solidFill>
                  <a:srgbClr val="660066"/>
                </a:solidFill>
                <a:latin typeface="JetBrains Mono"/>
              </a:rPr>
              <a:t>SUM</a:t>
            </a:r>
            <a:r>
              <a:rPr lang="en-US" sz="1200" dirty="0" smtClean="0">
                <a:solidFill>
                  <a:srgbClr val="000000"/>
                </a:solidFill>
                <a:latin typeface="JetBrains Mono"/>
              </a:rPr>
              <a:t>(price </a:t>
            </a:r>
            <a:r>
              <a:rPr lang="en-US" sz="1200" dirty="0">
                <a:solidFill>
                  <a:srgbClr val="000000"/>
                </a:solidFill>
                <a:latin typeface="JetBrains Mono"/>
              </a:rPr>
              <a:t>* amount) </a:t>
            </a:r>
            <a:r>
              <a:rPr lang="en-US" sz="1200" dirty="0">
                <a:solidFill>
                  <a:srgbClr val="000088"/>
                </a:solidFill>
                <a:latin typeface="JetBrains Mono"/>
              </a:rPr>
              <a:t>AS</a:t>
            </a:r>
            <a:r>
              <a:rPr lang="en-US" sz="1200" dirty="0">
                <a:solidFill>
                  <a:srgbClr val="000000"/>
                </a:solidFill>
                <a:latin typeface="JetBrains Mono"/>
              </a:rPr>
              <a:t> </a:t>
            </a:r>
            <a:r>
              <a:rPr lang="en-US" sz="1200" dirty="0" err="1">
                <a:solidFill>
                  <a:srgbClr val="000000"/>
                </a:solidFill>
                <a:latin typeface="JetBrains Mono"/>
              </a:rPr>
              <a:t>Стоимость</a:t>
            </a:r>
            <a:r>
              <a:rPr lang="en-US" sz="1200" dirty="0">
                <a:solidFill>
                  <a:srgbClr val="000000"/>
                </a:solidFill>
                <a:latin typeface="JetBrains Mono"/>
              </a:rPr>
              <a:t> </a:t>
            </a:r>
            <a:endParaRPr lang="ru-RU" sz="1200" dirty="0" smtClean="0">
              <a:solidFill>
                <a:srgbClr val="000000"/>
              </a:solidFill>
              <a:latin typeface="JetBrains Mono"/>
            </a:endParaRPr>
          </a:p>
          <a:p>
            <a:pPr marL="0" indent="0">
              <a:buNone/>
            </a:pPr>
            <a:r>
              <a:rPr lang="en-US" sz="1200" dirty="0" smtClean="0">
                <a:solidFill>
                  <a:srgbClr val="000088"/>
                </a:solidFill>
                <a:latin typeface="JetBrains Mono"/>
              </a:rPr>
              <a:t>FROM</a:t>
            </a:r>
            <a:r>
              <a:rPr lang="en-US" sz="1200" dirty="0" smtClean="0">
                <a:solidFill>
                  <a:srgbClr val="000000"/>
                </a:solidFill>
                <a:latin typeface="JetBrains Mono"/>
              </a:rPr>
              <a:t> </a:t>
            </a:r>
            <a:r>
              <a:rPr lang="en-US" sz="1200" dirty="0">
                <a:solidFill>
                  <a:srgbClr val="000000"/>
                </a:solidFill>
                <a:latin typeface="JetBrains Mono"/>
              </a:rPr>
              <a:t>book;</a:t>
            </a:r>
            <a:r>
              <a:rPr lang="en-US" sz="1200" dirty="0"/>
              <a:t/>
            </a:r>
            <a:br>
              <a:rPr lang="en-US" sz="1200" dirty="0"/>
            </a:br>
            <a:endParaRPr lang="en-US" sz="1200" dirty="0"/>
          </a:p>
          <a:p>
            <a:pPr marL="0" indent="0">
              <a:buNone/>
            </a:pPr>
            <a:endParaRPr lang="ru-RU" sz="1200" dirty="0" smtClean="0"/>
          </a:p>
          <a:p>
            <a:pPr marL="0" indent="0">
              <a:buNone/>
            </a:pPr>
            <a:endParaRPr lang="en-US" sz="1200" dirty="0"/>
          </a:p>
        </p:txBody>
      </p:sp>
      <p:sp>
        <p:nvSpPr>
          <p:cNvPr id="4" name="AutoShape 2" descr="https://ucarecdn.com/708aa6d7-f879-41b4-8030-103e4b43754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19872" y="2067694"/>
            <a:ext cx="1276350" cy="87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5856" y="4272880"/>
            <a:ext cx="2276475" cy="819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5753780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51520" y="-6229"/>
            <a:ext cx="8496944" cy="349548"/>
          </a:xfrm>
        </p:spPr>
        <p:txBody>
          <a:bodyPr>
            <a:noAutofit/>
          </a:bodyPr>
          <a:lstStyle/>
          <a:p>
            <a:r>
              <a:rPr lang="en-US" sz="2800" b="1" dirty="0"/>
              <a:t>Data Retrieval with Conditions, Aggregate Functions</a:t>
            </a:r>
            <a:endParaRPr lang="en-US" sz="2800" dirty="0"/>
          </a:p>
        </p:txBody>
      </p:sp>
      <p:sp>
        <p:nvSpPr>
          <p:cNvPr id="3" name="Объект 2"/>
          <p:cNvSpPr>
            <a:spLocks noGrp="1"/>
          </p:cNvSpPr>
          <p:nvPr>
            <p:ph idx="1"/>
          </p:nvPr>
        </p:nvSpPr>
        <p:spPr>
          <a:xfrm>
            <a:off x="323528" y="483518"/>
            <a:ext cx="8229600" cy="3744416"/>
          </a:xfrm>
        </p:spPr>
        <p:txBody>
          <a:bodyPr>
            <a:normAutofit/>
          </a:bodyPr>
          <a:lstStyle/>
          <a:p>
            <a:pPr marL="0" indent="0">
              <a:buNone/>
            </a:pPr>
            <a:r>
              <a:rPr lang="en-US" sz="1200" dirty="0">
                <a:solidFill>
                  <a:srgbClr val="0F1115"/>
                </a:solidFill>
                <a:latin typeface="quote-cjk-patch"/>
              </a:rPr>
              <a:t>Conditions for filtering rows, which are specified after WHERE in regular queries, can be included in queries with aggregate functions. In queries with aggregate functions, the </a:t>
            </a:r>
            <a:r>
              <a:rPr lang="en-US" sz="1200" b="1" dirty="0">
                <a:solidFill>
                  <a:srgbClr val="0F1115"/>
                </a:solidFill>
                <a:latin typeface="quote-cjk-patch"/>
              </a:rPr>
              <a:t>HAVING</a:t>
            </a:r>
            <a:r>
              <a:rPr lang="en-US" sz="1200" dirty="0">
                <a:solidFill>
                  <a:srgbClr val="0F1115"/>
                </a:solidFill>
                <a:latin typeface="quote-cjk-patch"/>
              </a:rPr>
              <a:t> keyword is used instead of WHERE, and it is placed after the </a:t>
            </a:r>
            <a:r>
              <a:rPr lang="en-US" sz="1200" b="1" dirty="0">
                <a:solidFill>
                  <a:srgbClr val="0F1115"/>
                </a:solidFill>
                <a:latin typeface="quote-cjk-patch"/>
              </a:rPr>
              <a:t>GROUP BY</a:t>
            </a:r>
            <a:r>
              <a:rPr lang="en-US" sz="1200" dirty="0">
                <a:solidFill>
                  <a:srgbClr val="0F1115"/>
                </a:solidFill>
                <a:latin typeface="quote-cjk-patch"/>
              </a:rPr>
              <a:t> clause</a:t>
            </a:r>
            <a:r>
              <a:rPr lang="en-US" sz="1200" dirty="0" smtClean="0">
                <a:solidFill>
                  <a:srgbClr val="0F1115"/>
                </a:solidFill>
                <a:latin typeface="quote-cjk-patch"/>
              </a:rPr>
              <a:t>.</a:t>
            </a:r>
            <a:endParaRPr lang="ru-RU" sz="1200" dirty="0" smtClean="0">
              <a:solidFill>
                <a:srgbClr val="0F1115"/>
              </a:solidFill>
              <a:latin typeface="quote-cjk-patch"/>
            </a:endParaRPr>
          </a:p>
          <a:p>
            <a:pPr marL="0" indent="0">
              <a:buNone/>
            </a:pPr>
            <a:endParaRPr lang="en-US" sz="1200" dirty="0">
              <a:solidFill>
                <a:srgbClr val="0F1115"/>
              </a:solidFill>
              <a:latin typeface="quote-cjk-patch"/>
            </a:endParaRPr>
          </a:p>
          <a:p>
            <a:pPr marL="0" indent="0">
              <a:buNone/>
            </a:pPr>
            <a:r>
              <a:rPr lang="en-US" sz="1200" b="1" dirty="0">
                <a:solidFill>
                  <a:srgbClr val="0F1115"/>
                </a:solidFill>
                <a:latin typeface="quote-cjk-patch"/>
              </a:rPr>
              <a:t>Example</a:t>
            </a:r>
            <a:endParaRPr lang="en-US" sz="1200" dirty="0">
              <a:solidFill>
                <a:srgbClr val="0F1115"/>
              </a:solidFill>
              <a:latin typeface="quote-cjk-patch"/>
            </a:endParaRPr>
          </a:p>
          <a:p>
            <a:pPr marL="0" indent="0">
              <a:buNone/>
            </a:pPr>
            <a:r>
              <a:rPr lang="en-US" sz="1200" dirty="0">
                <a:solidFill>
                  <a:srgbClr val="0F1115"/>
                </a:solidFill>
                <a:latin typeface="quote-cjk-patch"/>
              </a:rPr>
              <a:t>Find the minimum and maximum price of books for all authors whose total book cost is greater than 5000</a:t>
            </a:r>
            <a:r>
              <a:rPr lang="en-US" sz="1200" dirty="0" smtClean="0">
                <a:solidFill>
                  <a:srgbClr val="0F1115"/>
                </a:solidFill>
                <a:latin typeface="quote-cjk-patch"/>
              </a:rPr>
              <a:t>.</a:t>
            </a:r>
            <a:endParaRPr lang="ru-RU" sz="1200" dirty="0" smtClean="0">
              <a:solidFill>
                <a:srgbClr val="0F1115"/>
              </a:solidFill>
              <a:latin typeface="quote-cjk-patch"/>
            </a:endParaRPr>
          </a:p>
          <a:p>
            <a:pPr marL="0" indent="0">
              <a:buNone/>
            </a:pPr>
            <a:endParaRPr lang="en-US" sz="1200" dirty="0">
              <a:solidFill>
                <a:srgbClr val="0F1115"/>
              </a:solidFill>
              <a:latin typeface="quote-cjk-patch"/>
            </a:endParaRPr>
          </a:p>
          <a:p>
            <a:pPr marL="0" indent="0">
              <a:buNone/>
            </a:pPr>
            <a:r>
              <a:rPr lang="en-US" sz="1200" dirty="0" smtClean="0">
                <a:solidFill>
                  <a:srgbClr val="000088"/>
                </a:solidFill>
                <a:latin typeface="JetBrains Mono"/>
              </a:rPr>
              <a:t>SELECT</a:t>
            </a:r>
            <a:r>
              <a:rPr lang="en-US" sz="1200" dirty="0" smtClean="0">
                <a:solidFill>
                  <a:srgbClr val="000000"/>
                </a:solidFill>
                <a:latin typeface="JetBrains Mono"/>
              </a:rPr>
              <a:t> </a:t>
            </a:r>
            <a:r>
              <a:rPr lang="en-US" sz="1200" dirty="0">
                <a:solidFill>
                  <a:srgbClr val="000000"/>
                </a:solidFill>
                <a:latin typeface="JetBrains Mono"/>
              </a:rPr>
              <a:t>author, </a:t>
            </a:r>
            <a:endParaRPr lang="ru-RU" sz="1200" dirty="0" smtClean="0">
              <a:solidFill>
                <a:srgbClr val="000000"/>
              </a:solidFill>
              <a:latin typeface="JetBrains Mono"/>
            </a:endParaRPr>
          </a:p>
          <a:p>
            <a:pPr marL="0" indent="0" defTabSz="538163">
              <a:buNone/>
            </a:pPr>
            <a:r>
              <a:rPr lang="ru-RU" sz="1200" dirty="0">
                <a:solidFill>
                  <a:srgbClr val="660066"/>
                </a:solidFill>
                <a:latin typeface="JetBrains Mono"/>
              </a:rPr>
              <a:t>	</a:t>
            </a:r>
            <a:r>
              <a:rPr lang="en-US" sz="1200" dirty="0" smtClean="0">
                <a:solidFill>
                  <a:srgbClr val="660066"/>
                </a:solidFill>
                <a:latin typeface="JetBrains Mono"/>
              </a:rPr>
              <a:t>MIN</a:t>
            </a:r>
            <a:r>
              <a:rPr lang="en-US" sz="1200" dirty="0" smtClean="0">
                <a:solidFill>
                  <a:srgbClr val="000000"/>
                </a:solidFill>
                <a:latin typeface="JetBrains Mono"/>
              </a:rPr>
              <a:t>(price</a:t>
            </a:r>
            <a:r>
              <a:rPr lang="en-US" sz="1200" dirty="0">
                <a:solidFill>
                  <a:srgbClr val="000000"/>
                </a:solidFill>
                <a:latin typeface="JetBrains Mono"/>
              </a:rPr>
              <a:t>) </a:t>
            </a:r>
            <a:r>
              <a:rPr lang="en-US" sz="1200" dirty="0">
                <a:solidFill>
                  <a:srgbClr val="000088"/>
                </a:solidFill>
                <a:latin typeface="JetBrains Mono"/>
              </a:rPr>
              <a:t>AS</a:t>
            </a:r>
            <a:r>
              <a:rPr lang="en-US" sz="1200" dirty="0">
                <a:solidFill>
                  <a:srgbClr val="000000"/>
                </a:solidFill>
                <a:latin typeface="JetBrains Mono"/>
              </a:rPr>
              <a:t> </a:t>
            </a:r>
            <a:r>
              <a:rPr lang="ru-RU" sz="1200" dirty="0" err="1">
                <a:solidFill>
                  <a:srgbClr val="000000"/>
                </a:solidFill>
                <a:latin typeface="JetBrains Mono"/>
              </a:rPr>
              <a:t>Минимальная_цена</a:t>
            </a:r>
            <a:r>
              <a:rPr lang="ru-RU" sz="1200" dirty="0">
                <a:solidFill>
                  <a:srgbClr val="000000"/>
                </a:solidFill>
                <a:latin typeface="JetBrains Mono"/>
              </a:rPr>
              <a:t>, </a:t>
            </a:r>
            <a:endParaRPr lang="ru-RU" sz="1200" dirty="0" smtClean="0">
              <a:solidFill>
                <a:srgbClr val="000000"/>
              </a:solidFill>
              <a:latin typeface="JetBrains Mono"/>
            </a:endParaRPr>
          </a:p>
          <a:p>
            <a:pPr marL="0" indent="0">
              <a:buNone/>
              <a:tabLst>
                <a:tab pos="538163" algn="l"/>
              </a:tabLst>
            </a:pPr>
            <a:r>
              <a:rPr lang="ru-RU" sz="1200" dirty="0">
                <a:solidFill>
                  <a:srgbClr val="660066"/>
                </a:solidFill>
                <a:latin typeface="JetBrains Mono"/>
              </a:rPr>
              <a:t>	</a:t>
            </a:r>
            <a:r>
              <a:rPr lang="en-US" sz="1200" dirty="0" smtClean="0">
                <a:solidFill>
                  <a:srgbClr val="660066"/>
                </a:solidFill>
                <a:latin typeface="JetBrains Mono"/>
              </a:rPr>
              <a:t>MAX</a:t>
            </a:r>
            <a:r>
              <a:rPr lang="en-US" sz="1200" dirty="0" smtClean="0">
                <a:solidFill>
                  <a:srgbClr val="000000"/>
                </a:solidFill>
                <a:latin typeface="JetBrains Mono"/>
              </a:rPr>
              <a:t>(price</a:t>
            </a:r>
            <a:r>
              <a:rPr lang="en-US" sz="1200" dirty="0">
                <a:solidFill>
                  <a:srgbClr val="000000"/>
                </a:solidFill>
                <a:latin typeface="JetBrains Mono"/>
              </a:rPr>
              <a:t>) </a:t>
            </a:r>
            <a:r>
              <a:rPr lang="en-US" sz="1200" dirty="0">
                <a:solidFill>
                  <a:srgbClr val="000088"/>
                </a:solidFill>
                <a:latin typeface="JetBrains Mono"/>
              </a:rPr>
              <a:t>AS</a:t>
            </a:r>
            <a:r>
              <a:rPr lang="en-US" sz="1200" dirty="0">
                <a:solidFill>
                  <a:srgbClr val="000000"/>
                </a:solidFill>
                <a:latin typeface="JetBrains Mono"/>
              </a:rPr>
              <a:t> </a:t>
            </a:r>
            <a:r>
              <a:rPr lang="ru-RU" sz="1200" dirty="0" err="1">
                <a:solidFill>
                  <a:srgbClr val="000000"/>
                </a:solidFill>
                <a:latin typeface="JetBrains Mono"/>
              </a:rPr>
              <a:t>Максимальная_цена</a:t>
            </a:r>
            <a:r>
              <a:rPr lang="ru-RU" sz="1200" dirty="0">
                <a:solidFill>
                  <a:srgbClr val="000000"/>
                </a:solidFill>
                <a:latin typeface="JetBrains Mono"/>
              </a:rPr>
              <a:t> </a:t>
            </a:r>
            <a:endParaRPr lang="ru-RU" sz="1200" dirty="0" smtClean="0">
              <a:solidFill>
                <a:srgbClr val="000000"/>
              </a:solidFill>
              <a:latin typeface="JetBrains Mono"/>
            </a:endParaRPr>
          </a:p>
          <a:p>
            <a:pPr marL="0" indent="0">
              <a:buNone/>
            </a:pPr>
            <a:r>
              <a:rPr lang="en-US" sz="1200" dirty="0" smtClean="0">
                <a:solidFill>
                  <a:srgbClr val="000088"/>
                </a:solidFill>
                <a:latin typeface="JetBrains Mono"/>
              </a:rPr>
              <a:t>FROM</a:t>
            </a:r>
            <a:r>
              <a:rPr lang="en-US" sz="1200" dirty="0" smtClean="0">
                <a:solidFill>
                  <a:srgbClr val="000000"/>
                </a:solidFill>
                <a:latin typeface="JetBrains Mono"/>
              </a:rPr>
              <a:t> </a:t>
            </a:r>
            <a:r>
              <a:rPr lang="en-US" sz="1200" dirty="0">
                <a:solidFill>
                  <a:srgbClr val="000000"/>
                </a:solidFill>
                <a:latin typeface="JetBrains Mono"/>
              </a:rPr>
              <a:t>book </a:t>
            </a:r>
            <a:endParaRPr lang="ru-RU" sz="1200" dirty="0" smtClean="0">
              <a:solidFill>
                <a:srgbClr val="000000"/>
              </a:solidFill>
              <a:latin typeface="JetBrains Mono"/>
            </a:endParaRPr>
          </a:p>
          <a:p>
            <a:pPr marL="0" indent="0">
              <a:buNone/>
            </a:pPr>
            <a:r>
              <a:rPr lang="en-US" sz="1200" dirty="0" smtClean="0">
                <a:solidFill>
                  <a:srgbClr val="000088"/>
                </a:solidFill>
                <a:latin typeface="JetBrains Mono"/>
              </a:rPr>
              <a:t>GROUP</a:t>
            </a:r>
            <a:r>
              <a:rPr lang="en-US" sz="1200" dirty="0" smtClean="0">
                <a:solidFill>
                  <a:srgbClr val="000000"/>
                </a:solidFill>
                <a:latin typeface="JetBrains Mono"/>
              </a:rPr>
              <a:t> </a:t>
            </a:r>
            <a:r>
              <a:rPr lang="en-US" sz="1200" dirty="0">
                <a:solidFill>
                  <a:srgbClr val="000088"/>
                </a:solidFill>
                <a:latin typeface="JetBrains Mono"/>
              </a:rPr>
              <a:t>BY</a:t>
            </a:r>
            <a:r>
              <a:rPr lang="en-US" sz="1200" dirty="0">
                <a:solidFill>
                  <a:srgbClr val="000000"/>
                </a:solidFill>
                <a:latin typeface="JetBrains Mono"/>
              </a:rPr>
              <a:t> author </a:t>
            </a:r>
            <a:endParaRPr lang="ru-RU" sz="1200" dirty="0" smtClean="0">
              <a:solidFill>
                <a:srgbClr val="000000"/>
              </a:solidFill>
              <a:latin typeface="JetBrains Mono"/>
            </a:endParaRPr>
          </a:p>
          <a:p>
            <a:pPr marL="0" indent="0">
              <a:buNone/>
            </a:pPr>
            <a:r>
              <a:rPr lang="en-US" sz="1200" dirty="0" smtClean="0">
                <a:solidFill>
                  <a:srgbClr val="000088"/>
                </a:solidFill>
                <a:latin typeface="JetBrains Mono"/>
              </a:rPr>
              <a:t>HAVING</a:t>
            </a:r>
            <a:r>
              <a:rPr lang="en-US" sz="1200" dirty="0" smtClean="0">
                <a:solidFill>
                  <a:srgbClr val="000000"/>
                </a:solidFill>
                <a:latin typeface="JetBrains Mono"/>
              </a:rPr>
              <a:t> </a:t>
            </a:r>
            <a:r>
              <a:rPr lang="en-US" sz="1200" dirty="0">
                <a:solidFill>
                  <a:srgbClr val="660066"/>
                </a:solidFill>
                <a:latin typeface="JetBrains Mono"/>
              </a:rPr>
              <a:t>SUM</a:t>
            </a:r>
            <a:r>
              <a:rPr lang="en-US" sz="1200" dirty="0">
                <a:solidFill>
                  <a:srgbClr val="000000"/>
                </a:solidFill>
                <a:latin typeface="JetBrains Mono"/>
              </a:rPr>
              <a:t>(price * amount) &gt; </a:t>
            </a:r>
            <a:r>
              <a:rPr lang="en-US" sz="1200" dirty="0">
                <a:solidFill>
                  <a:srgbClr val="006666"/>
                </a:solidFill>
                <a:latin typeface="JetBrains Mono"/>
              </a:rPr>
              <a:t>5000</a:t>
            </a:r>
            <a:r>
              <a:rPr lang="en-US" sz="1200" dirty="0">
                <a:solidFill>
                  <a:srgbClr val="000000"/>
                </a:solidFill>
                <a:latin typeface="JetBrains Mono"/>
              </a:rPr>
              <a:t>;</a:t>
            </a:r>
            <a:endParaRPr lang="en-US" sz="1200" dirty="0"/>
          </a:p>
        </p:txBody>
      </p:sp>
      <p:sp>
        <p:nvSpPr>
          <p:cNvPr id="4" name="AutoShape 2" descr="https://ucarecdn.com/708aa6d7-f879-41b4-8030-103e4b43754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688" y="3291830"/>
            <a:ext cx="4943475" cy="1028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0447270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51520" y="-6229"/>
            <a:ext cx="8496944" cy="349548"/>
          </a:xfrm>
        </p:spPr>
        <p:txBody>
          <a:bodyPr>
            <a:noAutofit/>
          </a:bodyPr>
          <a:lstStyle/>
          <a:p>
            <a:r>
              <a:rPr lang="en-US" sz="2800" b="1" dirty="0"/>
              <a:t>Data Retrieval with Conditions, Aggregate Functions</a:t>
            </a:r>
            <a:endParaRPr lang="en-US" sz="2800" dirty="0"/>
          </a:p>
        </p:txBody>
      </p:sp>
      <p:sp>
        <p:nvSpPr>
          <p:cNvPr id="3" name="Объект 2"/>
          <p:cNvSpPr>
            <a:spLocks noGrp="1"/>
          </p:cNvSpPr>
          <p:nvPr>
            <p:ph idx="1"/>
          </p:nvPr>
        </p:nvSpPr>
        <p:spPr>
          <a:xfrm>
            <a:off x="323528" y="483518"/>
            <a:ext cx="8229600" cy="3744416"/>
          </a:xfrm>
        </p:spPr>
        <p:txBody>
          <a:bodyPr>
            <a:normAutofit/>
          </a:bodyPr>
          <a:lstStyle/>
          <a:p>
            <a:pPr marL="0" indent="0">
              <a:buNone/>
            </a:pPr>
            <a:r>
              <a:rPr lang="en-US" sz="1200" dirty="0">
                <a:solidFill>
                  <a:srgbClr val="0F1115"/>
                </a:solidFill>
                <a:latin typeface="quote-cjk-patch"/>
              </a:rPr>
              <a:t>Data in grouped queries can also be sorted</a:t>
            </a:r>
            <a:r>
              <a:rPr lang="en-US" sz="1200" dirty="0" smtClean="0">
                <a:solidFill>
                  <a:srgbClr val="0F1115"/>
                </a:solidFill>
                <a:latin typeface="quote-cjk-patch"/>
              </a:rPr>
              <a:t>.</a:t>
            </a:r>
            <a:endParaRPr lang="ru-RU" sz="1200" dirty="0" smtClean="0">
              <a:solidFill>
                <a:srgbClr val="0F1115"/>
              </a:solidFill>
              <a:latin typeface="quote-cjk-patch"/>
            </a:endParaRPr>
          </a:p>
          <a:p>
            <a:pPr marL="0" indent="0">
              <a:buNone/>
            </a:pPr>
            <a:endParaRPr lang="en-US" sz="1200" dirty="0">
              <a:solidFill>
                <a:srgbClr val="0F1115"/>
              </a:solidFill>
              <a:latin typeface="quote-cjk-patch"/>
            </a:endParaRPr>
          </a:p>
          <a:p>
            <a:pPr marL="0" indent="0">
              <a:buNone/>
            </a:pPr>
            <a:r>
              <a:rPr lang="en-US" sz="1200" b="1" dirty="0" smtClean="0">
                <a:solidFill>
                  <a:srgbClr val="0F1115"/>
                </a:solidFill>
                <a:latin typeface="quote-cjk-patch"/>
              </a:rPr>
              <a:t>Example</a:t>
            </a:r>
            <a:r>
              <a:rPr lang="ru-RU" sz="1200" b="1" dirty="0" smtClean="0">
                <a:solidFill>
                  <a:srgbClr val="0F1115"/>
                </a:solidFill>
                <a:latin typeface="quote-cjk-patch"/>
              </a:rPr>
              <a:t>2</a:t>
            </a:r>
            <a:endParaRPr lang="en-US" sz="1200" dirty="0">
              <a:solidFill>
                <a:srgbClr val="0F1115"/>
              </a:solidFill>
              <a:latin typeface="quote-cjk-patch"/>
            </a:endParaRPr>
          </a:p>
          <a:p>
            <a:pPr marL="0" indent="0">
              <a:buNone/>
            </a:pPr>
            <a:r>
              <a:rPr lang="en-US" sz="1200" dirty="0">
                <a:solidFill>
                  <a:srgbClr val="0F1115"/>
                </a:solidFill>
                <a:latin typeface="quote-cjk-patch"/>
              </a:rPr>
              <a:t>Find the minimum and maximum price of books for all authors whose total book cost exceeds 5000. Display the result in descending order of the minimum price.</a:t>
            </a:r>
          </a:p>
          <a:p>
            <a:pPr marL="0" indent="0">
              <a:buNone/>
            </a:pPr>
            <a:endParaRPr lang="ru-RU" sz="1200" dirty="0" smtClean="0">
              <a:solidFill>
                <a:srgbClr val="0F1115"/>
              </a:solidFill>
              <a:latin typeface="quote-cjk-patch"/>
            </a:endParaRPr>
          </a:p>
          <a:p>
            <a:pPr marL="0" indent="0">
              <a:buNone/>
            </a:pPr>
            <a:r>
              <a:rPr lang="en-US" sz="1200" dirty="0">
                <a:solidFill>
                  <a:srgbClr val="000088"/>
                </a:solidFill>
                <a:latin typeface="JetBrains Mono"/>
              </a:rPr>
              <a:t>SELECT</a:t>
            </a:r>
            <a:r>
              <a:rPr lang="en-US" sz="1200" dirty="0">
                <a:solidFill>
                  <a:srgbClr val="000000"/>
                </a:solidFill>
                <a:latin typeface="JetBrains Mono"/>
              </a:rPr>
              <a:t> author, </a:t>
            </a:r>
            <a:endParaRPr lang="ru-RU" sz="1200" dirty="0" smtClean="0">
              <a:solidFill>
                <a:srgbClr val="000000"/>
              </a:solidFill>
              <a:latin typeface="JetBrains Mono"/>
            </a:endParaRPr>
          </a:p>
          <a:p>
            <a:pPr marL="0" indent="0">
              <a:buNone/>
            </a:pPr>
            <a:r>
              <a:rPr lang="en-US" sz="1200" dirty="0" smtClean="0">
                <a:solidFill>
                  <a:srgbClr val="660066"/>
                </a:solidFill>
                <a:latin typeface="JetBrains Mono"/>
              </a:rPr>
              <a:t>MIN</a:t>
            </a:r>
            <a:r>
              <a:rPr lang="en-US" sz="1200" dirty="0" smtClean="0">
                <a:solidFill>
                  <a:srgbClr val="000000"/>
                </a:solidFill>
                <a:latin typeface="JetBrains Mono"/>
              </a:rPr>
              <a:t>(price</a:t>
            </a:r>
            <a:r>
              <a:rPr lang="en-US" sz="1200" dirty="0">
                <a:solidFill>
                  <a:srgbClr val="000000"/>
                </a:solidFill>
                <a:latin typeface="JetBrains Mono"/>
              </a:rPr>
              <a:t>) </a:t>
            </a:r>
            <a:r>
              <a:rPr lang="en-US" sz="1200" dirty="0">
                <a:solidFill>
                  <a:srgbClr val="000088"/>
                </a:solidFill>
                <a:latin typeface="JetBrains Mono"/>
              </a:rPr>
              <a:t>AS</a:t>
            </a:r>
            <a:r>
              <a:rPr lang="en-US" sz="1200" dirty="0">
                <a:solidFill>
                  <a:srgbClr val="000000"/>
                </a:solidFill>
                <a:latin typeface="JetBrains Mono"/>
              </a:rPr>
              <a:t> </a:t>
            </a:r>
            <a:r>
              <a:rPr lang="ru-RU" sz="1200" dirty="0" err="1">
                <a:solidFill>
                  <a:srgbClr val="000000"/>
                </a:solidFill>
                <a:latin typeface="JetBrains Mono"/>
              </a:rPr>
              <a:t>Минимальная_цена</a:t>
            </a:r>
            <a:r>
              <a:rPr lang="ru-RU" sz="1200" dirty="0">
                <a:solidFill>
                  <a:srgbClr val="000000"/>
                </a:solidFill>
                <a:latin typeface="JetBrains Mono"/>
              </a:rPr>
              <a:t>, </a:t>
            </a:r>
            <a:endParaRPr lang="ru-RU" sz="1200" dirty="0" smtClean="0">
              <a:solidFill>
                <a:srgbClr val="000000"/>
              </a:solidFill>
              <a:latin typeface="JetBrains Mono"/>
            </a:endParaRPr>
          </a:p>
          <a:p>
            <a:pPr marL="0" indent="0">
              <a:buNone/>
            </a:pPr>
            <a:r>
              <a:rPr lang="en-US" sz="1200" dirty="0" smtClean="0">
                <a:solidFill>
                  <a:srgbClr val="660066"/>
                </a:solidFill>
                <a:latin typeface="JetBrains Mono"/>
              </a:rPr>
              <a:t>MAX</a:t>
            </a:r>
            <a:r>
              <a:rPr lang="en-US" sz="1200" dirty="0" smtClean="0">
                <a:solidFill>
                  <a:srgbClr val="000000"/>
                </a:solidFill>
                <a:latin typeface="JetBrains Mono"/>
              </a:rPr>
              <a:t>(price</a:t>
            </a:r>
            <a:r>
              <a:rPr lang="en-US" sz="1200" dirty="0">
                <a:solidFill>
                  <a:srgbClr val="000000"/>
                </a:solidFill>
                <a:latin typeface="JetBrains Mono"/>
              </a:rPr>
              <a:t>) </a:t>
            </a:r>
            <a:r>
              <a:rPr lang="en-US" sz="1200" dirty="0">
                <a:solidFill>
                  <a:srgbClr val="000088"/>
                </a:solidFill>
                <a:latin typeface="JetBrains Mono"/>
              </a:rPr>
              <a:t>AS</a:t>
            </a:r>
            <a:r>
              <a:rPr lang="en-US" sz="1200" dirty="0">
                <a:solidFill>
                  <a:srgbClr val="000000"/>
                </a:solidFill>
                <a:latin typeface="JetBrains Mono"/>
              </a:rPr>
              <a:t> </a:t>
            </a:r>
            <a:r>
              <a:rPr lang="ru-RU" sz="1200" dirty="0" err="1">
                <a:solidFill>
                  <a:srgbClr val="000000"/>
                </a:solidFill>
                <a:latin typeface="JetBrains Mono"/>
              </a:rPr>
              <a:t>Максимальная_цена</a:t>
            </a:r>
            <a:r>
              <a:rPr lang="ru-RU" sz="1200" dirty="0">
                <a:solidFill>
                  <a:srgbClr val="000000"/>
                </a:solidFill>
                <a:latin typeface="JetBrains Mono"/>
              </a:rPr>
              <a:t> </a:t>
            </a:r>
            <a:endParaRPr lang="ru-RU" sz="1200" dirty="0" smtClean="0">
              <a:solidFill>
                <a:srgbClr val="000000"/>
              </a:solidFill>
              <a:latin typeface="JetBrains Mono"/>
            </a:endParaRPr>
          </a:p>
          <a:p>
            <a:pPr marL="0" indent="0">
              <a:buNone/>
            </a:pPr>
            <a:r>
              <a:rPr lang="en-US" sz="1200" dirty="0" smtClean="0">
                <a:solidFill>
                  <a:srgbClr val="000088"/>
                </a:solidFill>
                <a:latin typeface="JetBrains Mono"/>
              </a:rPr>
              <a:t>FROM</a:t>
            </a:r>
            <a:r>
              <a:rPr lang="en-US" sz="1200" dirty="0" smtClean="0">
                <a:solidFill>
                  <a:srgbClr val="000000"/>
                </a:solidFill>
                <a:latin typeface="JetBrains Mono"/>
              </a:rPr>
              <a:t> </a:t>
            </a:r>
            <a:r>
              <a:rPr lang="en-US" sz="1200" dirty="0">
                <a:solidFill>
                  <a:srgbClr val="000000"/>
                </a:solidFill>
                <a:latin typeface="JetBrains Mono"/>
              </a:rPr>
              <a:t>book </a:t>
            </a:r>
            <a:endParaRPr lang="ru-RU" sz="1200" dirty="0" smtClean="0">
              <a:solidFill>
                <a:srgbClr val="000000"/>
              </a:solidFill>
              <a:latin typeface="JetBrains Mono"/>
            </a:endParaRPr>
          </a:p>
          <a:p>
            <a:pPr marL="0" indent="0">
              <a:buNone/>
            </a:pPr>
            <a:r>
              <a:rPr lang="en-US" sz="1200" dirty="0" smtClean="0">
                <a:solidFill>
                  <a:srgbClr val="000088"/>
                </a:solidFill>
                <a:latin typeface="JetBrains Mono"/>
              </a:rPr>
              <a:t>GROUP</a:t>
            </a:r>
            <a:r>
              <a:rPr lang="en-US" sz="1200" dirty="0" smtClean="0">
                <a:solidFill>
                  <a:srgbClr val="000000"/>
                </a:solidFill>
                <a:latin typeface="JetBrains Mono"/>
              </a:rPr>
              <a:t> </a:t>
            </a:r>
            <a:r>
              <a:rPr lang="en-US" sz="1200" dirty="0">
                <a:solidFill>
                  <a:srgbClr val="000088"/>
                </a:solidFill>
                <a:latin typeface="JetBrains Mono"/>
              </a:rPr>
              <a:t>BY</a:t>
            </a:r>
            <a:r>
              <a:rPr lang="en-US" sz="1200" dirty="0">
                <a:solidFill>
                  <a:srgbClr val="000000"/>
                </a:solidFill>
                <a:latin typeface="JetBrains Mono"/>
              </a:rPr>
              <a:t> author </a:t>
            </a:r>
            <a:endParaRPr lang="ru-RU" sz="1200" dirty="0" smtClean="0">
              <a:solidFill>
                <a:srgbClr val="000000"/>
              </a:solidFill>
              <a:latin typeface="JetBrains Mono"/>
            </a:endParaRPr>
          </a:p>
          <a:p>
            <a:pPr marL="0" indent="0">
              <a:buNone/>
            </a:pPr>
            <a:r>
              <a:rPr lang="en-US" sz="1200" dirty="0" smtClean="0">
                <a:solidFill>
                  <a:srgbClr val="000088"/>
                </a:solidFill>
                <a:latin typeface="JetBrains Mono"/>
              </a:rPr>
              <a:t>HAVING</a:t>
            </a:r>
            <a:r>
              <a:rPr lang="en-US" sz="1200" dirty="0" smtClean="0">
                <a:solidFill>
                  <a:srgbClr val="000000"/>
                </a:solidFill>
                <a:latin typeface="JetBrains Mono"/>
              </a:rPr>
              <a:t> </a:t>
            </a:r>
            <a:r>
              <a:rPr lang="en-US" sz="1200" dirty="0">
                <a:solidFill>
                  <a:srgbClr val="660066"/>
                </a:solidFill>
                <a:latin typeface="JetBrains Mono"/>
              </a:rPr>
              <a:t>SUM</a:t>
            </a:r>
            <a:r>
              <a:rPr lang="en-US" sz="1200" dirty="0">
                <a:solidFill>
                  <a:srgbClr val="000000"/>
                </a:solidFill>
                <a:latin typeface="JetBrains Mono"/>
              </a:rPr>
              <a:t>(price * amount) &gt; </a:t>
            </a:r>
            <a:r>
              <a:rPr lang="en-US" sz="1200" dirty="0">
                <a:solidFill>
                  <a:srgbClr val="006666"/>
                </a:solidFill>
                <a:latin typeface="JetBrains Mono"/>
              </a:rPr>
              <a:t>5000</a:t>
            </a:r>
            <a:r>
              <a:rPr lang="en-US" sz="1200" dirty="0">
                <a:solidFill>
                  <a:srgbClr val="000000"/>
                </a:solidFill>
                <a:latin typeface="JetBrains Mono"/>
              </a:rPr>
              <a:t> </a:t>
            </a:r>
            <a:endParaRPr lang="ru-RU" sz="1200" dirty="0" smtClean="0">
              <a:solidFill>
                <a:srgbClr val="000000"/>
              </a:solidFill>
              <a:latin typeface="JetBrains Mono"/>
            </a:endParaRPr>
          </a:p>
          <a:p>
            <a:pPr marL="0" indent="0">
              <a:buNone/>
            </a:pPr>
            <a:r>
              <a:rPr lang="en-US" sz="1200" dirty="0" smtClean="0">
                <a:solidFill>
                  <a:srgbClr val="000088"/>
                </a:solidFill>
                <a:latin typeface="JetBrains Mono"/>
              </a:rPr>
              <a:t>ORDER</a:t>
            </a:r>
            <a:r>
              <a:rPr lang="en-US" sz="1200" dirty="0" smtClean="0">
                <a:solidFill>
                  <a:srgbClr val="000000"/>
                </a:solidFill>
                <a:latin typeface="JetBrains Mono"/>
              </a:rPr>
              <a:t> </a:t>
            </a:r>
            <a:r>
              <a:rPr lang="en-US" sz="1200" dirty="0">
                <a:solidFill>
                  <a:srgbClr val="000088"/>
                </a:solidFill>
                <a:latin typeface="JetBrains Mono"/>
              </a:rPr>
              <a:t>BY</a:t>
            </a:r>
            <a:r>
              <a:rPr lang="en-US" sz="1200" dirty="0">
                <a:solidFill>
                  <a:srgbClr val="000000"/>
                </a:solidFill>
                <a:latin typeface="JetBrains Mono"/>
              </a:rPr>
              <a:t> </a:t>
            </a:r>
            <a:r>
              <a:rPr lang="ru-RU" sz="1200" dirty="0" err="1">
                <a:solidFill>
                  <a:srgbClr val="000000"/>
                </a:solidFill>
                <a:latin typeface="JetBrains Mono"/>
              </a:rPr>
              <a:t>Минимальная_цена</a:t>
            </a:r>
            <a:r>
              <a:rPr lang="ru-RU" sz="1200" dirty="0">
                <a:solidFill>
                  <a:srgbClr val="000000"/>
                </a:solidFill>
                <a:latin typeface="JetBrains Mono"/>
              </a:rPr>
              <a:t> </a:t>
            </a:r>
            <a:r>
              <a:rPr lang="en-US" sz="1200" dirty="0">
                <a:solidFill>
                  <a:srgbClr val="000088"/>
                </a:solidFill>
                <a:latin typeface="JetBrains Mono"/>
              </a:rPr>
              <a:t>DESC</a:t>
            </a:r>
            <a:r>
              <a:rPr lang="en-US" sz="1200" dirty="0" smtClean="0">
                <a:solidFill>
                  <a:srgbClr val="000000"/>
                </a:solidFill>
                <a:latin typeface="JetBrains Mono"/>
              </a:rPr>
              <a:t>;</a:t>
            </a:r>
            <a:endParaRPr lang="ru-RU" sz="1200" dirty="0" smtClean="0">
              <a:solidFill>
                <a:srgbClr val="000000"/>
              </a:solidFill>
              <a:latin typeface="JetBrains Mono"/>
            </a:endParaRPr>
          </a:p>
          <a:p>
            <a:pPr marL="0" indent="0">
              <a:buNone/>
            </a:pPr>
            <a:endParaRPr lang="en-US" sz="1200" dirty="0">
              <a:solidFill>
                <a:srgbClr val="0F1115"/>
              </a:solidFill>
              <a:latin typeface="quote-cjk-patch"/>
            </a:endParaRPr>
          </a:p>
        </p:txBody>
      </p:sp>
      <p:sp>
        <p:nvSpPr>
          <p:cNvPr id="4" name="AutoShape 2" descr="https://ucarecdn.com/708aa6d7-f879-41b4-8030-103e4b43754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1680" y="3651870"/>
            <a:ext cx="5000625" cy="1047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5776324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51520" y="-6230"/>
            <a:ext cx="8496944" cy="561756"/>
          </a:xfrm>
        </p:spPr>
        <p:txBody>
          <a:bodyPr>
            <a:noAutofit/>
          </a:bodyPr>
          <a:lstStyle/>
          <a:p>
            <a:r>
              <a:rPr lang="en-US" sz="2000" b="1" dirty="0"/>
              <a:t>Data Retrieval with Conditions, Aggregate Functions, WHERE and HAVING</a:t>
            </a:r>
            <a:endParaRPr lang="en-US" sz="2000" dirty="0"/>
          </a:p>
        </p:txBody>
      </p:sp>
      <p:sp>
        <p:nvSpPr>
          <p:cNvPr id="3" name="Объект 2"/>
          <p:cNvSpPr>
            <a:spLocks noGrp="1"/>
          </p:cNvSpPr>
          <p:nvPr>
            <p:ph idx="1"/>
          </p:nvPr>
        </p:nvSpPr>
        <p:spPr>
          <a:xfrm>
            <a:off x="323528" y="483518"/>
            <a:ext cx="8229600" cy="4248472"/>
          </a:xfrm>
        </p:spPr>
        <p:txBody>
          <a:bodyPr>
            <a:normAutofit fontScale="85000" lnSpcReduction="20000"/>
          </a:bodyPr>
          <a:lstStyle/>
          <a:p>
            <a:pPr marL="0" indent="0">
              <a:buNone/>
            </a:pPr>
            <a:r>
              <a:rPr lang="en-US" sz="1400" dirty="0" smtClean="0"/>
              <a:t>WHERE </a:t>
            </a:r>
            <a:r>
              <a:rPr lang="en-US" sz="1400" dirty="0"/>
              <a:t>and HAVING can be used in the same query. However, it is important to consider the order of execution of the SQL SELECT query </a:t>
            </a:r>
            <a:r>
              <a:rPr lang="en-US" sz="1400" b="1" dirty="0"/>
              <a:t>on the SERVER</a:t>
            </a:r>
            <a:r>
              <a:rPr lang="en-US" sz="1400" dirty="0"/>
              <a:t>:</a:t>
            </a:r>
          </a:p>
          <a:p>
            <a:pPr marL="0" indent="0">
              <a:buNone/>
            </a:pPr>
            <a:r>
              <a:rPr lang="en-US" sz="1400" b="1" dirty="0"/>
              <a:t>FROM</a:t>
            </a:r>
            <a:endParaRPr lang="en-US" sz="1400" dirty="0"/>
          </a:p>
          <a:p>
            <a:pPr marL="0" indent="0">
              <a:buNone/>
            </a:pPr>
            <a:r>
              <a:rPr lang="en-US" sz="1400" b="1" dirty="0"/>
              <a:t>WHERE</a:t>
            </a:r>
            <a:endParaRPr lang="en-US" sz="1400" dirty="0"/>
          </a:p>
          <a:p>
            <a:pPr marL="0" indent="0">
              <a:buNone/>
            </a:pPr>
            <a:r>
              <a:rPr lang="en-US" sz="1400" b="1" dirty="0"/>
              <a:t>GROUP BY</a:t>
            </a:r>
            <a:endParaRPr lang="en-US" sz="1400" dirty="0"/>
          </a:p>
          <a:p>
            <a:pPr marL="0" indent="0">
              <a:buNone/>
            </a:pPr>
            <a:r>
              <a:rPr lang="en-US" sz="1400" b="1" dirty="0"/>
              <a:t>HAVING</a:t>
            </a:r>
            <a:endParaRPr lang="en-US" sz="1400" dirty="0"/>
          </a:p>
          <a:p>
            <a:pPr marL="0" indent="0">
              <a:buNone/>
            </a:pPr>
            <a:r>
              <a:rPr lang="en-US" sz="1400" b="1" dirty="0"/>
              <a:t>SELECT</a:t>
            </a:r>
            <a:endParaRPr lang="en-US" sz="1400" dirty="0"/>
          </a:p>
          <a:p>
            <a:pPr marL="0" indent="0">
              <a:buNone/>
            </a:pPr>
            <a:r>
              <a:rPr lang="en-US" sz="1400" b="1" dirty="0"/>
              <a:t>ORDER BY</a:t>
            </a:r>
            <a:endParaRPr lang="en-US" sz="1400" dirty="0"/>
          </a:p>
          <a:p>
            <a:pPr marL="0" indent="0">
              <a:buNone/>
            </a:pPr>
            <a:r>
              <a:rPr lang="en-US" sz="1400" dirty="0"/>
              <a:t>First, the table from which data is retrieved is determined (</a:t>
            </a:r>
            <a:r>
              <a:rPr lang="en-US" sz="1400" b="1" dirty="0"/>
              <a:t>FROM</a:t>
            </a:r>
            <a:r>
              <a:rPr lang="en-US" sz="1400" dirty="0"/>
              <a:t>). Then, records are filtered according to the condition in </a:t>
            </a:r>
            <a:r>
              <a:rPr lang="en-US" sz="1400" b="1" dirty="0"/>
              <a:t>WHERE</a:t>
            </a:r>
            <a:r>
              <a:rPr lang="en-US" sz="1400" dirty="0"/>
              <a:t>. The filtered data is aggregated (</a:t>
            </a:r>
            <a:r>
              <a:rPr lang="en-US" sz="1400" b="1" dirty="0"/>
              <a:t>GROUP BY</a:t>
            </a:r>
            <a:r>
              <a:rPr lang="en-US" sz="1400" dirty="0"/>
              <a:t>), and from the aggregated records, those satisfying the condition after </a:t>
            </a:r>
            <a:r>
              <a:rPr lang="en-US" sz="1400" b="1" dirty="0"/>
              <a:t>HAVING</a:t>
            </a:r>
            <a:r>
              <a:rPr lang="en-US" sz="1400" dirty="0"/>
              <a:t> are selected. Next, the resulting dataset is formed as specified after </a:t>
            </a:r>
            <a:r>
              <a:rPr lang="en-US" sz="1400" b="1" dirty="0"/>
              <a:t>SELECT</a:t>
            </a:r>
            <a:r>
              <a:rPr lang="en-US" sz="1400" dirty="0"/>
              <a:t> (expressions are calculated, names are assigned, etc.). Finally, the resulting dataset is sorted as specified after </a:t>
            </a:r>
            <a:r>
              <a:rPr lang="en-US" sz="1400" b="1" dirty="0"/>
              <a:t>ORDER BY</a:t>
            </a:r>
            <a:r>
              <a:rPr lang="en-US" sz="1400" dirty="0"/>
              <a:t>.</a:t>
            </a:r>
          </a:p>
          <a:p>
            <a:pPr marL="0" indent="0">
              <a:buNone/>
            </a:pPr>
            <a:endParaRPr lang="ru-RU" sz="1400" b="1" dirty="0" smtClean="0"/>
          </a:p>
          <a:p>
            <a:pPr marL="0" indent="0">
              <a:buNone/>
            </a:pPr>
            <a:r>
              <a:rPr lang="en-US" sz="1400" b="1" dirty="0" smtClean="0">
                <a:solidFill>
                  <a:srgbClr val="FF0000"/>
                </a:solidFill>
              </a:rPr>
              <a:t>Important</a:t>
            </a:r>
            <a:r>
              <a:rPr lang="en-US" sz="1400" b="1" dirty="0">
                <a:solidFill>
                  <a:srgbClr val="FF0000"/>
                </a:solidFill>
              </a:rPr>
              <a:t>!</a:t>
            </a:r>
            <a:r>
              <a:rPr lang="en-US" sz="1400" dirty="0"/>
              <a:t> The order of </a:t>
            </a:r>
            <a:r>
              <a:rPr lang="en-US" sz="1400" b="1" dirty="0"/>
              <a:t>EXECUTION</a:t>
            </a:r>
            <a:r>
              <a:rPr lang="en-US" sz="1400" dirty="0"/>
              <a:t> of queries is not the same as the order of </a:t>
            </a:r>
            <a:r>
              <a:rPr lang="en-US" sz="1400" b="1" dirty="0"/>
              <a:t>WRITING</a:t>
            </a:r>
            <a:r>
              <a:rPr lang="en-US" sz="1400" dirty="0"/>
              <a:t> keywords in the SELECT query. The written order (query syntax) remains the same as previously discussed in the course. The </a:t>
            </a:r>
            <a:r>
              <a:rPr lang="en-US" sz="1400" b="1" dirty="0"/>
              <a:t>EXECUTION ORDER</a:t>
            </a:r>
            <a:r>
              <a:rPr lang="en-US" sz="1400" dirty="0"/>
              <a:t> is necessary to understand why, for example, you cannot use expression names from SELECT in WHERE. This is simply because SELECT is executed by the compiler later than WHERE, so it is unaware of the expressions written in SELECT at that stage.</a:t>
            </a:r>
          </a:p>
          <a:p>
            <a:pPr marL="0" indent="0">
              <a:buNone/>
            </a:pPr>
            <a:endParaRPr lang="ru-RU" sz="1200" dirty="0">
              <a:solidFill>
                <a:srgbClr val="000088"/>
              </a:solidFill>
              <a:latin typeface="JetBrains Mono"/>
            </a:endParaRPr>
          </a:p>
          <a:p>
            <a:pPr marL="0" indent="0">
              <a:buNone/>
            </a:pPr>
            <a:r>
              <a:rPr lang="en-US" sz="1200" dirty="0" smtClean="0">
                <a:solidFill>
                  <a:srgbClr val="000088"/>
                </a:solidFill>
                <a:latin typeface="JetBrains Mono"/>
              </a:rPr>
              <a:t>SELECT</a:t>
            </a:r>
            <a:r>
              <a:rPr lang="en-US" sz="1200" dirty="0" smtClean="0">
                <a:solidFill>
                  <a:srgbClr val="000000"/>
                </a:solidFill>
                <a:latin typeface="JetBrains Mono"/>
              </a:rPr>
              <a:t> </a:t>
            </a:r>
            <a:r>
              <a:rPr lang="en-US" sz="1200" dirty="0">
                <a:solidFill>
                  <a:srgbClr val="000000"/>
                </a:solidFill>
                <a:latin typeface="JetBrains Mono"/>
              </a:rPr>
              <a:t>author, </a:t>
            </a:r>
            <a:endParaRPr lang="ru-RU" sz="1200" dirty="0" smtClean="0">
              <a:solidFill>
                <a:srgbClr val="000000"/>
              </a:solidFill>
              <a:latin typeface="JetBrains Mono"/>
            </a:endParaRPr>
          </a:p>
          <a:p>
            <a:pPr marL="0" indent="0">
              <a:buNone/>
            </a:pPr>
            <a:r>
              <a:rPr lang="ru-RU" sz="1200" dirty="0" smtClean="0">
                <a:solidFill>
                  <a:srgbClr val="660066"/>
                </a:solidFill>
                <a:latin typeface="JetBrains Mono"/>
              </a:rPr>
              <a:t>	</a:t>
            </a:r>
            <a:r>
              <a:rPr lang="en-US" sz="1200" dirty="0" smtClean="0">
                <a:solidFill>
                  <a:srgbClr val="660066"/>
                </a:solidFill>
                <a:latin typeface="JetBrains Mono"/>
              </a:rPr>
              <a:t>MIN</a:t>
            </a:r>
            <a:r>
              <a:rPr lang="en-US" sz="1200" dirty="0" smtClean="0">
                <a:solidFill>
                  <a:srgbClr val="000000"/>
                </a:solidFill>
                <a:latin typeface="JetBrains Mono"/>
              </a:rPr>
              <a:t>(price</a:t>
            </a:r>
            <a:r>
              <a:rPr lang="en-US" sz="1200" dirty="0">
                <a:solidFill>
                  <a:srgbClr val="000000"/>
                </a:solidFill>
                <a:latin typeface="JetBrains Mono"/>
              </a:rPr>
              <a:t>) </a:t>
            </a:r>
            <a:r>
              <a:rPr lang="en-US" sz="1200" dirty="0">
                <a:solidFill>
                  <a:srgbClr val="000088"/>
                </a:solidFill>
                <a:latin typeface="JetBrains Mono"/>
              </a:rPr>
              <a:t>AS</a:t>
            </a:r>
            <a:r>
              <a:rPr lang="en-US" sz="1200" dirty="0">
                <a:solidFill>
                  <a:srgbClr val="000000"/>
                </a:solidFill>
                <a:latin typeface="JetBrains Mono"/>
              </a:rPr>
              <a:t> </a:t>
            </a:r>
            <a:r>
              <a:rPr lang="ru-RU" sz="1200" dirty="0" err="1">
                <a:solidFill>
                  <a:srgbClr val="000000"/>
                </a:solidFill>
                <a:latin typeface="JetBrains Mono"/>
              </a:rPr>
              <a:t>Минимальная_цена</a:t>
            </a:r>
            <a:r>
              <a:rPr lang="ru-RU" sz="1200" dirty="0">
                <a:solidFill>
                  <a:srgbClr val="000000"/>
                </a:solidFill>
                <a:latin typeface="JetBrains Mono"/>
              </a:rPr>
              <a:t>, </a:t>
            </a:r>
            <a:endParaRPr lang="ru-RU" sz="1200" dirty="0" smtClean="0">
              <a:solidFill>
                <a:srgbClr val="000000"/>
              </a:solidFill>
              <a:latin typeface="JetBrains Mono"/>
            </a:endParaRPr>
          </a:p>
          <a:p>
            <a:pPr marL="0" indent="0">
              <a:buNone/>
            </a:pPr>
            <a:r>
              <a:rPr lang="ru-RU" sz="1200" dirty="0" smtClean="0">
                <a:solidFill>
                  <a:srgbClr val="660066"/>
                </a:solidFill>
                <a:latin typeface="JetBrains Mono"/>
              </a:rPr>
              <a:t>	</a:t>
            </a:r>
            <a:r>
              <a:rPr lang="en-US" sz="1200" dirty="0" smtClean="0">
                <a:solidFill>
                  <a:srgbClr val="660066"/>
                </a:solidFill>
                <a:latin typeface="JetBrains Mono"/>
              </a:rPr>
              <a:t>MAX</a:t>
            </a:r>
            <a:r>
              <a:rPr lang="en-US" sz="1200" dirty="0" smtClean="0">
                <a:solidFill>
                  <a:srgbClr val="000000"/>
                </a:solidFill>
                <a:latin typeface="JetBrains Mono"/>
              </a:rPr>
              <a:t>(price</a:t>
            </a:r>
            <a:r>
              <a:rPr lang="en-US" sz="1200" dirty="0">
                <a:solidFill>
                  <a:srgbClr val="000000"/>
                </a:solidFill>
                <a:latin typeface="JetBrains Mono"/>
              </a:rPr>
              <a:t>) </a:t>
            </a:r>
            <a:r>
              <a:rPr lang="en-US" sz="1200" dirty="0">
                <a:solidFill>
                  <a:srgbClr val="000088"/>
                </a:solidFill>
                <a:latin typeface="JetBrains Mono"/>
              </a:rPr>
              <a:t>AS</a:t>
            </a:r>
            <a:r>
              <a:rPr lang="en-US" sz="1200" dirty="0">
                <a:solidFill>
                  <a:srgbClr val="000000"/>
                </a:solidFill>
                <a:latin typeface="JetBrains Mono"/>
              </a:rPr>
              <a:t> </a:t>
            </a:r>
            <a:r>
              <a:rPr lang="ru-RU" sz="1200" dirty="0" err="1">
                <a:solidFill>
                  <a:srgbClr val="000000"/>
                </a:solidFill>
                <a:latin typeface="JetBrains Mono"/>
              </a:rPr>
              <a:t>Максимальная_цена</a:t>
            </a:r>
            <a:r>
              <a:rPr lang="ru-RU" sz="1200" dirty="0">
                <a:solidFill>
                  <a:srgbClr val="000000"/>
                </a:solidFill>
                <a:latin typeface="JetBrains Mono"/>
              </a:rPr>
              <a:t> </a:t>
            </a:r>
            <a:endParaRPr lang="ru-RU" sz="1200" dirty="0" smtClean="0">
              <a:solidFill>
                <a:srgbClr val="000000"/>
              </a:solidFill>
              <a:latin typeface="JetBrains Mono"/>
            </a:endParaRPr>
          </a:p>
          <a:p>
            <a:pPr marL="0" indent="0">
              <a:buNone/>
            </a:pPr>
            <a:r>
              <a:rPr lang="en-US" sz="1200" dirty="0" smtClean="0">
                <a:solidFill>
                  <a:srgbClr val="000088"/>
                </a:solidFill>
                <a:latin typeface="JetBrains Mono"/>
              </a:rPr>
              <a:t>FROM</a:t>
            </a:r>
            <a:r>
              <a:rPr lang="en-US" sz="1200" dirty="0" smtClean="0">
                <a:solidFill>
                  <a:srgbClr val="000000"/>
                </a:solidFill>
                <a:latin typeface="JetBrains Mono"/>
              </a:rPr>
              <a:t> </a:t>
            </a:r>
            <a:r>
              <a:rPr lang="en-US" sz="1200" dirty="0">
                <a:solidFill>
                  <a:srgbClr val="000000"/>
                </a:solidFill>
                <a:latin typeface="JetBrains Mono"/>
              </a:rPr>
              <a:t>book </a:t>
            </a:r>
            <a:endParaRPr lang="ru-RU" sz="1200" dirty="0" smtClean="0">
              <a:solidFill>
                <a:srgbClr val="000000"/>
              </a:solidFill>
              <a:latin typeface="JetBrains Mono"/>
            </a:endParaRPr>
          </a:p>
          <a:p>
            <a:pPr marL="0" indent="0">
              <a:buNone/>
            </a:pPr>
            <a:r>
              <a:rPr lang="en-US" sz="1200" dirty="0" smtClean="0">
                <a:solidFill>
                  <a:srgbClr val="000088"/>
                </a:solidFill>
                <a:latin typeface="JetBrains Mono"/>
              </a:rPr>
              <a:t>WHERE</a:t>
            </a:r>
            <a:r>
              <a:rPr lang="en-US" sz="1200" dirty="0" smtClean="0">
                <a:solidFill>
                  <a:srgbClr val="000000"/>
                </a:solidFill>
                <a:latin typeface="JetBrains Mono"/>
              </a:rPr>
              <a:t> </a:t>
            </a:r>
            <a:r>
              <a:rPr lang="en-US" sz="1200" dirty="0">
                <a:solidFill>
                  <a:srgbClr val="000000"/>
                </a:solidFill>
                <a:latin typeface="JetBrains Mono"/>
              </a:rPr>
              <a:t>author &lt;&gt; </a:t>
            </a:r>
            <a:r>
              <a:rPr lang="en-US" sz="1200" dirty="0">
                <a:solidFill>
                  <a:srgbClr val="008800"/>
                </a:solidFill>
                <a:latin typeface="JetBrains Mono"/>
              </a:rPr>
              <a:t>'</a:t>
            </a:r>
            <a:r>
              <a:rPr lang="ru-RU" sz="1200" dirty="0">
                <a:solidFill>
                  <a:srgbClr val="008800"/>
                </a:solidFill>
                <a:latin typeface="JetBrains Mono"/>
              </a:rPr>
              <a:t>Есенин С.А.'</a:t>
            </a:r>
            <a:r>
              <a:rPr lang="ru-RU" sz="1200" dirty="0">
                <a:solidFill>
                  <a:srgbClr val="000000"/>
                </a:solidFill>
                <a:latin typeface="JetBrains Mono"/>
              </a:rPr>
              <a:t> </a:t>
            </a:r>
            <a:endParaRPr lang="ru-RU" sz="1200" dirty="0" smtClean="0">
              <a:solidFill>
                <a:srgbClr val="000000"/>
              </a:solidFill>
              <a:latin typeface="JetBrains Mono"/>
            </a:endParaRPr>
          </a:p>
          <a:p>
            <a:pPr marL="0" indent="0">
              <a:buNone/>
            </a:pPr>
            <a:r>
              <a:rPr lang="en-US" sz="1200" dirty="0" smtClean="0">
                <a:solidFill>
                  <a:srgbClr val="000088"/>
                </a:solidFill>
                <a:latin typeface="JetBrains Mono"/>
              </a:rPr>
              <a:t>GROUP</a:t>
            </a:r>
            <a:r>
              <a:rPr lang="en-US" sz="1200" dirty="0" smtClean="0">
                <a:solidFill>
                  <a:srgbClr val="000000"/>
                </a:solidFill>
                <a:latin typeface="JetBrains Mono"/>
              </a:rPr>
              <a:t> </a:t>
            </a:r>
            <a:r>
              <a:rPr lang="en-US" sz="1200" dirty="0">
                <a:solidFill>
                  <a:srgbClr val="000088"/>
                </a:solidFill>
                <a:latin typeface="JetBrains Mono"/>
              </a:rPr>
              <a:t>BY</a:t>
            </a:r>
            <a:r>
              <a:rPr lang="en-US" sz="1200" dirty="0">
                <a:solidFill>
                  <a:srgbClr val="000000"/>
                </a:solidFill>
                <a:latin typeface="JetBrains Mono"/>
              </a:rPr>
              <a:t> author </a:t>
            </a:r>
            <a:endParaRPr lang="ru-RU" sz="1200" dirty="0" smtClean="0">
              <a:solidFill>
                <a:srgbClr val="000000"/>
              </a:solidFill>
              <a:latin typeface="JetBrains Mono"/>
            </a:endParaRPr>
          </a:p>
          <a:p>
            <a:pPr marL="0" indent="0">
              <a:buNone/>
            </a:pPr>
            <a:r>
              <a:rPr lang="en-US" sz="1200" dirty="0" smtClean="0">
                <a:solidFill>
                  <a:srgbClr val="000088"/>
                </a:solidFill>
                <a:latin typeface="JetBrains Mono"/>
              </a:rPr>
              <a:t>HAVING</a:t>
            </a:r>
            <a:r>
              <a:rPr lang="en-US" sz="1200" dirty="0" smtClean="0">
                <a:solidFill>
                  <a:srgbClr val="000000"/>
                </a:solidFill>
                <a:latin typeface="JetBrains Mono"/>
              </a:rPr>
              <a:t> </a:t>
            </a:r>
            <a:r>
              <a:rPr lang="en-US" sz="1200" dirty="0">
                <a:solidFill>
                  <a:srgbClr val="660066"/>
                </a:solidFill>
                <a:latin typeface="JetBrains Mono"/>
              </a:rPr>
              <a:t>SUM</a:t>
            </a:r>
            <a:r>
              <a:rPr lang="en-US" sz="1200" dirty="0">
                <a:solidFill>
                  <a:srgbClr val="000000"/>
                </a:solidFill>
                <a:latin typeface="JetBrains Mono"/>
              </a:rPr>
              <a:t>(amount) &gt; </a:t>
            </a:r>
            <a:r>
              <a:rPr lang="en-US" sz="1200" dirty="0">
                <a:solidFill>
                  <a:srgbClr val="006666"/>
                </a:solidFill>
                <a:latin typeface="JetBrains Mono"/>
              </a:rPr>
              <a:t>10</a:t>
            </a:r>
            <a:r>
              <a:rPr lang="en-US" sz="1200" dirty="0">
                <a:solidFill>
                  <a:srgbClr val="000000"/>
                </a:solidFill>
                <a:latin typeface="JetBrains Mono"/>
              </a:rPr>
              <a:t>;</a:t>
            </a:r>
            <a:endParaRPr lang="en-US" sz="1200" dirty="0">
              <a:solidFill>
                <a:srgbClr val="0F1115"/>
              </a:solidFill>
              <a:latin typeface="quote-cjk-patch"/>
            </a:endParaRPr>
          </a:p>
        </p:txBody>
      </p:sp>
      <p:sp>
        <p:nvSpPr>
          <p:cNvPr id="4" name="AutoShape 2" descr="https://ucarecdn.com/708aa6d7-f879-41b4-8030-103e4b43754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7904" y="4277815"/>
            <a:ext cx="4608512" cy="7516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5650599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51520" y="-6230"/>
            <a:ext cx="8496944" cy="561756"/>
          </a:xfrm>
        </p:spPr>
        <p:txBody>
          <a:bodyPr>
            <a:noAutofit/>
          </a:bodyPr>
          <a:lstStyle/>
          <a:p>
            <a:r>
              <a:rPr lang="en-US" sz="2000" b="1" dirty="0" smtClean="0"/>
              <a:t>Nested Queries</a:t>
            </a:r>
            <a:endParaRPr lang="en-US" sz="2000" dirty="0"/>
          </a:p>
        </p:txBody>
      </p:sp>
      <p:sp>
        <p:nvSpPr>
          <p:cNvPr id="3" name="Объект 2"/>
          <p:cNvSpPr>
            <a:spLocks noGrp="1"/>
          </p:cNvSpPr>
          <p:nvPr>
            <p:ph idx="1"/>
          </p:nvPr>
        </p:nvSpPr>
        <p:spPr>
          <a:xfrm>
            <a:off x="323528" y="483518"/>
            <a:ext cx="8229600" cy="3960440"/>
          </a:xfrm>
        </p:spPr>
        <p:txBody>
          <a:bodyPr>
            <a:normAutofit/>
          </a:bodyPr>
          <a:lstStyle/>
          <a:p>
            <a:pPr marL="0" indent="0">
              <a:buNone/>
            </a:pPr>
            <a:r>
              <a:rPr lang="en-US" sz="1200" dirty="0">
                <a:solidFill>
                  <a:srgbClr val="0F1115"/>
                </a:solidFill>
                <a:latin typeface="quote-cjk-patch"/>
              </a:rPr>
              <a:t>SQL allows the creation of nested queries. A nested query (</a:t>
            </a:r>
            <a:r>
              <a:rPr lang="en-US" sz="1200" dirty="0" err="1">
                <a:solidFill>
                  <a:srgbClr val="0F1115"/>
                </a:solidFill>
                <a:latin typeface="quote-cjk-patch"/>
              </a:rPr>
              <a:t>subquery</a:t>
            </a:r>
            <a:r>
              <a:rPr lang="en-US" sz="1200" dirty="0">
                <a:solidFill>
                  <a:srgbClr val="0F1115"/>
                </a:solidFill>
                <a:latin typeface="quote-cjk-patch"/>
              </a:rPr>
              <a:t>, inner query) is a query inside another SQL query.</a:t>
            </a:r>
          </a:p>
          <a:p>
            <a:pPr marL="0" indent="0">
              <a:buNone/>
            </a:pPr>
            <a:r>
              <a:rPr lang="en-US" sz="1200" dirty="0">
                <a:solidFill>
                  <a:srgbClr val="0F1115"/>
                </a:solidFill>
                <a:latin typeface="quote-cjk-patch"/>
              </a:rPr>
              <a:t>A nested query is used to retrieve data that will be used in the selection condition of the main query. It is applied for:</a:t>
            </a:r>
          </a:p>
          <a:p>
            <a:pPr>
              <a:buFont typeface="Arial"/>
              <a:buChar char="•"/>
            </a:pPr>
            <a:r>
              <a:rPr lang="en-US" sz="1200" dirty="0">
                <a:solidFill>
                  <a:srgbClr val="0F1115"/>
                </a:solidFill>
                <a:latin typeface="quote-cjk-patch"/>
              </a:rPr>
              <a:t>Comparing an expression with the result of a nested query;</a:t>
            </a:r>
          </a:p>
          <a:p>
            <a:pPr>
              <a:buFont typeface="Arial"/>
              <a:buChar char="•"/>
            </a:pPr>
            <a:r>
              <a:rPr lang="en-US" sz="1200" dirty="0">
                <a:solidFill>
                  <a:srgbClr val="0F1115"/>
                </a:solidFill>
                <a:latin typeface="quote-cjk-patch"/>
              </a:rPr>
              <a:t>Determining whether an expression is included in the results of a nested query;</a:t>
            </a:r>
          </a:p>
          <a:p>
            <a:pPr>
              <a:buFont typeface="Arial"/>
              <a:buChar char="•"/>
            </a:pPr>
            <a:r>
              <a:rPr lang="en-US" sz="1200" dirty="0">
                <a:solidFill>
                  <a:srgbClr val="0F1115"/>
                </a:solidFill>
                <a:latin typeface="quote-cjk-patch"/>
              </a:rPr>
              <a:t>Checking if the query selects certain rows.</a:t>
            </a:r>
          </a:p>
          <a:p>
            <a:pPr marL="0" indent="0">
              <a:buNone/>
            </a:pPr>
            <a:r>
              <a:rPr lang="en-US" sz="1200" dirty="0">
                <a:solidFill>
                  <a:srgbClr val="0F1115"/>
                </a:solidFill>
                <a:latin typeface="quote-cjk-patch"/>
              </a:rPr>
              <a:t>A nested query consists of the following components:</a:t>
            </a:r>
          </a:p>
          <a:p>
            <a:pPr>
              <a:buFont typeface="Arial"/>
              <a:buChar char="•"/>
            </a:pPr>
            <a:r>
              <a:rPr lang="en-US" sz="1200" dirty="0">
                <a:solidFill>
                  <a:srgbClr val="0F1115"/>
                </a:solidFill>
                <a:latin typeface="quote-cjk-patch"/>
              </a:rPr>
              <a:t>The </a:t>
            </a:r>
            <a:r>
              <a:rPr lang="en-US" sz="1200" b="1" dirty="0">
                <a:solidFill>
                  <a:srgbClr val="0F1115"/>
                </a:solidFill>
                <a:latin typeface="quote-cjk-patch"/>
              </a:rPr>
              <a:t>SELECT</a:t>
            </a:r>
            <a:r>
              <a:rPr lang="en-US" sz="1200" dirty="0">
                <a:solidFill>
                  <a:srgbClr val="0F1115"/>
                </a:solidFill>
                <a:latin typeface="quote-cjk-patch"/>
              </a:rPr>
              <a:t> keyword followed by column names or expressions (most often the list contains one element);</a:t>
            </a:r>
          </a:p>
          <a:p>
            <a:pPr>
              <a:buFont typeface="Arial"/>
              <a:buChar char="•"/>
            </a:pPr>
            <a:r>
              <a:rPr lang="en-US" sz="1200" dirty="0">
                <a:solidFill>
                  <a:srgbClr val="0F1115"/>
                </a:solidFill>
                <a:latin typeface="quote-cjk-patch"/>
              </a:rPr>
              <a:t>The </a:t>
            </a:r>
            <a:r>
              <a:rPr lang="en-US" sz="1200" b="1" dirty="0">
                <a:solidFill>
                  <a:srgbClr val="0F1115"/>
                </a:solidFill>
                <a:latin typeface="quote-cjk-patch"/>
              </a:rPr>
              <a:t>FROM</a:t>
            </a:r>
            <a:r>
              <a:rPr lang="en-US" sz="1200" dirty="0">
                <a:solidFill>
                  <a:srgbClr val="0F1115"/>
                </a:solidFill>
                <a:latin typeface="quote-cjk-patch"/>
              </a:rPr>
              <a:t> keyword and the name of the table from which data is selected;</a:t>
            </a:r>
          </a:p>
          <a:p>
            <a:pPr>
              <a:buFont typeface="Arial"/>
              <a:buChar char="•"/>
            </a:pPr>
            <a:r>
              <a:rPr lang="en-US" sz="1200" dirty="0">
                <a:solidFill>
                  <a:srgbClr val="0F1115"/>
                </a:solidFill>
                <a:latin typeface="quote-cjk-patch"/>
              </a:rPr>
              <a:t>An optional </a:t>
            </a:r>
            <a:r>
              <a:rPr lang="en-US" sz="1200" b="1" dirty="0">
                <a:solidFill>
                  <a:srgbClr val="0F1115"/>
                </a:solidFill>
                <a:latin typeface="quote-cjk-patch"/>
              </a:rPr>
              <a:t>WHERE</a:t>
            </a:r>
            <a:r>
              <a:rPr lang="en-US" sz="1200" dirty="0">
                <a:solidFill>
                  <a:srgbClr val="0F1115"/>
                </a:solidFill>
                <a:latin typeface="quote-cjk-patch"/>
              </a:rPr>
              <a:t> clause;</a:t>
            </a:r>
          </a:p>
          <a:p>
            <a:pPr>
              <a:buFont typeface="Arial"/>
              <a:buChar char="•"/>
            </a:pPr>
            <a:r>
              <a:rPr lang="en-US" sz="1200" dirty="0">
                <a:solidFill>
                  <a:srgbClr val="0F1115"/>
                </a:solidFill>
                <a:latin typeface="quote-cjk-patch"/>
              </a:rPr>
              <a:t>An optional </a:t>
            </a:r>
            <a:r>
              <a:rPr lang="en-US" sz="1200" b="1" dirty="0">
                <a:solidFill>
                  <a:srgbClr val="0F1115"/>
                </a:solidFill>
                <a:latin typeface="quote-cjk-patch"/>
              </a:rPr>
              <a:t>GROUP BY</a:t>
            </a:r>
            <a:r>
              <a:rPr lang="en-US" sz="1200" dirty="0">
                <a:solidFill>
                  <a:srgbClr val="0F1115"/>
                </a:solidFill>
                <a:latin typeface="quote-cjk-patch"/>
              </a:rPr>
              <a:t> clause;</a:t>
            </a:r>
          </a:p>
          <a:p>
            <a:pPr>
              <a:buFont typeface="Arial"/>
              <a:buChar char="•"/>
            </a:pPr>
            <a:r>
              <a:rPr lang="en-US" sz="1200" dirty="0">
                <a:solidFill>
                  <a:srgbClr val="0F1115"/>
                </a:solidFill>
                <a:latin typeface="quote-cjk-patch"/>
              </a:rPr>
              <a:t>An optional </a:t>
            </a:r>
            <a:r>
              <a:rPr lang="en-US" sz="1200" b="1" dirty="0">
                <a:solidFill>
                  <a:srgbClr val="0F1115"/>
                </a:solidFill>
                <a:latin typeface="quote-cjk-patch"/>
              </a:rPr>
              <a:t>HAVING</a:t>
            </a:r>
            <a:r>
              <a:rPr lang="en-US" sz="1200" dirty="0">
                <a:solidFill>
                  <a:srgbClr val="0F1115"/>
                </a:solidFill>
                <a:latin typeface="quote-cjk-patch"/>
              </a:rPr>
              <a:t> clause.</a:t>
            </a:r>
          </a:p>
          <a:p>
            <a:pPr marL="0" indent="0">
              <a:buNone/>
            </a:pPr>
            <a:r>
              <a:rPr lang="en-US" sz="1200" dirty="0">
                <a:solidFill>
                  <a:srgbClr val="0F1115"/>
                </a:solidFill>
                <a:latin typeface="quote-cjk-patch"/>
              </a:rPr>
              <a:t>Nested queries can be included in </a:t>
            </a:r>
            <a:r>
              <a:rPr lang="en-US" sz="1200" b="1" dirty="0">
                <a:solidFill>
                  <a:srgbClr val="0F1115"/>
                </a:solidFill>
                <a:latin typeface="quote-cjk-patch"/>
              </a:rPr>
              <a:t>WHERE</a:t>
            </a:r>
            <a:r>
              <a:rPr lang="en-US" sz="1200" dirty="0">
                <a:solidFill>
                  <a:srgbClr val="0F1115"/>
                </a:solidFill>
                <a:latin typeface="quote-cjk-patch"/>
              </a:rPr>
              <a:t> or </a:t>
            </a:r>
            <a:r>
              <a:rPr lang="en-US" sz="1200" b="1" dirty="0">
                <a:solidFill>
                  <a:srgbClr val="0F1115"/>
                </a:solidFill>
                <a:latin typeface="quote-cjk-patch"/>
              </a:rPr>
              <a:t>HAVING</a:t>
            </a:r>
            <a:r>
              <a:rPr lang="en-US" sz="1200" dirty="0">
                <a:solidFill>
                  <a:srgbClr val="0F1115"/>
                </a:solidFill>
                <a:latin typeface="quote-cjk-patch"/>
              </a:rPr>
              <a:t> as follows (optional elements are indicated in square brackets, and | denotes one of the elements):</a:t>
            </a:r>
          </a:p>
          <a:p>
            <a:pPr>
              <a:buFont typeface="Arial"/>
              <a:buChar char="•"/>
            </a:pPr>
            <a:r>
              <a:rPr lang="en-US" sz="1200" dirty="0">
                <a:solidFill>
                  <a:srgbClr val="0F1115"/>
                </a:solidFill>
                <a:latin typeface="quote-cjk-patch"/>
              </a:rPr>
              <a:t>WHERE | HAVING expression </a:t>
            </a:r>
            <a:r>
              <a:rPr lang="en-US" sz="1200" dirty="0" err="1">
                <a:solidFill>
                  <a:srgbClr val="0F1115"/>
                </a:solidFill>
                <a:latin typeface="quote-cjk-patch"/>
              </a:rPr>
              <a:t>comparison_operator</a:t>
            </a:r>
            <a:r>
              <a:rPr lang="en-US" sz="1200" dirty="0">
                <a:solidFill>
                  <a:srgbClr val="0F1115"/>
                </a:solidFill>
                <a:latin typeface="quote-cjk-patch"/>
              </a:rPr>
              <a:t> (</a:t>
            </a:r>
            <a:r>
              <a:rPr lang="en-US" sz="1200" dirty="0" err="1">
                <a:solidFill>
                  <a:srgbClr val="0F1115"/>
                </a:solidFill>
                <a:latin typeface="quote-cjk-patch"/>
              </a:rPr>
              <a:t>subquery</a:t>
            </a:r>
            <a:r>
              <a:rPr lang="en-US" sz="1200" dirty="0">
                <a:solidFill>
                  <a:srgbClr val="0F1115"/>
                </a:solidFill>
                <a:latin typeface="quote-cjk-patch"/>
              </a:rPr>
              <a:t>);</a:t>
            </a:r>
          </a:p>
          <a:p>
            <a:pPr>
              <a:buFont typeface="Arial"/>
              <a:buChar char="•"/>
            </a:pPr>
            <a:r>
              <a:rPr lang="en-US" sz="1200" dirty="0">
                <a:solidFill>
                  <a:srgbClr val="0F1115"/>
                </a:solidFill>
                <a:latin typeface="quote-cjk-patch"/>
              </a:rPr>
              <a:t>WHERE | HAVING expression including a </a:t>
            </a:r>
            <a:r>
              <a:rPr lang="en-US" sz="1200" dirty="0" err="1">
                <a:solidFill>
                  <a:srgbClr val="0F1115"/>
                </a:solidFill>
                <a:latin typeface="quote-cjk-patch"/>
              </a:rPr>
              <a:t>subquery</a:t>
            </a:r>
            <a:r>
              <a:rPr lang="en-US" sz="1200" dirty="0">
                <a:solidFill>
                  <a:srgbClr val="0F1115"/>
                </a:solidFill>
                <a:latin typeface="quote-cjk-patch"/>
              </a:rPr>
              <a:t>;</a:t>
            </a:r>
          </a:p>
          <a:p>
            <a:pPr>
              <a:buFont typeface="Arial"/>
              <a:buChar char="•"/>
            </a:pPr>
            <a:r>
              <a:rPr lang="en-US" sz="1200" dirty="0">
                <a:solidFill>
                  <a:srgbClr val="0F1115"/>
                </a:solidFill>
                <a:latin typeface="quote-cjk-patch"/>
              </a:rPr>
              <a:t>WHERE | HAVING expression [NOT] IN (</a:t>
            </a:r>
            <a:r>
              <a:rPr lang="en-US" sz="1200" dirty="0" err="1">
                <a:solidFill>
                  <a:srgbClr val="0F1115"/>
                </a:solidFill>
                <a:latin typeface="quote-cjk-patch"/>
              </a:rPr>
              <a:t>subquery</a:t>
            </a:r>
            <a:r>
              <a:rPr lang="en-US" sz="1200" dirty="0">
                <a:solidFill>
                  <a:srgbClr val="0F1115"/>
                </a:solidFill>
                <a:latin typeface="quote-cjk-patch"/>
              </a:rPr>
              <a:t>);</a:t>
            </a:r>
          </a:p>
          <a:p>
            <a:pPr>
              <a:buFont typeface="Arial"/>
              <a:buChar char="•"/>
            </a:pPr>
            <a:r>
              <a:rPr lang="en-US" sz="1200" dirty="0">
                <a:solidFill>
                  <a:srgbClr val="0F1115"/>
                </a:solidFill>
                <a:latin typeface="quote-cjk-patch"/>
              </a:rPr>
              <a:t>WHERE | HAVING expression </a:t>
            </a:r>
            <a:r>
              <a:rPr lang="en-US" sz="1200" dirty="0" err="1">
                <a:solidFill>
                  <a:srgbClr val="0F1115"/>
                </a:solidFill>
                <a:latin typeface="quote-cjk-patch"/>
              </a:rPr>
              <a:t>comparison_operator</a:t>
            </a:r>
            <a:r>
              <a:rPr lang="en-US" sz="1200" dirty="0">
                <a:solidFill>
                  <a:srgbClr val="0F1115"/>
                </a:solidFill>
                <a:latin typeface="quote-cjk-patch"/>
              </a:rPr>
              <a:t> ANY | ALL (</a:t>
            </a:r>
            <a:r>
              <a:rPr lang="en-US" sz="1200" dirty="0" err="1">
                <a:solidFill>
                  <a:srgbClr val="0F1115"/>
                </a:solidFill>
                <a:latin typeface="quote-cjk-patch"/>
              </a:rPr>
              <a:t>subquery</a:t>
            </a:r>
            <a:r>
              <a:rPr lang="en-US" sz="1200" dirty="0">
                <a:solidFill>
                  <a:srgbClr val="0F1115"/>
                </a:solidFill>
                <a:latin typeface="quote-cjk-patch"/>
              </a:rPr>
              <a:t>).</a:t>
            </a:r>
            <a:endParaRPr lang="en-US" sz="1200" b="0" i="0" dirty="0">
              <a:solidFill>
                <a:srgbClr val="0F1115"/>
              </a:solidFill>
              <a:effectLst/>
              <a:latin typeface="quote-cjk-patch"/>
            </a:endParaRPr>
          </a:p>
        </p:txBody>
      </p:sp>
      <p:sp>
        <p:nvSpPr>
          <p:cNvPr id="4" name="AutoShape 2" descr="https://ucarecdn.com/708aa6d7-f879-41b4-8030-103e4b43754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665103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51520" y="-6230"/>
            <a:ext cx="8496944" cy="561756"/>
          </a:xfrm>
        </p:spPr>
        <p:txBody>
          <a:bodyPr>
            <a:noAutofit/>
          </a:bodyPr>
          <a:lstStyle/>
          <a:p>
            <a:r>
              <a:rPr lang="en-US" sz="2000" b="1" dirty="0" err="1"/>
              <a:t>Subquery</a:t>
            </a:r>
            <a:r>
              <a:rPr lang="en-US" sz="2000" b="1" dirty="0"/>
              <a:t> Returning a Single Value</a:t>
            </a:r>
            <a:endParaRPr lang="en-US" sz="2000" dirty="0"/>
          </a:p>
        </p:txBody>
      </p:sp>
      <p:sp>
        <p:nvSpPr>
          <p:cNvPr id="3" name="Объект 2"/>
          <p:cNvSpPr>
            <a:spLocks noGrp="1"/>
          </p:cNvSpPr>
          <p:nvPr>
            <p:ph idx="1"/>
          </p:nvPr>
        </p:nvSpPr>
        <p:spPr>
          <a:xfrm>
            <a:off x="323528" y="483518"/>
            <a:ext cx="8229600" cy="3960440"/>
          </a:xfrm>
        </p:spPr>
        <p:txBody>
          <a:bodyPr>
            <a:normAutofit/>
          </a:bodyPr>
          <a:lstStyle/>
          <a:p>
            <a:pPr marL="0" indent="0">
              <a:buNone/>
            </a:pPr>
            <a:r>
              <a:rPr lang="en-US" sz="1200" dirty="0"/>
              <a:t>A </a:t>
            </a:r>
            <a:r>
              <a:rPr lang="en-US" sz="1200" dirty="0" err="1"/>
              <a:t>subquery</a:t>
            </a:r>
            <a:r>
              <a:rPr lang="en-US" sz="1200" dirty="0"/>
              <a:t> that returns a single value can be used in the WHERE clause as a regular value with the operators =, &lt;&gt;, &gt;=, &lt;=, &gt;, &lt;.</a:t>
            </a:r>
          </a:p>
          <a:p>
            <a:pPr marL="0" indent="0">
              <a:buNone/>
            </a:pPr>
            <a:r>
              <a:rPr lang="en-US" sz="1200" b="1" dirty="0"/>
              <a:t>Example</a:t>
            </a:r>
            <a:endParaRPr lang="en-US" sz="1200" dirty="0"/>
          </a:p>
          <a:p>
            <a:pPr marL="0" indent="0">
              <a:buNone/>
            </a:pPr>
            <a:r>
              <a:rPr lang="en-US" sz="1200" dirty="0"/>
              <a:t>Display information about the cheapest books stored in the warehouse.</a:t>
            </a:r>
          </a:p>
          <a:p>
            <a:pPr marL="0" indent="0">
              <a:buNone/>
            </a:pPr>
            <a:r>
              <a:rPr lang="en-US" sz="1200" dirty="0"/>
              <a:t>To implement this query, we need to obtain the minimum price from the price column of the book table, and then display information about the books whose price equals this minimum. The first part — finding the minimum — is implemented using a </a:t>
            </a:r>
            <a:r>
              <a:rPr lang="en-US" sz="1200" dirty="0" err="1"/>
              <a:t>subquery</a:t>
            </a:r>
            <a:r>
              <a:rPr lang="en-US" sz="1200" dirty="0" smtClean="0"/>
              <a:t>.</a:t>
            </a:r>
            <a:endParaRPr lang="ru-RU" sz="1200" dirty="0" smtClean="0"/>
          </a:p>
          <a:p>
            <a:pPr marL="0" indent="0">
              <a:buNone/>
            </a:pPr>
            <a:r>
              <a:rPr lang="en-US" sz="1200" dirty="0">
                <a:solidFill>
                  <a:srgbClr val="000088"/>
                </a:solidFill>
                <a:latin typeface="JetBrains Mono"/>
              </a:rPr>
              <a:t>SELECT</a:t>
            </a:r>
            <a:r>
              <a:rPr lang="en-US" sz="1200" dirty="0">
                <a:solidFill>
                  <a:srgbClr val="000000"/>
                </a:solidFill>
                <a:latin typeface="JetBrains Mono"/>
              </a:rPr>
              <a:t> title, author, price, amount </a:t>
            </a:r>
            <a:endParaRPr lang="ru-RU" sz="1200" dirty="0" smtClean="0">
              <a:solidFill>
                <a:srgbClr val="000000"/>
              </a:solidFill>
              <a:latin typeface="JetBrains Mono"/>
            </a:endParaRPr>
          </a:p>
          <a:p>
            <a:pPr marL="0" indent="0">
              <a:buNone/>
            </a:pPr>
            <a:r>
              <a:rPr lang="en-US" sz="1200" dirty="0" smtClean="0">
                <a:solidFill>
                  <a:srgbClr val="000088"/>
                </a:solidFill>
                <a:latin typeface="JetBrains Mono"/>
              </a:rPr>
              <a:t>FROM</a:t>
            </a:r>
            <a:r>
              <a:rPr lang="en-US" sz="1200" dirty="0" smtClean="0">
                <a:solidFill>
                  <a:srgbClr val="000000"/>
                </a:solidFill>
                <a:latin typeface="JetBrains Mono"/>
              </a:rPr>
              <a:t> </a:t>
            </a:r>
            <a:r>
              <a:rPr lang="en-US" sz="1200" dirty="0">
                <a:solidFill>
                  <a:srgbClr val="000000"/>
                </a:solidFill>
                <a:latin typeface="JetBrains Mono"/>
              </a:rPr>
              <a:t>book </a:t>
            </a:r>
            <a:endParaRPr lang="ru-RU" sz="1200" dirty="0" smtClean="0">
              <a:solidFill>
                <a:srgbClr val="000000"/>
              </a:solidFill>
              <a:latin typeface="JetBrains Mono"/>
            </a:endParaRPr>
          </a:p>
          <a:p>
            <a:pPr marL="0" indent="0">
              <a:buNone/>
            </a:pPr>
            <a:r>
              <a:rPr lang="en-US" sz="1200" dirty="0" smtClean="0">
                <a:solidFill>
                  <a:srgbClr val="000088"/>
                </a:solidFill>
                <a:latin typeface="JetBrains Mono"/>
              </a:rPr>
              <a:t>WHERE</a:t>
            </a:r>
            <a:r>
              <a:rPr lang="en-US" sz="1200" dirty="0" smtClean="0">
                <a:solidFill>
                  <a:srgbClr val="000000"/>
                </a:solidFill>
                <a:latin typeface="JetBrains Mono"/>
              </a:rPr>
              <a:t> </a:t>
            </a:r>
            <a:r>
              <a:rPr lang="en-US" sz="1200" dirty="0">
                <a:solidFill>
                  <a:srgbClr val="000000"/>
                </a:solidFill>
                <a:latin typeface="JetBrains Mono"/>
              </a:rPr>
              <a:t>price = ( </a:t>
            </a:r>
            <a:endParaRPr lang="ru-RU" sz="1200" dirty="0" smtClean="0">
              <a:solidFill>
                <a:srgbClr val="000000"/>
              </a:solidFill>
              <a:latin typeface="JetBrains Mono"/>
            </a:endParaRPr>
          </a:p>
          <a:p>
            <a:pPr marL="0" indent="0">
              <a:buNone/>
            </a:pPr>
            <a:r>
              <a:rPr lang="ru-RU" sz="1200" dirty="0">
                <a:solidFill>
                  <a:srgbClr val="000000"/>
                </a:solidFill>
                <a:latin typeface="JetBrains Mono"/>
              </a:rPr>
              <a:t>	</a:t>
            </a:r>
            <a:r>
              <a:rPr lang="en-US" sz="1200" dirty="0" smtClean="0">
                <a:solidFill>
                  <a:srgbClr val="000088"/>
                </a:solidFill>
                <a:latin typeface="JetBrains Mono"/>
              </a:rPr>
              <a:t>SELECT</a:t>
            </a:r>
            <a:r>
              <a:rPr lang="en-US" sz="1200" dirty="0" smtClean="0">
                <a:solidFill>
                  <a:srgbClr val="000000"/>
                </a:solidFill>
                <a:latin typeface="JetBrains Mono"/>
              </a:rPr>
              <a:t> </a:t>
            </a:r>
            <a:r>
              <a:rPr lang="en-US" sz="1200" dirty="0">
                <a:solidFill>
                  <a:srgbClr val="660066"/>
                </a:solidFill>
                <a:latin typeface="JetBrains Mono"/>
              </a:rPr>
              <a:t>MIN</a:t>
            </a:r>
            <a:r>
              <a:rPr lang="en-US" sz="1200" dirty="0">
                <a:solidFill>
                  <a:srgbClr val="000000"/>
                </a:solidFill>
                <a:latin typeface="JetBrains Mono"/>
              </a:rPr>
              <a:t>(price) </a:t>
            </a:r>
            <a:endParaRPr lang="ru-RU" sz="1200" dirty="0" smtClean="0">
              <a:solidFill>
                <a:srgbClr val="000000"/>
              </a:solidFill>
              <a:latin typeface="JetBrains Mono"/>
            </a:endParaRPr>
          </a:p>
          <a:p>
            <a:pPr marL="0" indent="0">
              <a:buNone/>
            </a:pPr>
            <a:r>
              <a:rPr lang="ru-RU" sz="1200" dirty="0">
                <a:solidFill>
                  <a:srgbClr val="000000"/>
                </a:solidFill>
                <a:latin typeface="JetBrains Mono"/>
              </a:rPr>
              <a:t>	</a:t>
            </a:r>
            <a:r>
              <a:rPr lang="en-US" sz="1200" dirty="0" smtClean="0">
                <a:solidFill>
                  <a:srgbClr val="000088"/>
                </a:solidFill>
                <a:latin typeface="JetBrains Mono"/>
              </a:rPr>
              <a:t>FROM</a:t>
            </a:r>
            <a:r>
              <a:rPr lang="en-US" sz="1200" dirty="0" smtClean="0">
                <a:solidFill>
                  <a:srgbClr val="000000"/>
                </a:solidFill>
                <a:latin typeface="JetBrains Mono"/>
              </a:rPr>
              <a:t> </a:t>
            </a:r>
            <a:r>
              <a:rPr lang="en-US" sz="1200" dirty="0">
                <a:solidFill>
                  <a:srgbClr val="000000"/>
                </a:solidFill>
                <a:latin typeface="JetBrains Mono"/>
              </a:rPr>
              <a:t>book </a:t>
            </a:r>
            <a:endParaRPr lang="ru-RU" sz="1200" dirty="0" smtClean="0">
              <a:solidFill>
                <a:srgbClr val="000000"/>
              </a:solidFill>
              <a:latin typeface="JetBrains Mono"/>
            </a:endParaRPr>
          </a:p>
          <a:p>
            <a:pPr marL="0" indent="0">
              <a:buNone/>
            </a:pPr>
            <a:r>
              <a:rPr lang="ru-RU" sz="1200" dirty="0">
                <a:solidFill>
                  <a:srgbClr val="000000"/>
                </a:solidFill>
                <a:latin typeface="JetBrains Mono"/>
              </a:rPr>
              <a:t>	</a:t>
            </a:r>
            <a:r>
              <a:rPr lang="en-US" sz="1200" dirty="0" smtClean="0">
                <a:solidFill>
                  <a:srgbClr val="000000"/>
                </a:solidFill>
                <a:latin typeface="JetBrains Mono"/>
              </a:rPr>
              <a:t>);</a:t>
            </a:r>
            <a:endParaRPr lang="en-US" sz="1200" dirty="0"/>
          </a:p>
        </p:txBody>
      </p:sp>
      <p:sp>
        <p:nvSpPr>
          <p:cNvPr id="4" name="AutoShape 2" descr="https://ucarecdn.com/708aa6d7-f879-41b4-8030-103e4b43754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7601" y="3360168"/>
            <a:ext cx="3886200" cy="866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0038748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51520" y="-6230"/>
            <a:ext cx="8496944" cy="561756"/>
          </a:xfrm>
        </p:spPr>
        <p:txBody>
          <a:bodyPr>
            <a:noAutofit/>
          </a:bodyPr>
          <a:lstStyle/>
          <a:p>
            <a:r>
              <a:rPr lang="en-US" sz="2000" b="1" dirty="0"/>
              <a:t>Using a </a:t>
            </a:r>
            <a:r>
              <a:rPr lang="en-US" sz="2000" b="1" dirty="0" err="1"/>
              <a:t>Subquery</a:t>
            </a:r>
            <a:r>
              <a:rPr lang="en-US" sz="2000" b="1" dirty="0"/>
              <a:t> in an Expression</a:t>
            </a:r>
            <a:endParaRPr lang="en-US" sz="2000" dirty="0"/>
          </a:p>
        </p:txBody>
      </p:sp>
      <p:sp>
        <p:nvSpPr>
          <p:cNvPr id="3" name="Объект 2"/>
          <p:cNvSpPr>
            <a:spLocks noGrp="1"/>
          </p:cNvSpPr>
          <p:nvPr>
            <p:ph idx="1"/>
          </p:nvPr>
        </p:nvSpPr>
        <p:spPr>
          <a:xfrm>
            <a:off x="323528" y="483518"/>
            <a:ext cx="8229600" cy="3960440"/>
          </a:xfrm>
        </p:spPr>
        <p:txBody>
          <a:bodyPr>
            <a:normAutofit/>
          </a:bodyPr>
          <a:lstStyle/>
          <a:p>
            <a:pPr marL="0" indent="0">
              <a:buNone/>
            </a:pPr>
            <a:r>
              <a:rPr lang="en-US" sz="1200" dirty="0" smtClean="0"/>
              <a:t>A </a:t>
            </a:r>
            <a:r>
              <a:rPr lang="en-US" sz="1200" dirty="0" err="1"/>
              <a:t>subquery</a:t>
            </a:r>
            <a:r>
              <a:rPr lang="en-US" sz="1200" dirty="0"/>
              <a:t> that returns a single value can be used in expressions as a regular operand. For example, you can add to it, subtract from it, etc.</a:t>
            </a:r>
          </a:p>
          <a:p>
            <a:pPr marL="0" indent="0">
              <a:buNone/>
            </a:pPr>
            <a:r>
              <a:rPr lang="en-US" sz="1200" b="1" dirty="0"/>
              <a:t>Example</a:t>
            </a:r>
            <a:endParaRPr lang="en-US" sz="1200" dirty="0"/>
          </a:p>
          <a:p>
            <a:pPr marL="0" indent="0">
              <a:buNone/>
            </a:pPr>
            <a:r>
              <a:rPr lang="en-US" sz="1200" dirty="0"/>
              <a:t>Display information about books whose number of copies differs from the average number of book copies in the warehouse by more than 3. That is, you need to display books whose number of copies is either 3 less than the average or 3 more than the average.</a:t>
            </a:r>
          </a:p>
          <a:p>
            <a:pPr marL="0" indent="0">
              <a:buNone/>
            </a:pPr>
            <a:endParaRPr lang="ru-RU" sz="1200" dirty="0"/>
          </a:p>
          <a:p>
            <a:pPr marL="0" indent="0">
              <a:buNone/>
            </a:pPr>
            <a:r>
              <a:rPr lang="en-US" sz="1200" dirty="0">
                <a:solidFill>
                  <a:srgbClr val="000088"/>
                </a:solidFill>
                <a:latin typeface="JetBrains Mono"/>
              </a:rPr>
              <a:t>SELECT</a:t>
            </a:r>
            <a:r>
              <a:rPr lang="en-US" sz="1200" dirty="0">
                <a:solidFill>
                  <a:srgbClr val="000000"/>
                </a:solidFill>
                <a:latin typeface="JetBrains Mono"/>
              </a:rPr>
              <a:t> title, author, amount </a:t>
            </a:r>
            <a:endParaRPr lang="ru-RU" sz="1200" dirty="0" smtClean="0">
              <a:solidFill>
                <a:srgbClr val="000000"/>
              </a:solidFill>
              <a:latin typeface="JetBrains Mono"/>
            </a:endParaRPr>
          </a:p>
          <a:p>
            <a:pPr marL="0" indent="0">
              <a:buNone/>
            </a:pPr>
            <a:r>
              <a:rPr lang="en-US" sz="1200" dirty="0" smtClean="0">
                <a:solidFill>
                  <a:srgbClr val="000088"/>
                </a:solidFill>
                <a:latin typeface="JetBrains Mono"/>
              </a:rPr>
              <a:t>FROM</a:t>
            </a:r>
            <a:r>
              <a:rPr lang="en-US" sz="1200" dirty="0" smtClean="0">
                <a:solidFill>
                  <a:srgbClr val="000000"/>
                </a:solidFill>
                <a:latin typeface="JetBrains Mono"/>
              </a:rPr>
              <a:t> </a:t>
            </a:r>
            <a:r>
              <a:rPr lang="en-US" sz="1200" dirty="0">
                <a:solidFill>
                  <a:srgbClr val="000000"/>
                </a:solidFill>
                <a:latin typeface="JetBrains Mono"/>
              </a:rPr>
              <a:t>book </a:t>
            </a:r>
            <a:endParaRPr lang="ru-RU" sz="1200" dirty="0" smtClean="0">
              <a:solidFill>
                <a:srgbClr val="000000"/>
              </a:solidFill>
              <a:latin typeface="JetBrains Mono"/>
            </a:endParaRPr>
          </a:p>
          <a:p>
            <a:pPr marL="0" indent="0">
              <a:buNone/>
            </a:pPr>
            <a:r>
              <a:rPr lang="en-US" sz="1200" dirty="0" smtClean="0">
                <a:solidFill>
                  <a:srgbClr val="000088"/>
                </a:solidFill>
                <a:latin typeface="JetBrains Mono"/>
              </a:rPr>
              <a:t>WHERE</a:t>
            </a:r>
            <a:r>
              <a:rPr lang="en-US" sz="1200" dirty="0" smtClean="0">
                <a:solidFill>
                  <a:srgbClr val="000000"/>
                </a:solidFill>
                <a:latin typeface="JetBrains Mono"/>
              </a:rPr>
              <a:t> </a:t>
            </a:r>
            <a:r>
              <a:rPr lang="en-US" sz="1200" dirty="0">
                <a:solidFill>
                  <a:srgbClr val="660066"/>
                </a:solidFill>
                <a:latin typeface="JetBrains Mono"/>
              </a:rPr>
              <a:t>ABS</a:t>
            </a:r>
            <a:r>
              <a:rPr lang="en-US" sz="1200" dirty="0">
                <a:solidFill>
                  <a:srgbClr val="000000"/>
                </a:solidFill>
                <a:latin typeface="JetBrains Mono"/>
              </a:rPr>
              <a:t>(amount - (</a:t>
            </a:r>
            <a:r>
              <a:rPr lang="en-US" sz="1200" dirty="0">
                <a:solidFill>
                  <a:srgbClr val="000088"/>
                </a:solidFill>
                <a:latin typeface="JetBrains Mono"/>
              </a:rPr>
              <a:t>SELECT</a:t>
            </a:r>
            <a:r>
              <a:rPr lang="en-US" sz="1200" dirty="0">
                <a:solidFill>
                  <a:srgbClr val="000000"/>
                </a:solidFill>
                <a:latin typeface="JetBrains Mono"/>
              </a:rPr>
              <a:t> </a:t>
            </a:r>
            <a:r>
              <a:rPr lang="en-US" sz="1200" dirty="0">
                <a:solidFill>
                  <a:srgbClr val="660066"/>
                </a:solidFill>
                <a:latin typeface="JetBrains Mono"/>
              </a:rPr>
              <a:t>AVG</a:t>
            </a:r>
            <a:r>
              <a:rPr lang="en-US" sz="1200" dirty="0">
                <a:solidFill>
                  <a:srgbClr val="000000"/>
                </a:solidFill>
                <a:latin typeface="JetBrains Mono"/>
              </a:rPr>
              <a:t>(amount) </a:t>
            </a:r>
            <a:r>
              <a:rPr lang="en-US" sz="1200" dirty="0">
                <a:solidFill>
                  <a:srgbClr val="000088"/>
                </a:solidFill>
                <a:latin typeface="JetBrains Mono"/>
              </a:rPr>
              <a:t>FROM</a:t>
            </a:r>
            <a:r>
              <a:rPr lang="en-US" sz="1200" dirty="0">
                <a:solidFill>
                  <a:srgbClr val="000000"/>
                </a:solidFill>
                <a:latin typeface="JetBrains Mono"/>
              </a:rPr>
              <a:t> book)) &gt;</a:t>
            </a:r>
            <a:r>
              <a:rPr lang="en-US" sz="1200" dirty="0">
                <a:solidFill>
                  <a:srgbClr val="006666"/>
                </a:solidFill>
                <a:latin typeface="JetBrains Mono"/>
              </a:rPr>
              <a:t>3</a:t>
            </a:r>
            <a:r>
              <a:rPr lang="en-US" sz="1200" dirty="0">
                <a:solidFill>
                  <a:srgbClr val="000000"/>
                </a:solidFill>
                <a:latin typeface="JetBrains Mono"/>
              </a:rPr>
              <a:t>;</a:t>
            </a:r>
            <a:endParaRPr lang="ru-RU" sz="1200" dirty="0" smtClean="0"/>
          </a:p>
        </p:txBody>
      </p:sp>
      <p:sp>
        <p:nvSpPr>
          <p:cNvPr id="4" name="AutoShape 2" descr="https://ucarecdn.com/708aa6d7-f879-41b4-8030-103e4b43754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7744" y="3003798"/>
            <a:ext cx="4400550" cy="1152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9953208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51520" y="-6230"/>
            <a:ext cx="8496944" cy="561756"/>
          </a:xfrm>
        </p:spPr>
        <p:txBody>
          <a:bodyPr>
            <a:noAutofit/>
          </a:bodyPr>
          <a:lstStyle/>
          <a:p>
            <a:r>
              <a:rPr lang="en-US" sz="2000" b="1" dirty="0" err="1"/>
              <a:t>Subquery</a:t>
            </a:r>
            <a:r>
              <a:rPr lang="en-US" sz="2000" b="1" dirty="0"/>
              <a:t> with the IN Operator</a:t>
            </a:r>
            <a:endParaRPr lang="en-US" sz="2000" dirty="0"/>
          </a:p>
        </p:txBody>
      </p:sp>
      <p:sp>
        <p:nvSpPr>
          <p:cNvPr id="3" name="Объект 2"/>
          <p:cNvSpPr>
            <a:spLocks noGrp="1"/>
          </p:cNvSpPr>
          <p:nvPr>
            <p:ph idx="1"/>
          </p:nvPr>
        </p:nvSpPr>
        <p:spPr>
          <a:xfrm>
            <a:off x="323528" y="483518"/>
            <a:ext cx="8229600" cy="3960440"/>
          </a:xfrm>
        </p:spPr>
        <p:txBody>
          <a:bodyPr>
            <a:normAutofit/>
          </a:bodyPr>
          <a:lstStyle/>
          <a:p>
            <a:pPr marL="0" indent="0">
              <a:buNone/>
            </a:pPr>
            <a:r>
              <a:rPr lang="en-US" sz="1200" dirty="0"/>
              <a:t>A </a:t>
            </a:r>
            <a:r>
              <a:rPr lang="en-US" sz="1200" dirty="0" err="1"/>
              <a:t>subquery</a:t>
            </a:r>
            <a:r>
              <a:rPr lang="en-US" sz="1200" dirty="0"/>
              <a:t> can return multiple values from a single column. In this case, it can be used in the WHERE clause with the IN operator.</a:t>
            </a:r>
          </a:p>
          <a:p>
            <a:pPr marL="0" indent="0">
              <a:buNone/>
            </a:pPr>
            <a:r>
              <a:rPr lang="en-US" sz="1200" dirty="0"/>
              <a:t>WHERE </a:t>
            </a:r>
            <a:r>
              <a:rPr lang="en-US" sz="1200" dirty="0" err="1"/>
              <a:t>column_name</a:t>
            </a:r>
            <a:r>
              <a:rPr lang="en-US" sz="1200" dirty="0"/>
              <a:t> IN (</a:t>
            </a:r>
            <a:r>
              <a:rPr lang="en-US" sz="1200" dirty="0" err="1"/>
              <a:t>subquery</a:t>
            </a:r>
            <a:r>
              <a:rPr lang="en-US" sz="1200" dirty="0"/>
              <a:t> returning one column)</a:t>
            </a:r>
          </a:p>
          <a:p>
            <a:pPr marL="0" indent="0">
              <a:buNone/>
            </a:pPr>
            <a:r>
              <a:rPr lang="en-US" sz="1200" dirty="0"/>
              <a:t>The IN operator checks whether the value of a column matches one of the values returned by the </a:t>
            </a:r>
            <a:r>
              <a:rPr lang="en-US" sz="1200" dirty="0" err="1"/>
              <a:t>subquery</a:t>
            </a:r>
            <a:r>
              <a:rPr lang="en-US" sz="1200" dirty="0"/>
              <a:t>. If it does, the logical expression in the WHERE clause evaluates to true. The NOT IN operator performs the opposite action—the expression is true if the column value is not present in the </a:t>
            </a:r>
            <a:r>
              <a:rPr lang="en-US" sz="1200" dirty="0" err="1"/>
              <a:t>subquery</a:t>
            </a:r>
            <a:r>
              <a:rPr lang="en-US" sz="1200" dirty="0"/>
              <a:t> results.</a:t>
            </a:r>
          </a:p>
          <a:p>
            <a:pPr marL="0" indent="0">
              <a:buNone/>
            </a:pPr>
            <a:r>
              <a:rPr lang="en-US" sz="1200" b="1" dirty="0"/>
              <a:t>Example</a:t>
            </a:r>
            <a:endParaRPr lang="en-US" sz="1200" dirty="0"/>
          </a:p>
          <a:p>
            <a:pPr marL="0" indent="0">
              <a:buNone/>
            </a:pPr>
            <a:r>
              <a:rPr lang="en-US" sz="1200" dirty="0"/>
              <a:t>Display information about books by authors whose total number of book copies is at least 12.</a:t>
            </a:r>
          </a:p>
          <a:p>
            <a:pPr marL="0" indent="0">
              <a:buNone/>
            </a:pPr>
            <a:endParaRPr lang="ru-RU" sz="1200" dirty="0"/>
          </a:p>
          <a:p>
            <a:pPr marL="0" indent="0">
              <a:buNone/>
            </a:pPr>
            <a:r>
              <a:rPr lang="en-US" sz="1200" dirty="0">
                <a:solidFill>
                  <a:srgbClr val="000088"/>
                </a:solidFill>
                <a:latin typeface="JetBrains Mono"/>
              </a:rPr>
              <a:t>SELECT</a:t>
            </a:r>
            <a:r>
              <a:rPr lang="en-US" sz="1200" dirty="0">
                <a:solidFill>
                  <a:srgbClr val="000000"/>
                </a:solidFill>
                <a:latin typeface="JetBrains Mono"/>
              </a:rPr>
              <a:t> title, author, amount, price </a:t>
            </a:r>
            <a:endParaRPr lang="ru-RU" sz="1200" dirty="0" smtClean="0">
              <a:solidFill>
                <a:srgbClr val="000000"/>
              </a:solidFill>
              <a:latin typeface="JetBrains Mono"/>
            </a:endParaRPr>
          </a:p>
          <a:p>
            <a:pPr marL="0" indent="0">
              <a:buNone/>
            </a:pPr>
            <a:r>
              <a:rPr lang="en-US" sz="1200" dirty="0" smtClean="0">
                <a:solidFill>
                  <a:srgbClr val="000088"/>
                </a:solidFill>
                <a:latin typeface="JetBrains Mono"/>
              </a:rPr>
              <a:t>FROM</a:t>
            </a:r>
            <a:r>
              <a:rPr lang="en-US" sz="1200" dirty="0" smtClean="0">
                <a:solidFill>
                  <a:srgbClr val="000000"/>
                </a:solidFill>
                <a:latin typeface="JetBrains Mono"/>
              </a:rPr>
              <a:t> </a:t>
            </a:r>
            <a:r>
              <a:rPr lang="en-US" sz="1200" dirty="0">
                <a:solidFill>
                  <a:srgbClr val="000000"/>
                </a:solidFill>
                <a:latin typeface="JetBrains Mono"/>
              </a:rPr>
              <a:t>book </a:t>
            </a:r>
            <a:endParaRPr lang="ru-RU" sz="1200" dirty="0" smtClean="0">
              <a:solidFill>
                <a:srgbClr val="000000"/>
              </a:solidFill>
              <a:latin typeface="JetBrains Mono"/>
            </a:endParaRPr>
          </a:p>
          <a:p>
            <a:pPr marL="0" indent="0">
              <a:buNone/>
            </a:pPr>
            <a:r>
              <a:rPr lang="en-US" sz="1200" dirty="0" smtClean="0">
                <a:solidFill>
                  <a:srgbClr val="000088"/>
                </a:solidFill>
                <a:latin typeface="JetBrains Mono"/>
              </a:rPr>
              <a:t>WHERE</a:t>
            </a:r>
            <a:r>
              <a:rPr lang="en-US" sz="1200" dirty="0" smtClean="0">
                <a:solidFill>
                  <a:srgbClr val="000000"/>
                </a:solidFill>
                <a:latin typeface="JetBrains Mono"/>
              </a:rPr>
              <a:t> </a:t>
            </a:r>
            <a:r>
              <a:rPr lang="en-US" sz="1200" dirty="0">
                <a:solidFill>
                  <a:srgbClr val="000000"/>
                </a:solidFill>
                <a:latin typeface="JetBrains Mono"/>
              </a:rPr>
              <a:t>author </a:t>
            </a:r>
            <a:r>
              <a:rPr lang="en-US" sz="1200" dirty="0">
                <a:solidFill>
                  <a:srgbClr val="000088"/>
                </a:solidFill>
                <a:latin typeface="JetBrains Mono"/>
              </a:rPr>
              <a:t>IN</a:t>
            </a:r>
            <a:r>
              <a:rPr lang="en-US" sz="1200" dirty="0">
                <a:solidFill>
                  <a:srgbClr val="000000"/>
                </a:solidFill>
                <a:latin typeface="JetBrains Mono"/>
              </a:rPr>
              <a:t> ( </a:t>
            </a:r>
            <a:endParaRPr lang="ru-RU" sz="1200" dirty="0" smtClean="0">
              <a:solidFill>
                <a:srgbClr val="000000"/>
              </a:solidFill>
              <a:latin typeface="JetBrains Mono"/>
            </a:endParaRPr>
          </a:p>
          <a:p>
            <a:pPr marL="0" indent="0" defTabSz="893763">
              <a:buNone/>
            </a:pPr>
            <a:r>
              <a:rPr lang="ru-RU" sz="1200" dirty="0">
                <a:solidFill>
                  <a:srgbClr val="000000"/>
                </a:solidFill>
                <a:latin typeface="JetBrains Mono"/>
              </a:rPr>
              <a:t>	</a:t>
            </a:r>
            <a:r>
              <a:rPr lang="en-US" sz="1200" dirty="0" smtClean="0">
                <a:solidFill>
                  <a:srgbClr val="000088"/>
                </a:solidFill>
                <a:latin typeface="JetBrains Mono"/>
              </a:rPr>
              <a:t>SELECT</a:t>
            </a:r>
            <a:r>
              <a:rPr lang="en-US" sz="1200" dirty="0" smtClean="0">
                <a:solidFill>
                  <a:srgbClr val="000000"/>
                </a:solidFill>
                <a:latin typeface="JetBrains Mono"/>
              </a:rPr>
              <a:t> </a:t>
            </a:r>
            <a:r>
              <a:rPr lang="en-US" sz="1200" dirty="0">
                <a:solidFill>
                  <a:srgbClr val="000000"/>
                </a:solidFill>
                <a:latin typeface="JetBrains Mono"/>
              </a:rPr>
              <a:t>author </a:t>
            </a:r>
            <a:endParaRPr lang="ru-RU" sz="1200" dirty="0" smtClean="0">
              <a:solidFill>
                <a:srgbClr val="000000"/>
              </a:solidFill>
              <a:latin typeface="JetBrains Mono"/>
            </a:endParaRPr>
          </a:p>
          <a:p>
            <a:pPr marL="0" indent="893763" defTabSz="893763">
              <a:buNone/>
            </a:pPr>
            <a:r>
              <a:rPr lang="en-US" sz="1200" dirty="0" smtClean="0">
                <a:solidFill>
                  <a:srgbClr val="000088"/>
                </a:solidFill>
                <a:latin typeface="JetBrains Mono"/>
              </a:rPr>
              <a:t>FROM</a:t>
            </a:r>
            <a:r>
              <a:rPr lang="en-US" sz="1200" dirty="0" smtClean="0">
                <a:solidFill>
                  <a:srgbClr val="000000"/>
                </a:solidFill>
                <a:latin typeface="JetBrains Mono"/>
              </a:rPr>
              <a:t> </a:t>
            </a:r>
            <a:r>
              <a:rPr lang="en-US" sz="1200" dirty="0">
                <a:solidFill>
                  <a:srgbClr val="000000"/>
                </a:solidFill>
                <a:latin typeface="JetBrains Mono"/>
              </a:rPr>
              <a:t>book </a:t>
            </a:r>
            <a:endParaRPr lang="ru-RU" sz="1200" dirty="0" smtClean="0">
              <a:solidFill>
                <a:srgbClr val="000000"/>
              </a:solidFill>
              <a:latin typeface="JetBrains Mono"/>
            </a:endParaRPr>
          </a:p>
          <a:p>
            <a:pPr marL="0" indent="893763" defTabSz="893763">
              <a:buNone/>
            </a:pPr>
            <a:r>
              <a:rPr lang="en-US" sz="1200" dirty="0" smtClean="0">
                <a:solidFill>
                  <a:srgbClr val="000088"/>
                </a:solidFill>
                <a:latin typeface="JetBrains Mono"/>
              </a:rPr>
              <a:t>GROUP</a:t>
            </a:r>
            <a:r>
              <a:rPr lang="en-US" sz="1200" dirty="0" smtClean="0">
                <a:solidFill>
                  <a:srgbClr val="000000"/>
                </a:solidFill>
                <a:latin typeface="JetBrains Mono"/>
              </a:rPr>
              <a:t> </a:t>
            </a:r>
            <a:r>
              <a:rPr lang="en-US" sz="1200" dirty="0">
                <a:solidFill>
                  <a:srgbClr val="000088"/>
                </a:solidFill>
                <a:latin typeface="JetBrains Mono"/>
              </a:rPr>
              <a:t>BY</a:t>
            </a:r>
            <a:r>
              <a:rPr lang="en-US" sz="1200" dirty="0">
                <a:solidFill>
                  <a:srgbClr val="000000"/>
                </a:solidFill>
                <a:latin typeface="JetBrains Mono"/>
              </a:rPr>
              <a:t> author </a:t>
            </a:r>
            <a:endParaRPr lang="ru-RU" sz="1200" dirty="0" smtClean="0">
              <a:solidFill>
                <a:srgbClr val="000000"/>
              </a:solidFill>
              <a:latin typeface="JetBrains Mono"/>
            </a:endParaRPr>
          </a:p>
          <a:p>
            <a:pPr marL="0" indent="893763" defTabSz="893763">
              <a:buNone/>
            </a:pPr>
            <a:r>
              <a:rPr lang="en-US" sz="1200" dirty="0" smtClean="0">
                <a:solidFill>
                  <a:srgbClr val="000088"/>
                </a:solidFill>
                <a:latin typeface="JetBrains Mono"/>
              </a:rPr>
              <a:t>HAVING</a:t>
            </a:r>
            <a:r>
              <a:rPr lang="en-US" sz="1200" dirty="0" smtClean="0">
                <a:solidFill>
                  <a:srgbClr val="000000"/>
                </a:solidFill>
                <a:latin typeface="JetBrains Mono"/>
              </a:rPr>
              <a:t> </a:t>
            </a:r>
            <a:r>
              <a:rPr lang="en-US" sz="1200" dirty="0">
                <a:solidFill>
                  <a:srgbClr val="660066"/>
                </a:solidFill>
                <a:latin typeface="JetBrains Mono"/>
              </a:rPr>
              <a:t>SUM</a:t>
            </a:r>
            <a:r>
              <a:rPr lang="en-US" sz="1200" dirty="0">
                <a:solidFill>
                  <a:srgbClr val="000000"/>
                </a:solidFill>
                <a:latin typeface="JetBrains Mono"/>
              </a:rPr>
              <a:t>(amount) &gt;= </a:t>
            </a:r>
            <a:r>
              <a:rPr lang="en-US" sz="1200" dirty="0">
                <a:solidFill>
                  <a:srgbClr val="006666"/>
                </a:solidFill>
                <a:latin typeface="JetBrains Mono"/>
              </a:rPr>
              <a:t>12</a:t>
            </a:r>
            <a:r>
              <a:rPr lang="en-US" sz="1200" dirty="0">
                <a:solidFill>
                  <a:srgbClr val="000000"/>
                </a:solidFill>
                <a:latin typeface="JetBrains Mono"/>
              </a:rPr>
              <a:t> </a:t>
            </a:r>
            <a:endParaRPr lang="ru-RU" sz="1200" dirty="0" smtClean="0">
              <a:solidFill>
                <a:srgbClr val="000000"/>
              </a:solidFill>
              <a:latin typeface="JetBrains Mono"/>
            </a:endParaRPr>
          </a:p>
          <a:p>
            <a:pPr marL="0" indent="893763" defTabSz="893763">
              <a:buNone/>
            </a:pPr>
            <a:r>
              <a:rPr lang="en-US" sz="1200" dirty="0" smtClean="0">
                <a:solidFill>
                  <a:srgbClr val="000000"/>
                </a:solidFill>
                <a:latin typeface="JetBrains Mono"/>
              </a:rPr>
              <a:t>);</a:t>
            </a:r>
            <a:endParaRPr lang="ru-RU" sz="1200" dirty="0" smtClean="0"/>
          </a:p>
        </p:txBody>
      </p:sp>
      <p:sp>
        <p:nvSpPr>
          <p:cNvPr id="4" name="AutoShape 2" descr="https://ucarecdn.com/708aa6d7-f879-41b4-8030-103e4b43754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3728" y="3840523"/>
            <a:ext cx="4824536" cy="13029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707219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51520" y="-6230"/>
            <a:ext cx="8496944" cy="561756"/>
          </a:xfrm>
        </p:spPr>
        <p:txBody>
          <a:bodyPr>
            <a:noAutofit/>
          </a:bodyPr>
          <a:lstStyle/>
          <a:p>
            <a:r>
              <a:rPr lang="en-US" sz="2000" b="1" dirty="0" err="1"/>
              <a:t>Subquery</a:t>
            </a:r>
            <a:r>
              <a:rPr lang="en-US" sz="2000" b="1" dirty="0"/>
              <a:t> with the IN Operator</a:t>
            </a:r>
            <a:endParaRPr lang="en-US" sz="2000" dirty="0"/>
          </a:p>
        </p:txBody>
      </p:sp>
      <p:sp>
        <p:nvSpPr>
          <p:cNvPr id="3" name="Объект 2"/>
          <p:cNvSpPr>
            <a:spLocks noGrp="1"/>
          </p:cNvSpPr>
          <p:nvPr>
            <p:ph idx="1"/>
          </p:nvPr>
        </p:nvSpPr>
        <p:spPr>
          <a:xfrm>
            <a:off x="323528" y="483518"/>
            <a:ext cx="8229600" cy="3960440"/>
          </a:xfrm>
        </p:spPr>
        <p:txBody>
          <a:bodyPr>
            <a:normAutofit/>
          </a:bodyPr>
          <a:lstStyle/>
          <a:p>
            <a:pPr marL="0" indent="0">
              <a:buNone/>
            </a:pPr>
            <a:r>
              <a:rPr lang="en-US" sz="1200" dirty="0"/>
              <a:t>A </a:t>
            </a:r>
            <a:r>
              <a:rPr lang="en-US" sz="1200" dirty="0" err="1"/>
              <a:t>subquery</a:t>
            </a:r>
            <a:r>
              <a:rPr lang="en-US" sz="1200" dirty="0"/>
              <a:t> can return multiple values from a single column. In this case, it can be used in the WHERE clause with the IN operator.</a:t>
            </a:r>
          </a:p>
          <a:p>
            <a:pPr marL="0" indent="0">
              <a:buNone/>
            </a:pPr>
            <a:r>
              <a:rPr lang="en-US" sz="1200" dirty="0"/>
              <a:t>WHERE </a:t>
            </a:r>
            <a:r>
              <a:rPr lang="en-US" sz="1200" dirty="0" err="1"/>
              <a:t>column_name</a:t>
            </a:r>
            <a:r>
              <a:rPr lang="en-US" sz="1200" dirty="0"/>
              <a:t> IN (</a:t>
            </a:r>
            <a:r>
              <a:rPr lang="en-US" sz="1200" dirty="0" err="1"/>
              <a:t>subquery</a:t>
            </a:r>
            <a:r>
              <a:rPr lang="en-US" sz="1200" dirty="0"/>
              <a:t> returning one column)</a:t>
            </a:r>
          </a:p>
          <a:p>
            <a:pPr marL="0" indent="0">
              <a:buNone/>
            </a:pPr>
            <a:r>
              <a:rPr lang="en-US" sz="1200" dirty="0"/>
              <a:t>The IN operator checks whether the value of a column matches one of the values returned by the </a:t>
            </a:r>
            <a:r>
              <a:rPr lang="en-US" sz="1200" dirty="0" err="1"/>
              <a:t>subquery</a:t>
            </a:r>
            <a:r>
              <a:rPr lang="en-US" sz="1200" dirty="0"/>
              <a:t>. If it does, the logical expression in the WHERE clause evaluates to true. The NOT IN operator performs the opposite action—the expression is true if the column value is not present in the </a:t>
            </a:r>
            <a:r>
              <a:rPr lang="en-US" sz="1200" dirty="0" err="1"/>
              <a:t>subquery</a:t>
            </a:r>
            <a:r>
              <a:rPr lang="en-US" sz="1200" dirty="0"/>
              <a:t> results.</a:t>
            </a:r>
          </a:p>
          <a:p>
            <a:pPr marL="0" indent="0">
              <a:buNone/>
            </a:pPr>
            <a:r>
              <a:rPr lang="en-US" sz="1200" b="1" dirty="0"/>
              <a:t>Example</a:t>
            </a:r>
            <a:endParaRPr lang="en-US" sz="1200" dirty="0"/>
          </a:p>
          <a:p>
            <a:pPr marL="0" indent="0">
              <a:buNone/>
            </a:pPr>
            <a:r>
              <a:rPr lang="en-US" sz="1200" dirty="0"/>
              <a:t>Display information about books by authors whose total number of book copies is at least 12.</a:t>
            </a:r>
          </a:p>
          <a:p>
            <a:pPr marL="0" indent="0">
              <a:buNone/>
            </a:pPr>
            <a:endParaRPr lang="ru-RU" sz="1200" dirty="0"/>
          </a:p>
          <a:p>
            <a:pPr marL="0" indent="0">
              <a:buNone/>
            </a:pPr>
            <a:r>
              <a:rPr lang="en-US" sz="1200" dirty="0">
                <a:solidFill>
                  <a:srgbClr val="000088"/>
                </a:solidFill>
                <a:latin typeface="JetBrains Mono"/>
              </a:rPr>
              <a:t>SELECT</a:t>
            </a:r>
            <a:r>
              <a:rPr lang="en-US" sz="1200" dirty="0">
                <a:solidFill>
                  <a:srgbClr val="000000"/>
                </a:solidFill>
                <a:latin typeface="JetBrains Mono"/>
              </a:rPr>
              <a:t> title, author, amount, price </a:t>
            </a:r>
            <a:endParaRPr lang="ru-RU" sz="1200" dirty="0" smtClean="0">
              <a:solidFill>
                <a:srgbClr val="000000"/>
              </a:solidFill>
              <a:latin typeface="JetBrains Mono"/>
            </a:endParaRPr>
          </a:p>
          <a:p>
            <a:pPr marL="0" indent="0">
              <a:buNone/>
            </a:pPr>
            <a:r>
              <a:rPr lang="en-US" sz="1200" dirty="0" smtClean="0">
                <a:solidFill>
                  <a:srgbClr val="000088"/>
                </a:solidFill>
                <a:latin typeface="JetBrains Mono"/>
              </a:rPr>
              <a:t>FROM</a:t>
            </a:r>
            <a:r>
              <a:rPr lang="en-US" sz="1200" dirty="0" smtClean="0">
                <a:solidFill>
                  <a:srgbClr val="000000"/>
                </a:solidFill>
                <a:latin typeface="JetBrains Mono"/>
              </a:rPr>
              <a:t> </a:t>
            </a:r>
            <a:r>
              <a:rPr lang="en-US" sz="1200" dirty="0">
                <a:solidFill>
                  <a:srgbClr val="000000"/>
                </a:solidFill>
                <a:latin typeface="JetBrains Mono"/>
              </a:rPr>
              <a:t>book </a:t>
            </a:r>
            <a:endParaRPr lang="ru-RU" sz="1200" dirty="0" smtClean="0">
              <a:solidFill>
                <a:srgbClr val="000000"/>
              </a:solidFill>
              <a:latin typeface="JetBrains Mono"/>
            </a:endParaRPr>
          </a:p>
          <a:p>
            <a:pPr marL="0" indent="0">
              <a:buNone/>
            </a:pPr>
            <a:r>
              <a:rPr lang="en-US" sz="1200" dirty="0" smtClean="0">
                <a:solidFill>
                  <a:srgbClr val="000088"/>
                </a:solidFill>
                <a:latin typeface="JetBrains Mono"/>
              </a:rPr>
              <a:t>WHERE</a:t>
            </a:r>
            <a:r>
              <a:rPr lang="en-US" sz="1200" dirty="0" smtClean="0">
                <a:solidFill>
                  <a:srgbClr val="000000"/>
                </a:solidFill>
                <a:latin typeface="JetBrains Mono"/>
              </a:rPr>
              <a:t> </a:t>
            </a:r>
            <a:r>
              <a:rPr lang="en-US" sz="1200" dirty="0">
                <a:solidFill>
                  <a:srgbClr val="000000"/>
                </a:solidFill>
                <a:latin typeface="JetBrains Mono"/>
              </a:rPr>
              <a:t>author </a:t>
            </a:r>
            <a:r>
              <a:rPr lang="en-US" sz="1200" dirty="0">
                <a:solidFill>
                  <a:srgbClr val="000088"/>
                </a:solidFill>
                <a:latin typeface="JetBrains Mono"/>
              </a:rPr>
              <a:t>IN</a:t>
            </a:r>
            <a:r>
              <a:rPr lang="en-US" sz="1200" dirty="0">
                <a:solidFill>
                  <a:srgbClr val="000000"/>
                </a:solidFill>
                <a:latin typeface="JetBrains Mono"/>
              </a:rPr>
              <a:t> ( </a:t>
            </a:r>
            <a:endParaRPr lang="ru-RU" sz="1200" dirty="0" smtClean="0">
              <a:solidFill>
                <a:srgbClr val="000000"/>
              </a:solidFill>
              <a:latin typeface="JetBrains Mono"/>
            </a:endParaRPr>
          </a:p>
          <a:p>
            <a:pPr marL="0" indent="0" defTabSz="893763">
              <a:buNone/>
            </a:pPr>
            <a:r>
              <a:rPr lang="ru-RU" sz="1200" dirty="0">
                <a:solidFill>
                  <a:srgbClr val="000000"/>
                </a:solidFill>
                <a:latin typeface="JetBrains Mono"/>
              </a:rPr>
              <a:t>	</a:t>
            </a:r>
            <a:r>
              <a:rPr lang="en-US" sz="1200" dirty="0" smtClean="0">
                <a:solidFill>
                  <a:srgbClr val="000088"/>
                </a:solidFill>
                <a:latin typeface="JetBrains Mono"/>
              </a:rPr>
              <a:t>SELECT</a:t>
            </a:r>
            <a:r>
              <a:rPr lang="en-US" sz="1200" dirty="0" smtClean="0">
                <a:solidFill>
                  <a:srgbClr val="000000"/>
                </a:solidFill>
                <a:latin typeface="JetBrains Mono"/>
              </a:rPr>
              <a:t> </a:t>
            </a:r>
            <a:r>
              <a:rPr lang="en-US" sz="1200" dirty="0">
                <a:solidFill>
                  <a:srgbClr val="000000"/>
                </a:solidFill>
                <a:latin typeface="JetBrains Mono"/>
              </a:rPr>
              <a:t>author </a:t>
            </a:r>
            <a:endParaRPr lang="ru-RU" sz="1200" dirty="0" smtClean="0">
              <a:solidFill>
                <a:srgbClr val="000000"/>
              </a:solidFill>
              <a:latin typeface="JetBrains Mono"/>
            </a:endParaRPr>
          </a:p>
          <a:p>
            <a:pPr marL="0" indent="893763" defTabSz="893763">
              <a:buNone/>
            </a:pPr>
            <a:r>
              <a:rPr lang="en-US" sz="1200" dirty="0" smtClean="0">
                <a:solidFill>
                  <a:srgbClr val="000088"/>
                </a:solidFill>
                <a:latin typeface="JetBrains Mono"/>
              </a:rPr>
              <a:t>FROM</a:t>
            </a:r>
            <a:r>
              <a:rPr lang="en-US" sz="1200" dirty="0" smtClean="0">
                <a:solidFill>
                  <a:srgbClr val="000000"/>
                </a:solidFill>
                <a:latin typeface="JetBrains Mono"/>
              </a:rPr>
              <a:t> </a:t>
            </a:r>
            <a:r>
              <a:rPr lang="en-US" sz="1200" dirty="0">
                <a:solidFill>
                  <a:srgbClr val="000000"/>
                </a:solidFill>
                <a:latin typeface="JetBrains Mono"/>
              </a:rPr>
              <a:t>book </a:t>
            </a:r>
            <a:endParaRPr lang="ru-RU" sz="1200" dirty="0" smtClean="0">
              <a:solidFill>
                <a:srgbClr val="000000"/>
              </a:solidFill>
              <a:latin typeface="JetBrains Mono"/>
            </a:endParaRPr>
          </a:p>
          <a:p>
            <a:pPr marL="0" indent="893763" defTabSz="893763">
              <a:buNone/>
            </a:pPr>
            <a:r>
              <a:rPr lang="en-US" sz="1200" dirty="0" smtClean="0">
                <a:solidFill>
                  <a:srgbClr val="000088"/>
                </a:solidFill>
                <a:latin typeface="JetBrains Mono"/>
              </a:rPr>
              <a:t>GROUP</a:t>
            </a:r>
            <a:r>
              <a:rPr lang="en-US" sz="1200" dirty="0" smtClean="0">
                <a:solidFill>
                  <a:srgbClr val="000000"/>
                </a:solidFill>
                <a:latin typeface="JetBrains Mono"/>
              </a:rPr>
              <a:t> </a:t>
            </a:r>
            <a:r>
              <a:rPr lang="en-US" sz="1200" dirty="0">
                <a:solidFill>
                  <a:srgbClr val="000088"/>
                </a:solidFill>
                <a:latin typeface="JetBrains Mono"/>
              </a:rPr>
              <a:t>BY</a:t>
            </a:r>
            <a:r>
              <a:rPr lang="en-US" sz="1200" dirty="0">
                <a:solidFill>
                  <a:srgbClr val="000000"/>
                </a:solidFill>
                <a:latin typeface="JetBrains Mono"/>
              </a:rPr>
              <a:t> author </a:t>
            </a:r>
            <a:endParaRPr lang="ru-RU" sz="1200" dirty="0" smtClean="0">
              <a:solidFill>
                <a:srgbClr val="000000"/>
              </a:solidFill>
              <a:latin typeface="JetBrains Mono"/>
            </a:endParaRPr>
          </a:p>
          <a:p>
            <a:pPr marL="0" indent="893763" defTabSz="893763">
              <a:buNone/>
            </a:pPr>
            <a:r>
              <a:rPr lang="en-US" sz="1200" dirty="0" smtClean="0">
                <a:solidFill>
                  <a:srgbClr val="000088"/>
                </a:solidFill>
                <a:latin typeface="JetBrains Mono"/>
              </a:rPr>
              <a:t>HAVING</a:t>
            </a:r>
            <a:r>
              <a:rPr lang="en-US" sz="1200" dirty="0" smtClean="0">
                <a:solidFill>
                  <a:srgbClr val="000000"/>
                </a:solidFill>
                <a:latin typeface="JetBrains Mono"/>
              </a:rPr>
              <a:t> </a:t>
            </a:r>
            <a:r>
              <a:rPr lang="en-US" sz="1200" dirty="0">
                <a:solidFill>
                  <a:srgbClr val="660066"/>
                </a:solidFill>
                <a:latin typeface="JetBrains Mono"/>
              </a:rPr>
              <a:t>SUM</a:t>
            </a:r>
            <a:r>
              <a:rPr lang="en-US" sz="1200" dirty="0">
                <a:solidFill>
                  <a:srgbClr val="000000"/>
                </a:solidFill>
                <a:latin typeface="JetBrains Mono"/>
              </a:rPr>
              <a:t>(amount) &gt;= </a:t>
            </a:r>
            <a:r>
              <a:rPr lang="en-US" sz="1200" dirty="0">
                <a:solidFill>
                  <a:srgbClr val="006666"/>
                </a:solidFill>
                <a:latin typeface="JetBrains Mono"/>
              </a:rPr>
              <a:t>12</a:t>
            </a:r>
            <a:r>
              <a:rPr lang="en-US" sz="1200" dirty="0">
                <a:solidFill>
                  <a:srgbClr val="000000"/>
                </a:solidFill>
                <a:latin typeface="JetBrains Mono"/>
              </a:rPr>
              <a:t> </a:t>
            </a:r>
            <a:endParaRPr lang="ru-RU" sz="1200" dirty="0" smtClean="0">
              <a:solidFill>
                <a:srgbClr val="000000"/>
              </a:solidFill>
              <a:latin typeface="JetBrains Mono"/>
            </a:endParaRPr>
          </a:p>
          <a:p>
            <a:pPr marL="0" indent="893763" defTabSz="893763">
              <a:buNone/>
            </a:pPr>
            <a:r>
              <a:rPr lang="en-US" sz="1200" dirty="0" smtClean="0">
                <a:solidFill>
                  <a:srgbClr val="000000"/>
                </a:solidFill>
                <a:latin typeface="JetBrains Mono"/>
              </a:rPr>
              <a:t>);</a:t>
            </a:r>
            <a:endParaRPr lang="ru-RU" sz="1200" dirty="0" smtClean="0"/>
          </a:p>
        </p:txBody>
      </p:sp>
      <p:sp>
        <p:nvSpPr>
          <p:cNvPr id="4" name="AutoShape 2" descr="https://ucarecdn.com/708aa6d7-f879-41b4-8030-103e4b43754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3728" y="3840523"/>
            <a:ext cx="4824536" cy="13029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383207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51520" y="-6230"/>
            <a:ext cx="8496944" cy="561756"/>
          </a:xfrm>
        </p:spPr>
        <p:txBody>
          <a:bodyPr>
            <a:noAutofit/>
          </a:bodyPr>
          <a:lstStyle/>
          <a:p>
            <a:r>
              <a:rPr lang="en-US" sz="2000" b="1" dirty="0"/>
              <a:t>A </a:t>
            </a:r>
            <a:r>
              <a:rPr lang="en-US" sz="2000" b="1" dirty="0" err="1"/>
              <a:t>subquery</a:t>
            </a:r>
            <a:r>
              <a:rPr lang="en-US" sz="2000" b="1" dirty="0"/>
              <a:t> that returns a single value</a:t>
            </a:r>
            <a:endParaRPr lang="en-US" sz="2000" b="1" dirty="0"/>
          </a:p>
        </p:txBody>
      </p:sp>
      <p:sp>
        <p:nvSpPr>
          <p:cNvPr id="3" name="Объект 2"/>
          <p:cNvSpPr>
            <a:spLocks noGrp="1"/>
          </p:cNvSpPr>
          <p:nvPr>
            <p:ph idx="1"/>
          </p:nvPr>
        </p:nvSpPr>
        <p:spPr>
          <a:xfrm>
            <a:off x="323528" y="483518"/>
            <a:ext cx="8229600" cy="3960440"/>
          </a:xfrm>
        </p:spPr>
        <p:txBody>
          <a:bodyPr>
            <a:normAutofit/>
          </a:bodyPr>
          <a:lstStyle/>
          <a:p>
            <a:pPr marL="0" indent="0">
              <a:buNone/>
            </a:pPr>
            <a:r>
              <a:rPr lang="en-US" sz="1200" dirty="0"/>
              <a:t>A </a:t>
            </a:r>
            <a:r>
              <a:rPr lang="en-US" sz="1200" dirty="0" err="1"/>
              <a:t>subquery</a:t>
            </a:r>
            <a:r>
              <a:rPr lang="en-US" sz="1200" dirty="0"/>
              <a:t> that returns a single value can be used in the WHERE clause record selection condition as a regular value alongside the operators =, &lt;&gt;, &gt;=, &lt;=, &gt;, &lt;.</a:t>
            </a:r>
          </a:p>
          <a:p>
            <a:pPr marL="0" indent="0">
              <a:buNone/>
            </a:pPr>
            <a:r>
              <a:rPr lang="en-US" sz="1200" b="1" dirty="0"/>
              <a:t>Example</a:t>
            </a:r>
          </a:p>
          <a:p>
            <a:pPr marL="0" indent="0">
              <a:buNone/>
            </a:pPr>
            <a:r>
              <a:rPr lang="en-US" sz="1200" dirty="0"/>
              <a:t>Retrieve information about the cheapest books stored in the warehouse.</a:t>
            </a:r>
          </a:p>
          <a:p>
            <a:pPr marL="0" indent="0">
              <a:buNone/>
            </a:pPr>
            <a:r>
              <a:rPr lang="en-US" sz="1200" dirty="0"/>
              <a:t>To implement this query, we need to obtain the minimum price from the price column of the book table, and then display information about those books whose price equals the minimum. The first part – finding the minimum – is implemented by a </a:t>
            </a:r>
            <a:r>
              <a:rPr lang="en-US" sz="1200" dirty="0" err="1"/>
              <a:t>subquery</a:t>
            </a:r>
            <a:r>
              <a:rPr lang="en-US" sz="1200" dirty="0" smtClean="0"/>
              <a:t>.</a:t>
            </a:r>
            <a:endParaRPr lang="ru-RU" sz="1200" dirty="0" smtClean="0"/>
          </a:p>
          <a:p>
            <a:pPr marL="0" indent="0">
              <a:buNone/>
            </a:pPr>
            <a:endParaRPr lang="en-US" sz="1200" dirty="0"/>
          </a:p>
          <a:p>
            <a:pPr marL="0" indent="0" defTabSz="893763">
              <a:buNone/>
            </a:pPr>
            <a:r>
              <a:rPr lang="en-US" sz="1200" dirty="0">
                <a:solidFill>
                  <a:srgbClr val="000088"/>
                </a:solidFill>
                <a:latin typeface="JetBrains Mono"/>
              </a:rPr>
              <a:t>SELECT</a:t>
            </a:r>
            <a:r>
              <a:rPr lang="en-US" sz="1200" dirty="0">
                <a:solidFill>
                  <a:srgbClr val="000000"/>
                </a:solidFill>
                <a:latin typeface="JetBrains Mono"/>
              </a:rPr>
              <a:t> title, author, price, amount </a:t>
            </a:r>
            <a:endParaRPr lang="ru-RU" sz="1200" dirty="0" smtClean="0">
              <a:solidFill>
                <a:srgbClr val="000000"/>
              </a:solidFill>
              <a:latin typeface="JetBrains Mono"/>
            </a:endParaRPr>
          </a:p>
          <a:p>
            <a:pPr marL="0" indent="0" defTabSz="893763">
              <a:buNone/>
            </a:pPr>
            <a:r>
              <a:rPr lang="en-US" sz="1200" dirty="0" smtClean="0">
                <a:solidFill>
                  <a:srgbClr val="000088"/>
                </a:solidFill>
                <a:latin typeface="JetBrains Mono"/>
              </a:rPr>
              <a:t>FROM</a:t>
            </a:r>
            <a:r>
              <a:rPr lang="en-US" sz="1200" dirty="0" smtClean="0">
                <a:solidFill>
                  <a:srgbClr val="000000"/>
                </a:solidFill>
                <a:latin typeface="JetBrains Mono"/>
              </a:rPr>
              <a:t> </a:t>
            </a:r>
            <a:r>
              <a:rPr lang="en-US" sz="1200" dirty="0">
                <a:solidFill>
                  <a:srgbClr val="000000"/>
                </a:solidFill>
                <a:latin typeface="JetBrains Mono"/>
              </a:rPr>
              <a:t>book </a:t>
            </a:r>
            <a:endParaRPr lang="ru-RU" sz="1200" dirty="0" smtClean="0">
              <a:solidFill>
                <a:srgbClr val="000000"/>
              </a:solidFill>
              <a:latin typeface="JetBrains Mono"/>
            </a:endParaRPr>
          </a:p>
          <a:p>
            <a:pPr marL="0" indent="0" defTabSz="893763">
              <a:buNone/>
            </a:pPr>
            <a:r>
              <a:rPr lang="en-US" sz="1200" dirty="0" smtClean="0">
                <a:solidFill>
                  <a:srgbClr val="000088"/>
                </a:solidFill>
                <a:latin typeface="JetBrains Mono"/>
              </a:rPr>
              <a:t>WHERE</a:t>
            </a:r>
            <a:r>
              <a:rPr lang="en-US" sz="1200" dirty="0" smtClean="0">
                <a:solidFill>
                  <a:srgbClr val="000000"/>
                </a:solidFill>
                <a:latin typeface="JetBrains Mono"/>
              </a:rPr>
              <a:t> </a:t>
            </a:r>
            <a:r>
              <a:rPr lang="en-US" sz="1200" dirty="0">
                <a:solidFill>
                  <a:srgbClr val="000000"/>
                </a:solidFill>
                <a:latin typeface="JetBrains Mono"/>
              </a:rPr>
              <a:t>price = ( </a:t>
            </a:r>
            <a:endParaRPr lang="ru-RU" sz="1200" dirty="0" smtClean="0">
              <a:solidFill>
                <a:srgbClr val="000000"/>
              </a:solidFill>
              <a:latin typeface="JetBrains Mono"/>
            </a:endParaRPr>
          </a:p>
          <a:p>
            <a:pPr marL="0" indent="0" defTabSz="893763">
              <a:buNone/>
            </a:pPr>
            <a:r>
              <a:rPr lang="ru-RU" sz="1200" dirty="0">
                <a:solidFill>
                  <a:srgbClr val="000000"/>
                </a:solidFill>
                <a:latin typeface="JetBrains Mono"/>
              </a:rPr>
              <a:t>	</a:t>
            </a:r>
            <a:r>
              <a:rPr lang="en-US" sz="1200" dirty="0" smtClean="0">
                <a:solidFill>
                  <a:srgbClr val="000088"/>
                </a:solidFill>
                <a:latin typeface="JetBrains Mono"/>
              </a:rPr>
              <a:t>SELECT</a:t>
            </a:r>
            <a:r>
              <a:rPr lang="en-US" sz="1200" dirty="0" smtClean="0">
                <a:solidFill>
                  <a:srgbClr val="000000"/>
                </a:solidFill>
                <a:latin typeface="JetBrains Mono"/>
              </a:rPr>
              <a:t> </a:t>
            </a:r>
            <a:r>
              <a:rPr lang="en-US" sz="1200" dirty="0">
                <a:solidFill>
                  <a:srgbClr val="660066"/>
                </a:solidFill>
                <a:latin typeface="JetBrains Mono"/>
              </a:rPr>
              <a:t>MIN</a:t>
            </a:r>
            <a:r>
              <a:rPr lang="en-US" sz="1200" dirty="0">
                <a:solidFill>
                  <a:srgbClr val="000000"/>
                </a:solidFill>
                <a:latin typeface="JetBrains Mono"/>
              </a:rPr>
              <a:t>(price) </a:t>
            </a:r>
            <a:endParaRPr lang="ru-RU" sz="1200" dirty="0" smtClean="0">
              <a:solidFill>
                <a:srgbClr val="000000"/>
              </a:solidFill>
              <a:latin typeface="JetBrains Mono"/>
            </a:endParaRPr>
          </a:p>
          <a:p>
            <a:pPr marL="0" indent="0" defTabSz="893763">
              <a:buNone/>
            </a:pPr>
            <a:r>
              <a:rPr lang="ru-RU" sz="1200" dirty="0">
                <a:solidFill>
                  <a:srgbClr val="000000"/>
                </a:solidFill>
                <a:latin typeface="JetBrains Mono"/>
              </a:rPr>
              <a:t>	</a:t>
            </a:r>
            <a:r>
              <a:rPr lang="en-US" sz="1200" dirty="0" smtClean="0">
                <a:solidFill>
                  <a:srgbClr val="000088"/>
                </a:solidFill>
                <a:latin typeface="JetBrains Mono"/>
              </a:rPr>
              <a:t>FROM</a:t>
            </a:r>
            <a:r>
              <a:rPr lang="en-US" sz="1200" dirty="0" smtClean="0">
                <a:solidFill>
                  <a:srgbClr val="000000"/>
                </a:solidFill>
                <a:latin typeface="JetBrains Mono"/>
              </a:rPr>
              <a:t> </a:t>
            </a:r>
            <a:r>
              <a:rPr lang="en-US" sz="1200" dirty="0">
                <a:solidFill>
                  <a:srgbClr val="000000"/>
                </a:solidFill>
                <a:latin typeface="JetBrains Mono"/>
              </a:rPr>
              <a:t>book </a:t>
            </a:r>
            <a:endParaRPr lang="ru-RU" sz="1200" dirty="0" smtClean="0">
              <a:solidFill>
                <a:srgbClr val="000000"/>
              </a:solidFill>
              <a:latin typeface="JetBrains Mono"/>
            </a:endParaRPr>
          </a:p>
          <a:p>
            <a:pPr marL="0" indent="0" defTabSz="893763">
              <a:buNone/>
            </a:pPr>
            <a:r>
              <a:rPr lang="ru-RU" sz="1200" dirty="0">
                <a:solidFill>
                  <a:srgbClr val="000000"/>
                </a:solidFill>
                <a:latin typeface="JetBrains Mono"/>
              </a:rPr>
              <a:t>	 </a:t>
            </a:r>
            <a:r>
              <a:rPr lang="ru-RU" sz="1200" dirty="0" smtClean="0">
                <a:solidFill>
                  <a:srgbClr val="000000"/>
                </a:solidFill>
                <a:latin typeface="JetBrains Mono"/>
              </a:rPr>
              <a:t>    </a:t>
            </a:r>
            <a:r>
              <a:rPr lang="en-US" sz="1200" dirty="0" smtClean="0">
                <a:solidFill>
                  <a:srgbClr val="000000"/>
                </a:solidFill>
                <a:latin typeface="JetBrains Mono"/>
              </a:rPr>
              <a:t>);</a:t>
            </a:r>
            <a:endParaRPr lang="ru-RU" sz="1200" dirty="0" smtClean="0"/>
          </a:p>
        </p:txBody>
      </p:sp>
      <p:sp>
        <p:nvSpPr>
          <p:cNvPr id="4" name="AutoShape 2" descr="https://ucarecdn.com/708aa6d7-f879-41b4-8030-103e4b43754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3728" y="3651870"/>
            <a:ext cx="3857625" cy="866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760010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51520" y="-6230"/>
            <a:ext cx="8496944" cy="561756"/>
          </a:xfrm>
        </p:spPr>
        <p:txBody>
          <a:bodyPr>
            <a:noAutofit/>
          </a:bodyPr>
          <a:lstStyle/>
          <a:p>
            <a:r>
              <a:rPr lang="en-US" sz="2000" b="1" dirty="0"/>
              <a:t>Using a </a:t>
            </a:r>
            <a:r>
              <a:rPr lang="en-US" sz="2000" b="1" dirty="0" err="1"/>
              <a:t>subquery</a:t>
            </a:r>
            <a:r>
              <a:rPr lang="en-US" sz="2000" b="1" dirty="0"/>
              <a:t> in an expression</a:t>
            </a:r>
            <a:endParaRPr lang="en-US" sz="2000" b="1" dirty="0"/>
          </a:p>
        </p:txBody>
      </p:sp>
      <p:sp>
        <p:nvSpPr>
          <p:cNvPr id="3" name="Объект 2"/>
          <p:cNvSpPr>
            <a:spLocks noGrp="1"/>
          </p:cNvSpPr>
          <p:nvPr>
            <p:ph idx="1"/>
          </p:nvPr>
        </p:nvSpPr>
        <p:spPr>
          <a:xfrm>
            <a:off x="323528" y="483518"/>
            <a:ext cx="8229600" cy="3960440"/>
          </a:xfrm>
        </p:spPr>
        <p:txBody>
          <a:bodyPr>
            <a:normAutofit/>
          </a:bodyPr>
          <a:lstStyle/>
          <a:p>
            <a:pPr marL="0" indent="0">
              <a:buNone/>
            </a:pPr>
            <a:r>
              <a:rPr lang="en-US" sz="1200" dirty="0" smtClean="0"/>
              <a:t>A </a:t>
            </a:r>
            <a:r>
              <a:rPr lang="en-US" sz="1200" dirty="0" err="1"/>
              <a:t>subquery</a:t>
            </a:r>
            <a:r>
              <a:rPr lang="en-US" sz="1200" dirty="0"/>
              <a:t> that returns a single value can be used in expressions as a regular operand. For example, you can add to it, subtract from it, etc.</a:t>
            </a:r>
          </a:p>
          <a:p>
            <a:pPr marL="0" indent="0">
              <a:buNone/>
            </a:pPr>
            <a:r>
              <a:rPr lang="en-US" sz="1200" b="1" dirty="0"/>
              <a:t>Example</a:t>
            </a:r>
          </a:p>
          <a:p>
            <a:pPr marL="0" indent="0">
              <a:buNone/>
            </a:pPr>
            <a:r>
              <a:rPr lang="en-US" sz="1200" dirty="0"/>
              <a:t>Retrieve information about books whose number of copies differs from the average number of book copies in the warehouse by more than 3. That is, we need to list both books whose number of copies is 3 less than the average and those whose number of copies is 3 more than the average.</a:t>
            </a:r>
          </a:p>
          <a:p>
            <a:pPr marL="0" indent="0">
              <a:buNone/>
            </a:pPr>
            <a:endParaRPr lang="en-US" sz="1200" dirty="0"/>
          </a:p>
          <a:p>
            <a:pPr marL="0" indent="0" defTabSz="893763">
              <a:buNone/>
            </a:pPr>
            <a:r>
              <a:rPr lang="en-US" sz="1200" dirty="0">
                <a:solidFill>
                  <a:srgbClr val="000088"/>
                </a:solidFill>
                <a:latin typeface="JetBrains Mono"/>
              </a:rPr>
              <a:t>SELECT</a:t>
            </a:r>
            <a:r>
              <a:rPr lang="en-US" sz="1200" dirty="0">
                <a:solidFill>
                  <a:srgbClr val="000000"/>
                </a:solidFill>
                <a:latin typeface="JetBrains Mono"/>
              </a:rPr>
              <a:t> title, author, amount </a:t>
            </a:r>
            <a:endParaRPr lang="ru-RU" sz="1200" dirty="0" smtClean="0">
              <a:solidFill>
                <a:srgbClr val="000000"/>
              </a:solidFill>
              <a:latin typeface="JetBrains Mono"/>
            </a:endParaRPr>
          </a:p>
          <a:p>
            <a:pPr marL="0" indent="0" defTabSz="893763">
              <a:buNone/>
            </a:pPr>
            <a:r>
              <a:rPr lang="en-US" sz="1200" dirty="0" smtClean="0">
                <a:solidFill>
                  <a:srgbClr val="000088"/>
                </a:solidFill>
                <a:latin typeface="JetBrains Mono"/>
              </a:rPr>
              <a:t>FROM</a:t>
            </a:r>
            <a:r>
              <a:rPr lang="en-US" sz="1200" dirty="0" smtClean="0">
                <a:solidFill>
                  <a:srgbClr val="000000"/>
                </a:solidFill>
                <a:latin typeface="JetBrains Mono"/>
              </a:rPr>
              <a:t> </a:t>
            </a:r>
            <a:r>
              <a:rPr lang="en-US" sz="1200" dirty="0">
                <a:solidFill>
                  <a:srgbClr val="000000"/>
                </a:solidFill>
                <a:latin typeface="JetBrains Mono"/>
              </a:rPr>
              <a:t>book </a:t>
            </a:r>
            <a:endParaRPr lang="ru-RU" sz="1200" dirty="0" smtClean="0">
              <a:solidFill>
                <a:srgbClr val="000000"/>
              </a:solidFill>
              <a:latin typeface="JetBrains Mono"/>
            </a:endParaRPr>
          </a:p>
          <a:p>
            <a:pPr marL="0" indent="0" defTabSz="893763">
              <a:buNone/>
            </a:pPr>
            <a:r>
              <a:rPr lang="en-US" sz="1200" dirty="0" smtClean="0">
                <a:solidFill>
                  <a:srgbClr val="000088"/>
                </a:solidFill>
                <a:latin typeface="JetBrains Mono"/>
              </a:rPr>
              <a:t>WHERE</a:t>
            </a:r>
            <a:r>
              <a:rPr lang="en-US" sz="1200" dirty="0" smtClean="0">
                <a:solidFill>
                  <a:srgbClr val="000000"/>
                </a:solidFill>
                <a:latin typeface="JetBrains Mono"/>
              </a:rPr>
              <a:t> </a:t>
            </a:r>
            <a:r>
              <a:rPr lang="en-US" sz="1200" dirty="0">
                <a:solidFill>
                  <a:srgbClr val="660066"/>
                </a:solidFill>
                <a:latin typeface="JetBrains Mono"/>
              </a:rPr>
              <a:t>ABS</a:t>
            </a:r>
            <a:r>
              <a:rPr lang="en-US" sz="1200" dirty="0">
                <a:solidFill>
                  <a:srgbClr val="000000"/>
                </a:solidFill>
                <a:latin typeface="JetBrains Mono"/>
              </a:rPr>
              <a:t>(amount - </a:t>
            </a:r>
            <a:r>
              <a:rPr lang="en-US" sz="1200" dirty="0" smtClean="0">
                <a:solidFill>
                  <a:srgbClr val="000000"/>
                </a:solidFill>
                <a:latin typeface="JetBrains Mono"/>
              </a:rPr>
              <a:t>(</a:t>
            </a:r>
            <a:endParaRPr lang="ru-RU" sz="1200" dirty="0" smtClean="0">
              <a:solidFill>
                <a:srgbClr val="000000"/>
              </a:solidFill>
              <a:latin typeface="JetBrains Mono"/>
            </a:endParaRPr>
          </a:p>
          <a:p>
            <a:pPr marL="0" indent="0" defTabSz="893763">
              <a:buNone/>
            </a:pPr>
            <a:r>
              <a:rPr lang="ru-RU" sz="1200" dirty="0" smtClean="0">
                <a:solidFill>
                  <a:srgbClr val="000088"/>
                </a:solidFill>
                <a:latin typeface="JetBrains Mono"/>
              </a:rPr>
              <a:t>	</a:t>
            </a:r>
            <a:r>
              <a:rPr lang="en-US" sz="1200" dirty="0" smtClean="0">
                <a:solidFill>
                  <a:srgbClr val="000088"/>
                </a:solidFill>
                <a:latin typeface="JetBrains Mono"/>
              </a:rPr>
              <a:t>SELECT</a:t>
            </a:r>
            <a:r>
              <a:rPr lang="en-US" sz="1200" dirty="0" smtClean="0">
                <a:solidFill>
                  <a:srgbClr val="000000"/>
                </a:solidFill>
                <a:latin typeface="JetBrains Mono"/>
              </a:rPr>
              <a:t> </a:t>
            </a:r>
            <a:r>
              <a:rPr lang="en-US" sz="1200" dirty="0">
                <a:solidFill>
                  <a:srgbClr val="660066"/>
                </a:solidFill>
                <a:latin typeface="JetBrains Mono"/>
              </a:rPr>
              <a:t>AVG</a:t>
            </a:r>
            <a:r>
              <a:rPr lang="en-US" sz="1200" dirty="0">
                <a:solidFill>
                  <a:srgbClr val="000000"/>
                </a:solidFill>
                <a:latin typeface="JetBrains Mono"/>
              </a:rPr>
              <a:t>(amount) </a:t>
            </a:r>
            <a:endParaRPr lang="ru-RU" sz="1200" dirty="0" smtClean="0">
              <a:solidFill>
                <a:srgbClr val="000000"/>
              </a:solidFill>
              <a:latin typeface="JetBrains Mono"/>
            </a:endParaRPr>
          </a:p>
          <a:p>
            <a:pPr marL="0" indent="0" defTabSz="893763">
              <a:buNone/>
            </a:pPr>
            <a:r>
              <a:rPr lang="ru-RU" sz="1200" dirty="0" smtClean="0">
                <a:solidFill>
                  <a:srgbClr val="000088"/>
                </a:solidFill>
                <a:latin typeface="JetBrains Mono"/>
              </a:rPr>
              <a:t>	</a:t>
            </a:r>
            <a:r>
              <a:rPr lang="en-US" sz="1200" dirty="0" smtClean="0">
                <a:solidFill>
                  <a:srgbClr val="000088"/>
                </a:solidFill>
                <a:latin typeface="JetBrains Mono"/>
              </a:rPr>
              <a:t>FROM</a:t>
            </a:r>
            <a:r>
              <a:rPr lang="en-US" sz="1200" dirty="0" smtClean="0">
                <a:solidFill>
                  <a:srgbClr val="000000"/>
                </a:solidFill>
                <a:latin typeface="JetBrains Mono"/>
              </a:rPr>
              <a:t> </a:t>
            </a:r>
            <a:r>
              <a:rPr lang="en-US" sz="1200" dirty="0">
                <a:solidFill>
                  <a:srgbClr val="000000"/>
                </a:solidFill>
                <a:latin typeface="JetBrains Mono"/>
              </a:rPr>
              <a:t>book</a:t>
            </a:r>
            <a:r>
              <a:rPr lang="en-US" sz="1200" dirty="0" smtClean="0">
                <a:solidFill>
                  <a:srgbClr val="000000"/>
                </a:solidFill>
                <a:latin typeface="JetBrains Mono"/>
              </a:rPr>
              <a:t>)</a:t>
            </a:r>
            <a:endParaRPr lang="ru-RU" sz="1200" dirty="0" smtClean="0">
              <a:solidFill>
                <a:srgbClr val="000000"/>
              </a:solidFill>
              <a:latin typeface="JetBrains Mono"/>
            </a:endParaRPr>
          </a:p>
          <a:p>
            <a:pPr marL="0" indent="0" defTabSz="893763">
              <a:buNone/>
            </a:pPr>
            <a:r>
              <a:rPr lang="ru-RU" sz="1200" dirty="0" smtClean="0">
                <a:solidFill>
                  <a:srgbClr val="000000"/>
                </a:solidFill>
                <a:latin typeface="JetBrains Mono"/>
              </a:rPr>
              <a:t>	</a:t>
            </a:r>
            <a:r>
              <a:rPr lang="en-US" sz="1200" dirty="0" smtClean="0">
                <a:solidFill>
                  <a:srgbClr val="000000"/>
                </a:solidFill>
                <a:latin typeface="JetBrains Mono"/>
              </a:rPr>
              <a:t>) </a:t>
            </a:r>
            <a:r>
              <a:rPr lang="en-US" sz="1200" dirty="0">
                <a:solidFill>
                  <a:srgbClr val="000000"/>
                </a:solidFill>
                <a:latin typeface="JetBrains Mono"/>
              </a:rPr>
              <a:t>&gt;</a:t>
            </a:r>
            <a:r>
              <a:rPr lang="en-US" sz="1200" dirty="0">
                <a:solidFill>
                  <a:srgbClr val="006666"/>
                </a:solidFill>
                <a:latin typeface="JetBrains Mono"/>
              </a:rPr>
              <a:t>3</a:t>
            </a:r>
            <a:r>
              <a:rPr lang="en-US" sz="1200" dirty="0">
                <a:solidFill>
                  <a:srgbClr val="000000"/>
                </a:solidFill>
                <a:latin typeface="JetBrains Mono"/>
              </a:rPr>
              <a:t>;</a:t>
            </a:r>
            <a:endParaRPr lang="ru-RU" sz="1200" dirty="0" smtClean="0"/>
          </a:p>
        </p:txBody>
      </p:sp>
      <p:sp>
        <p:nvSpPr>
          <p:cNvPr id="4" name="AutoShape 2" descr="https://ucarecdn.com/708aa6d7-f879-41b4-8030-103e4b43754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720" y="3291830"/>
            <a:ext cx="4429125"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955003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51520" y="-6230"/>
            <a:ext cx="8496944" cy="345732"/>
          </a:xfrm>
        </p:spPr>
        <p:txBody>
          <a:bodyPr>
            <a:noAutofit/>
          </a:bodyPr>
          <a:lstStyle/>
          <a:p>
            <a:r>
              <a:rPr lang="en-US" sz="2000" b="1" dirty="0" err="1"/>
              <a:t>Subquery</a:t>
            </a:r>
            <a:r>
              <a:rPr lang="en-US" sz="2000" b="1" dirty="0"/>
              <a:t>, IN operator</a:t>
            </a:r>
            <a:endParaRPr lang="en-US" sz="2000" b="1" dirty="0"/>
          </a:p>
        </p:txBody>
      </p:sp>
      <p:sp>
        <p:nvSpPr>
          <p:cNvPr id="3" name="Объект 2"/>
          <p:cNvSpPr>
            <a:spLocks noGrp="1"/>
          </p:cNvSpPr>
          <p:nvPr>
            <p:ph idx="1"/>
          </p:nvPr>
        </p:nvSpPr>
        <p:spPr>
          <a:xfrm>
            <a:off x="307975" y="339502"/>
            <a:ext cx="8229600" cy="3960440"/>
          </a:xfrm>
        </p:spPr>
        <p:txBody>
          <a:bodyPr>
            <a:normAutofit/>
          </a:bodyPr>
          <a:lstStyle/>
          <a:p>
            <a:pPr marL="0" indent="0">
              <a:buNone/>
            </a:pPr>
            <a:r>
              <a:rPr lang="en-US" sz="1200" dirty="0" smtClean="0"/>
              <a:t>A </a:t>
            </a:r>
            <a:r>
              <a:rPr lang="en-US" sz="1200" dirty="0" err="1"/>
              <a:t>subquery</a:t>
            </a:r>
            <a:r>
              <a:rPr lang="en-US" sz="1200" dirty="0"/>
              <a:t> can return multiple values from a single column. In this case, it can be used in the WHERE clause with the IN operator.</a:t>
            </a:r>
          </a:p>
          <a:p>
            <a:pPr marL="0" indent="0">
              <a:buNone/>
            </a:pPr>
            <a:r>
              <a:rPr lang="en-US" sz="1200" dirty="0"/>
              <a:t>WHERE </a:t>
            </a:r>
            <a:r>
              <a:rPr lang="en-US" sz="1200" dirty="0" err="1"/>
              <a:t>column_name</a:t>
            </a:r>
            <a:r>
              <a:rPr lang="en-US" sz="1200" dirty="0"/>
              <a:t> IN (</a:t>
            </a:r>
            <a:r>
              <a:rPr lang="en-US" sz="1200" dirty="0" err="1"/>
              <a:t>subquery</a:t>
            </a:r>
            <a:r>
              <a:rPr lang="en-US" sz="1200" dirty="0"/>
              <a:t> returning a single column)</a:t>
            </a:r>
          </a:p>
          <a:p>
            <a:pPr marL="0" indent="0">
              <a:buNone/>
            </a:pPr>
            <a:r>
              <a:rPr lang="en-US" sz="1200" dirty="0"/>
              <a:t>The IN operator checks whether the column value matches one of the values contained in the </a:t>
            </a:r>
            <a:r>
              <a:rPr lang="en-US" sz="1200" dirty="0" err="1"/>
              <a:t>subquery</a:t>
            </a:r>
            <a:r>
              <a:rPr lang="en-US" sz="1200" dirty="0"/>
              <a:t>. When it does, the logical expression after WHERE evaluates to true. The NOT IN operator performs the reverse action - the expression is true if the column value is not contained in the </a:t>
            </a:r>
            <a:r>
              <a:rPr lang="en-US" sz="1200" dirty="0" err="1"/>
              <a:t>subquery</a:t>
            </a:r>
            <a:r>
              <a:rPr lang="en-US" sz="1200" dirty="0"/>
              <a:t>.</a:t>
            </a:r>
          </a:p>
          <a:p>
            <a:pPr marL="0" indent="0">
              <a:buNone/>
            </a:pPr>
            <a:r>
              <a:rPr lang="en-US" sz="1200" b="1" dirty="0"/>
              <a:t>Example</a:t>
            </a:r>
          </a:p>
          <a:p>
            <a:pPr marL="0" indent="0">
              <a:buNone/>
            </a:pPr>
            <a:r>
              <a:rPr lang="en-US" sz="1200" dirty="0"/>
              <a:t>Display information about books by authors whose total number of book copies is at least 12.</a:t>
            </a:r>
          </a:p>
          <a:p>
            <a:pPr marL="0" indent="0" defTabSz="893763">
              <a:buNone/>
            </a:pPr>
            <a:r>
              <a:rPr lang="en-US" sz="1200" dirty="0" smtClean="0">
                <a:solidFill>
                  <a:srgbClr val="000088"/>
                </a:solidFill>
                <a:latin typeface="JetBrains Mono"/>
              </a:rPr>
              <a:t>SELECT</a:t>
            </a:r>
            <a:r>
              <a:rPr lang="en-US" sz="1200" dirty="0" smtClean="0">
                <a:solidFill>
                  <a:srgbClr val="000000"/>
                </a:solidFill>
                <a:latin typeface="JetBrains Mono"/>
              </a:rPr>
              <a:t> </a:t>
            </a:r>
            <a:r>
              <a:rPr lang="en-US" sz="1200" dirty="0">
                <a:solidFill>
                  <a:srgbClr val="000000"/>
                </a:solidFill>
                <a:latin typeface="JetBrains Mono"/>
              </a:rPr>
              <a:t>title, author, amount, price </a:t>
            </a:r>
            <a:endParaRPr lang="ru-RU" sz="1200" dirty="0" smtClean="0">
              <a:solidFill>
                <a:srgbClr val="000000"/>
              </a:solidFill>
              <a:latin typeface="JetBrains Mono"/>
            </a:endParaRPr>
          </a:p>
          <a:p>
            <a:pPr marL="0" indent="0" defTabSz="893763">
              <a:buNone/>
            </a:pPr>
            <a:r>
              <a:rPr lang="en-US" sz="1200" dirty="0" smtClean="0">
                <a:solidFill>
                  <a:srgbClr val="000088"/>
                </a:solidFill>
                <a:latin typeface="JetBrains Mono"/>
              </a:rPr>
              <a:t>FROM</a:t>
            </a:r>
            <a:r>
              <a:rPr lang="en-US" sz="1200" dirty="0" smtClean="0">
                <a:solidFill>
                  <a:srgbClr val="000000"/>
                </a:solidFill>
                <a:latin typeface="JetBrains Mono"/>
              </a:rPr>
              <a:t> </a:t>
            </a:r>
            <a:r>
              <a:rPr lang="en-US" sz="1200" dirty="0">
                <a:solidFill>
                  <a:srgbClr val="000000"/>
                </a:solidFill>
                <a:latin typeface="JetBrains Mono"/>
              </a:rPr>
              <a:t>book </a:t>
            </a:r>
            <a:endParaRPr lang="ru-RU" sz="1200" dirty="0" smtClean="0">
              <a:solidFill>
                <a:srgbClr val="000000"/>
              </a:solidFill>
              <a:latin typeface="JetBrains Mono"/>
            </a:endParaRPr>
          </a:p>
          <a:p>
            <a:pPr marL="0" indent="0" defTabSz="893763">
              <a:buNone/>
            </a:pPr>
            <a:r>
              <a:rPr lang="en-US" sz="1200" dirty="0" smtClean="0">
                <a:solidFill>
                  <a:srgbClr val="000088"/>
                </a:solidFill>
                <a:latin typeface="JetBrains Mono"/>
              </a:rPr>
              <a:t>WHERE</a:t>
            </a:r>
            <a:r>
              <a:rPr lang="en-US" sz="1200" dirty="0" smtClean="0">
                <a:solidFill>
                  <a:srgbClr val="000000"/>
                </a:solidFill>
                <a:latin typeface="JetBrains Mono"/>
              </a:rPr>
              <a:t> </a:t>
            </a:r>
            <a:r>
              <a:rPr lang="en-US" sz="1200" dirty="0">
                <a:solidFill>
                  <a:srgbClr val="000000"/>
                </a:solidFill>
                <a:latin typeface="JetBrains Mono"/>
              </a:rPr>
              <a:t>author </a:t>
            </a:r>
            <a:r>
              <a:rPr lang="en-US" sz="1200" dirty="0">
                <a:solidFill>
                  <a:srgbClr val="000088"/>
                </a:solidFill>
                <a:latin typeface="JetBrains Mono"/>
              </a:rPr>
              <a:t>IN</a:t>
            </a:r>
            <a:r>
              <a:rPr lang="en-US" sz="1200" dirty="0">
                <a:solidFill>
                  <a:srgbClr val="000000"/>
                </a:solidFill>
                <a:latin typeface="JetBrains Mono"/>
              </a:rPr>
              <a:t> ( </a:t>
            </a:r>
            <a:endParaRPr lang="ru-RU" sz="1200" dirty="0" smtClean="0">
              <a:solidFill>
                <a:srgbClr val="000000"/>
              </a:solidFill>
              <a:latin typeface="JetBrains Mono"/>
            </a:endParaRPr>
          </a:p>
          <a:p>
            <a:pPr marL="0" indent="989013" defTabSz="893763">
              <a:buNone/>
            </a:pPr>
            <a:r>
              <a:rPr lang="en-US" sz="1200" dirty="0" smtClean="0">
                <a:solidFill>
                  <a:srgbClr val="000088"/>
                </a:solidFill>
                <a:latin typeface="JetBrains Mono"/>
              </a:rPr>
              <a:t>SELECT</a:t>
            </a:r>
            <a:r>
              <a:rPr lang="en-US" sz="1200" dirty="0" smtClean="0">
                <a:solidFill>
                  <a:srgbClr val="000000"/>
                </a:solidFill>
                <a:latin typeface="JetBrains Mono"/>
              </a:rPr>
              <a:t> </a:t>
            </a:r>
            <a:r>
              <a:rPr lang="en-US" sz="1200" dirty="0">
                <a:solidFill>
                  <a:srgbClr val="000000"/>
                </a:solidFill>
                <a:latin typeface="JetBrains Mono"/>
              </a:rPr>
              <a:t>author </a:t>
            </a:r>
            <a:endParaRPr lang="ru-RU" sz="1200" dirty="0" smtClean="0">
              <a:solidFill>
                <a:srgbClr val="000000"/>
              </a:solidFill>
              <a:latin typeface="JetBrains Mono"/>
            </a:endParaRPr>
          </a:p>
          <a:p>
            <a:pPr marL="0" indent="989013" defTabSz="893763">
              <a:buNone/>
            </a:pPr>
            <a:r>
              <a:rPr lang="en-US" sz="1200" dirty="0" smtClean="0">
                <a:solidFill>
                  <a:srgbClr val="000088"/>
                </a:solidFill>
                <a:latin typeface="JetBrains Mono"/>
              </a:rPr>
              <a:t>FROM</a:t>
            </a:r>
            <a:r>
              <a:rPr lang="en-US" sz="1200" dirty="0" smtClean="0">
                <a:solidFill>
                  <a:srgbClr val="000000"/>
                </a:solidFill>
                <a:latin typeface="JetBrains Mono"/>
              </a:rPr>
              <a:t> </a:t>
            </a:r>
            <a:r>
              <a:rPr lang="en-US" sz="1200" dirty="0">
                <a:solidFill>
                  <a:srgbClr val="000000"/>
                </a:solidFill>
                <a:latin typeface="JetBrains Mono"/>
              </a:rPr>
              <a:t>book </a:t>
            </a:r>
            <a:endParaRPr lang="ru-RU" sz="1200" dirty="0" smtClean="0">
              <a:solidFill>
                <a:srgbClr val="000000"/>
              </a:solidFill>
              <a:latin typeface="JetBrains Mono"/>
            </a:endParaRPr>
          </a:p>
          <a:p>
            <a:pPr marL="0" indent="989013" defTabSz="893763">
              <a:buNone/>
            </a:pPr>
            <a:r>
              <a:rPr lang="en-US" sz="1200" dirty="0" smtClean="0">
                <a:solidFill>
                  <a:srgbClr val="000088"/>
                </a:solidFill>
                <a:latin typeface="JetBrains Mono"/>
              </a:rPr>
              <a:t>GROUP</a:t>
            </a:r>
            <a:r>
              <a:rPr lang="en-US" sz="1200" dirty="0" smtClean="0">
                <a:solidFill>
                  <a:srgbClr val="000000"/>
                </a:solidFill>
                <a:latin typeface="JetBrains Mono"/>
              </a:rPr>
              <a:t> </a:t>
            </a:r>
            <a:r>
              <a:rPr lang="en-US" sz="1200" dirty="0">
                <a:solidFill>
                  <a:srgbClr val="000088"/>
                </a:solidFill>
                <a:latin typeface="JetBrains Mono"/>
              </a:rPr>
              <a:t>BY</a:t>
            </a:r>
            <a:r>
              <a:rPr lang="en-US" sz="1200" dirty="0">
                <a:solidFill>
                  <a:srgbClr val="000000"/>
                </a:solidFill>
                <a:latin typeface="JetBrains Mono"/>
              </a:rPr>
              <a:t> author </a:t>
            </a:r>
            <a:endParaRPr lang="ru-RU" sz="1200" dirty="0" smtClean="0">
              <a:solidFill>
                <a:srgbClr val="000000"/>
              </a:solidFill>
              <a:latin typeface="JetBrains Mono"/>
            </a:endParaRPr>
          </a:p>
          <a:p>
            <a:pPr marL="0" indent="989013" defTabSz="893763">
              <a:buNone/>
            </a:pPr>
            <a:r>
              <a:rPr lang="en-US" sz="1200" dirty="0" smtClean="0">
                <a:solidFill>
                  <a:srgbClr val="000088"/>
                </a:solidFill>
                <a:latin typeface="JetBrains Mono"/>
              </a:rPr>
              <a:t>HAVING</a:t>
            </a:r>
            <a:r>
              <a:rPr lang="en-US" sz="1200" dirty="0" smtClean="0">
                <a:solidFill>
                  <a:srgbClr val="000000"/>
                </a:solidFill>
                <a:latin typeface="JetBrains Mono"/>
              </a:rPr>
              <a:t> </a:t>
            </a:r>
            <a:r>
              <a:rPr lang="en-US" sz="1200" dirty="0">
                <a:solidFill>
                  <a:srgbClr val="660066"/>
                </a:solidFill>
                <a:latin typeface="JetBrains Mono"/>
              </a:rPr>
              <a:t>SUM</a:t>
            </a:r>
            <a:r>
              <a:rPr lang="en-US" sz="1200" dirty="0">
                <a:solidFill>
                  <a:srgbClr val="000000"/>
                </a:solidFill>
                <a:latin typeface="JetBrains Mono"/>
              </a:rPr>
              <a:t>(amount) &gt;= </a:t>
            </a:r>
            <a:r>
              <a:rPr lang="en-US" sz="1200" dirty="0">
                <a:solidFill>
                  <a:srgbClr val="006666"/>
                </a:solidFill>
                <a:latin typeface="JetBrains Mono"/>
              </a:rPr>
              <a:t>12</a:t>
            </a:r>
            <a:r>
              <a:rPr lang="en-US" sz="1200" dirty="0">
                <a:solidFill>
                  <a:srgbClr val="000000"/>
                </a:solidFill>
                <a:latin typeface="JetBrains Mono"/>
              </a:rPr>
              <a:t> </a:t>
            </a:r>
            <a:endParaRPr lang="ru-RU" sz="1200" dirty="0" smtClean="0">
              <a:solidFill>
                <a:srgbClr val="000000"/>
              </a:solidFill>
              <a:latin typeface="JetBrains Mono"/>
            </a:endParaRPr>
          </a:p>
          <a:p>
            <a:pPr marL="0" indent="0" defTabSz="893763">
              <a:buNone/>
            </a:pPr>
            <a:r>
              <a:rPr lang="en-US" sz="1200" dirty="0" smtClean="0">
                <a:solidFill>
                  <a:srgbClr val="000000"/>
                </a:solidFill>
                <a:latin typeface="JetBrains Mono"/>
              </a:rPr>
              <a:t>);</a:t>
            </a:r>
            <a:endParaRPr lang="ru-RU" sz="1200" dirty="0" smtClean="0">
              <a:solidFill>
                <a:srgbClr val="000000"/>
              </a:solidFill>
              <a:latin typeface="JetBrains Mono"/>
            </a:endParaRPr>
          </a:p>
          <a:p>
            <a:pPr marL="0" indent="0" defTabSz="893763">
              <a:buNone/>
            </a:pPr>
            <a:r>
              <a:rPr lang="en-US" sz="1200" dirty="0"/>
              <a:t>The </a:t>
            </a:r>
            <a:r>
              <a:rPr lang="en-US" sz="1200" dirty="0" err="1"/>
              <a:t>subquery</a:t>
            </a:r>
            <a:r>
              <a:rPr lang="en-US" sz="1200" dirty="0"/>
              <a:t> selects two authors (Dostoevsky and Esenin). Then, in the main query, for each record in the book table, it checks whether the book's author is included in the selected list. If it is, the book's information is included in the result set.</a:t>
            </a:r>
            <a:endParaRPr lang="ru-RU" sz="1200" dirty="0" smtClean="0"/>
          </a:p>
        </p:txBody>
      </p:sp>
      <p:sp>
        <p:nvSpPr>
          <p:cNvPr id="4" name="AutoShape 2" descr="https://ucarecdn.com/708aa6d7-f879-41b4-8030-103e4b43754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0661" y="4083919"/>
            <a:ext cx="3891659" cy="10401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515394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51520" y="-6230"/>
            <a:ext cx="8496944" cy="345732"/>
          </a:xfrm>
        </p:spPr>
        <p:txBody>
          <a:bodyPr>
            <a:noAutofit/>
          </a:bodyPr>
          <a:lstStyle/>
          <a:p>
            <a:r>
              <a:rPr lang="en-US" sz="2000" b="1" dirty="0" err="1"/>
              <a:t>Subqueries</a:t>
            </a:r>
            <a:r>
              <a:rPr lang="en-US" sz="2000" b="1" dirty="0"/>
              <a:t>, ANY and ALL operators</a:t>
            </a:r>
            <a:endParaRPr lang="en-US" sz="2000" b="1" dirty="0"/>
          </a:p>
        </p:txBody>
      </p:sp>
      <p:sp>
        <p:nvSpPr>
          <p:cNvPr id="3" name="Объект 2"/>
          <p:cNvSpPr>
            <a:spLocks noGrp="1"/>
          </p:cNvSpPr>
          <p:nvPr>
            <p:ph idx="1"/>
          </p:nvPr>
        </p:nvSpPr>
        <p:spPr>
          <a:xfrm>
            <a:off x="307975" y="339502"/>
            <a:ext cx="8229600" cy="3960440"/>
          </a:xfrm>
        </p:spPr>
        <p:txBody>
          <a:bodyPr>
            <a:normAutofit fontScale="92500"/>
          </a:bodyPr>
          <a:lstStyle/>
          <a:p>
            <a:pPr marL="0" indent="0">
              <a:buNone/>
            </a:pPr>
            <a:r>
              <a:rPr lang="en-US" sz="1200" dirty="0" smtClean="0"/>
              <a:t>A </a:t>
            </a:r>
            <a:r>
              <a:rPr lang="en-US" sz="1200" dirty="0" err="1"/>
              <a:t>subquery</a:t>
            </a:r>
            <a:r>
              <a:rPr lang="en-US" sz="1200" dirty="0"/>
              <a:t> that returns multiple values from a single column can be used to filter records using the ANY and ALL operators in conjunction with comparison operators (=, &lt;&gt;, &lt;=, &gt;=, &lt;, &gt;).</a:t>
            </a:r>
          </a:p>
          <a:p>
            <a:pPr marL="0" indent="0">
              <a:buNone/>
            </a:pPr>
            <a:r>
              <a:rPr lang="en-US" sz="1200" dirty="0"/>
              <a:t>The ANY and ALL operators in SQL are used to compare a value with the result set of a </a:t>
            </a:r>
            <a:r>
              <a:rPr lang="en-US" sz="1200" dirty="0" err="1"/>
              <a:t>subquery</a:t>
            </a:r>
            <a:r>
              <a:rPr lang="en-US" sz="1200" dirty="0"/>
              <a:t>, which consists of a single column. The data type of the column returned by the </a:t>
            </a:r>
            <a:r>
              <a:rPr lang="en-US" sz="1200" dirty="0" err="1"/>
              <a:t>subquery</a:t>
            </a:r>
            <a:r>
              <a:rPr lang="en-US" sz="1200" dirty="0"/>
              <a:t> must match the data type of the column (or expression) being compared.</a:t>
            </a:r>
          </a:p>
          <a:p>
            <a:pPr marL="0" indent="0">
              <a:buNone/>
            </a:pPr>
            <a:r>
              <a:rPr lang="en-US" sz="1200" dirty="0"/>
              <a:t>When using the ANY operator, all records for which the comparison expression is true for at least one element of the </a:t>
            </a:r>
            <a:r>
              <a:rPr lang="en-US" sz="1200" dirty="0" err="1"/>
              <a:t>subquery</a:t>
            </a:r>
            <a:r>
              <a:rPr lang="en-US" sz="1200" dirty="0"/>
              <a:t> result set will be included in the final result. How the ANY operator works:</a:t>
            </a:r>
          </a:p>
          <a:p>
            <a:r>
              <a:rPr lang="en-US" sz="1200" dirty="0"/>
              <a:t>amount &gt; ANY (10, 12) is equivalent to amount &gt; 10</a:t>
            </a:r>
          </a:p>
          <a:p>
            <a:r>
              <a:rPr lang="en-US" sz="1200" dirty="0"/>
              <a:t>amount &lt; ANY (10, 12) is equivalent to amount &lt; 12</a:t>
            </a:r>
          </a:p>
          <a:p>
            <a:r>
              <a:rPr lang="en-US" sz="1200" dirty="0"/>
              <a:t>amount = ANY (10, 12) is equivalent to (amount = 10) OR (amount = 12), and also to amount IN (10,12)</a:t>
            </a:r>
          </a:p>
          <a:p>
            <a:r>
              <a:rPr lang="en-US" sz="1200" dirty="0"/>
              <a:t>amount &lt;&gt; ANY (10, 12) will return all records with any value of amount, including 10 and 12.</a:t>
            </a:r>
          </a:p>
          <a:p>
            <a:pPr marL="0" indent="0">
              <a:buNone/>
            </a:pPr>
            <a:r>
              <a:rPr lang="en-US" sz="1200" dirty="0"/>
              <a:t>When using the ALL operator, all records for which the comparison expression is true for </a:t>
            </a:r>
            <a:r>
              <a:rPr lang="en-US" sz="1200" i="1" dirty="0"/>
              <a:t>all</a:t>
            </a:r>
            <a:r>
              <a:rPr lang="en-US" sz="1200" dirty="0"/>
              <a:t> elements of the </a:t>
            </a:r>
            <a:r>
              <a:rPr lang="en-US" sz="1200" dirty="0" err="1"/>
              <a:t>subquery</a:t>
            </a:r>
            <a:r>
              <a:rPr lang="en-US" sz="1200" dirty="0"/>
              <a:t> result set will be included in the final result. How the ALL operator works:</a:t>
            </a:r>
          </a:p>
          <a:p>
            <a:r>
              <a:rPr lang="en-US" sz="1200" dirty="0"/>
              <a:t>amount &gt; ALL (10, 12) is equivalent to amount &gt; 12</a:t>
            </a:r>
          </a:p>
          <a:p>
            <a:r>
              <a:rPr lang="en-US" sz="1200" dirty="0"/>
              <a:t>amount &lt; ALL (10, 12) is equivalent to amount &lt; 10</a:t>
            </a:r>
          </a:p>
          <a:p>
            <a:r>
              <a:rPr lang="en-US" sz="1200" dirty="0"/>
              <a:t>amount = ALL (10, 12) will not return any records, as it is equivalent to (amount = 10) AND (amount = 12)</a:t>
            </a:r>
          </a:p>
          <a:p>
            <a:r>
              <a:rPr lang="en-US" sz="1200" dirty="0"/>
              <a:t>amount &lt;&gt; ALL (10, 12) will return all records except those where amount is 10 or 12.</a:t>
            </a:r>
          </a:p>
          <a:p>
            <a:pPr marL="0" indent="0">
              <a:buNone/>
            </a:pPr>
            <a:r>
              <a:rPr lang="en-US" sz="1200" dirty="0"/>
              <a:t>Important! The ALL and ANY operators can only be used with </a:t>
            </a:r>
            <a:r>
              <a:rPr lang="en-US" sz="1200" dirty="0" err="1"/>
              <a:t>subqueries</a:t>
            </a:r>
            <a:r>
              <a:rPr lang="en-US" sz="1200" dirty="0"/>
              <a:t>. In the examples above, (10, 12) is shown as the result of a </a:t>
            </a:r>
            <a:r>
              <a:rPr lang="en-US" sz="1200" dirty="0" err="1"/>
              <a:t>subquery</a:t>
            </a:r>
            <a:r>
              <a:rPr lang="en-US" sz="1200" dirty="0"/>
              <a:t> simply to demonstrate how these operators work. This syntax cannot be used directly in queries.</a:t>
            </a:r>
          </a:p>
          <a:p>
            <a:pPr marL="0" indent="0">
              <a:buNone/>
            </a:pPr>
            <a:r>
              <a:rPr lang="en-US" sz="1200" b="1" dirty="0"/>
              <a:t>Example</a:t>
            </a:r>
          </a:p>
          <a:p>
            <a:pPr marL="0" indent="0">
              <a:buNone/>
            </a:pPr>
            <a:r>
              <a:rPr lang="en-US" sz="1200" dirty="0"/>
              <a:t>Retrieve information about books whose quantity is less than the smallest average number of books per author.</a:t>
            </a:r>
          </a:p>
          <a:p>
            <a:pPr marL="0" indent="0">
              <a:buNone/>
            </a:pPr>
            <a:endParaRPr lang="ru-RU" sz="1200" dirty="0" smtClean="0"/>
          </a:p>
        </p:txBody>
      </p:sp>
      <p:sp>
        <p:nvSpPr>
          <p:cNvPr id="4" name="AutoShape 2" descr="https://ucarecdn.com/708aa6d7-f879-41b4-8030-103e4b43754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0661" y="4199393"/>
            <a:ext cx="3459611" cy="924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325808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51520" y="-6230"/>
            <a:ext cx="8496944" cy="345732"/>
          </a:xfrm>
        </p:spPr>
        <p:txBody>
          <a:bodyPr>
            <a:noAutofit/>
          </a:bodyPr>
          <a:lstStyle/>
          <a:p>
            <a:r>
              <a:rPr lang="en-US" sz="2000" b="1" dirty="0" err="1"/>
              <a:t>Subquery</a:t>
            </a:r>
            <a:r>
              <a:rPr lang="en-US" sz="2000" b="1" dirty="0"/>
              <a:t> in the SELECT clause</a:t>
            </a:r>
            <a:endParaRPr lang="en-US" sz="2000" b="1" dirty="0"/>
          </a:p>
        </p:txBody>
      </p:sp>
      <p:sp>
        <p:nvSpPr>
          <p:cNvPr id="3" name="Объект 2"/>
          <p:cNvSpPr>
            <a:spLocks noGrp="1"/>
          </p:cNvSpPr>
          <p:nvPr>
            <p:ph idx="1"/>
          </p:nvPr>
        </p:nvSpPr>
        <p:spPr>
          <a:xfrm>
            <a:off x="307975" y="339502"/>
            <a:ext cx="8229600" cy="4032448"/>
          </a:xfrm>
        </p:spPr>
        <p:txBody>
          <a:bodyPr>
            <a:normAutofit/>
          </a:bodyPr>
          <a:lstStyle/>
          <a:p>
            <a:pPr marL="0" indent="0">
              <a:buNone/>
            </a:pPr>
            <a:r>
              <a:rPr lang="en-US" sz="1200" dirty="0" smtClean="0"/>
              <a:t>A </a:t>
            </a:r>
            <a:r>
              <a:rPr lang="en-US" sz="1200" dirty="0" err="1"/>
              <a:t>subquery</a:t>
            </a:r>
            <a:r>
              <a:rPr lang="en-US" sz="1200" dirty="0"/>
              <a:t> can be placed after the SELECT keyword. In this case, the result of the </a:t>
            </a:r>
            <a:r>
              <a:rPr lang="en-US" sz="1200" dirty="0" err="1"/>
              <a:t>subquery</a:t>
            </a:r>
            <a:r>
              <a:rPr lang="en-US" sz="1200" dirty="0"/>
              <a:t> is displayed in a separate column of the result table. For this to work correctly, the </a:t>
            </a:r>
            <a:r>
              <a:rPr lang="en-US" sz="1200" dirty="0" err="1"/>
              <a:t>subquery</a:t>
            </a:r>
            <a:r>
              <a:rPr lang="en-US" sz="1200" dirty="0"/>
              <a:t> must return a single value, which will then be repeated in every row. The </a:t>
            </a:r>
            <a:r>
              <a:rPr lang="en-US" sz="1200" dirty="0" err="1"/>
              <a:t>subquery</a:t>
            </a:r>
            <a:r>
              <a:rPr lang="en-US" sz="1200" dirty="0"/>
              <a:t> can also be used within expressions.</a:t>
            </a:r>
          </a:p>
          <a:p>
            <a:pPr marL="0" indent="0">
              <a:buNone/>
            </a:pPr>
            <a:r>
              <a:rPr lang="en-US" sz="1200" b="1" dirty="0"/>
              <a:t>Example</a:t>
            </a:r>
          </a:p>
          <a:p>
            <a:pPr marL="0" indent="0">
              <a:buNone/>
            </a:pPr>
            <a:r>
              <a:rPr lang="en-US" sz="1200" dirty="0"/>
              <a:t>Retrieve information about books whose number of copies differs from the average number of book copies in the warehouse by more than 3, and also show the average value of the number of book copies.</a:t>
            </a:r>
          </a:p>
          <a:p>
            <a:pPr marL="0" indent="0">
              <a:buNone/>
            </a:pPr>
            <a:r>
              <a:rPr lang="en-US" sz="1200" dirty="0">
                <a:solidFill>
                  <a:srgbClr val="000088"/>
                </a:solidFill>
                <a:latin typeface="JetBrains Mono"/>
              </a:rPr>
              <a:t>SELECT</a:t>
            </a:r>
            <a:r>
              <a:rPr lang="en-US" sz="1200" dirty="0">
                <a:solidFill>
                  <a:srgbClr val="000000"/>
                </a:solidFill>
                <a:latin typeface="JetBrains Mono"/>
              </a:rPr>
              <a:t> title, author, amount, ( </a:t>
            </a:r>
            <a:endParaRPr lang="ru-RU" sz="1200" dirty="0" smtClean="0">
              <a:solidFill>
                <a:srgbClr val="000000"/>
              </a:solidFill>
              <a:latin typeface="JetBrains Mono"/>
            </a:endParaRPr>
          </a:p>
          <a:p>
            <a:pPr marL="0" indent="2870200">
              <a:buNone/>
            </a:pPr>
            <a:r>
              <a:rPr lang="en-US" sz="1200" dirty="0" smtClean="0">
                <a:solidFill>
                  <a:srgbClr val="000088"/>
                </a:solidFill>
                <a:latin typeface="JetBrains Mono"/>
              </a:rPr>
              <a:t>SELECT</a:t>
            </a:r>
            <a:r>
              <a:rPr lang="en-US" sz="1200" dirty="0" smtClean="0">
                <a:solidFill>
                  <a:srgbClr val="000000"/>
                </a:solidFill>
                <a:latin typeface="JetBrains Mono"/>
              </a:rPr>
              <a:t> </a:t>
            </a:r>
            <a:r>
              <a:rPr lang="en-US" sz="1200" dirty="0">
                <a:solidFill>
                  <a:srgbClr val="660066"/>
                </a:solidFill>
                <a:latin typeface="JetBrains Mono"/>
              </a:rPr>
              <a:t>AVG</a:t>
            </a:r>
            <a:r>
              <a:rPr lang="en-US" sz="1200" dirty="0">
                <a:solidFill>
                  <a:srgbClr val="000000"/>
                </a:solidFill>
                <a:latin typeface="JetBrains Mono"/>
              </a:rPr>
              <a:t>(amount) </a:t>
            </a:r>
            <a:endParaRPr lang="ru-RU" sz="1200" dirty="0" smtClean="0">
              <a:solidFill>
                <a:srgbClr val="000000"/>
              </a:solidFill>
              <a:latin typeface="JetBrains Mono"/>
            </a:endParaRPr>
          </a:p>
          <a:p>
            <a:pPr marL="0" indent="2870200">
              <a:buNone/>
            </a:pPr>
            <a:r>
              <a:rPr lang="en-US" sz="1200" dirty="0" smtClean="0">
                <a:solidFill>
                  <a:srgbClr val="000088"/>
                </a:solidFill>
                <a:latin typeface="JetBrains Mono"/>
              </a:rPr>
              <a:t>FROM</a:t>
            </a:r>
            <a:r>
              <a:rPr lang="en-US" sz="1200" dirty="0" smtClean="0">
                <a:solidFill>
                  <a:srgbClr val="000000"/>
                </a:solidFill>
                <a:latin typeface="JetBrains Mono"/>
              </a:rPr>
              <a:t> </a:t>
            </a:r>
            <a:r>
              <a:rPr lang="en-US" sz="1200" dirty="0">
                <a:solidFill>
                  <a:srgbClr val="000000"/>
                </a:solidFill>
                <a:latin typeface="JetBrains Mono"/>
              </a:rPr>
              <a:t>book </a:t>
            </a:r>
            <a:endParaRPr lang="ru-RU" sz="1200" dirty="0" smtClean="0">
              <a:solidFill>
                <a:srgbClr val="000000"/>
              </a:solidFill>
              <a:latin typeface="JetBrains Mono"/>
            </a:endParaRPr>
          </a:p>
          <a:p>
            <a:pPr marL="0" indent="0">
              <a:buNone/>
            </a:pPr>
            <a:r>
              <a:rPr lang="ru-RU" sz="1200" dirty="0" smtClean="0">
                <a:solidFill>
                  <a:srgbClr val="000000"/>
                </a:solidFill>
                <a:latin typeface="JetBrains Mono"/>
              </a:rPr>
              <a:t>			</a:t>
            </a:r>
            <a:r>
              <a:rPr lang="en-US" sz="1200" dirty="0" smtClean="0">
                <a:solidFill>
                  <a:srgbClr val="000000"/>
                </a:solidFill>
                <a:latin typeface="JetBrains Mono"/>
              </a:rPr>
              <a:t>) </a:t>
            </a:r>
            <a:r>
              <a:rPr lang="en-US" sz="1200" dirty="0">
                <a:solidFill>
                  <a:srgbClr val="000088"/>
                </a:solidFill>
                <a:latin typeface="JetBrains Mono"/>
              </a:rPr>
              <a:t>AS</a:t>
            </a:r>
            <a:r>
              <a:rPr lang="en-US" sz="1200" dirty="0">
                <a:solidFill>
                  <a:srgbClr val="000000"/>
                </a:solidFill>
                <a:latin typeface="JetBrains Mono"/>
              </a:rPr>
              <a:t> </a:t>
            </a:r>
            <a:r>
              <a:rPr lang="en-US" sz="1200" dirty="0" err="1">
                <a:solidFill>
                  <a:srgbClr val="000000"/>
                </a:solidFill>
                <a:latin typeface="JetBrains Mono"/>
              </a:rPr>
              <a:t>Среднее_количество</a:t>
            </a:r>
            <a:r>
              <a:rPr lang="en-US" sz="1200" dirty="0">
                <a:solidFill>
                  <a:srgbClr val="000000"/>
                </a:solidFill>
                <a:latin typeface="JetBrains Mono"/>
              </a:rPr>
              <a:t> </a:t>
            </a:r>
            <a:endParaRPr lang="ru-RU" sz="1200" dirty="0" smtClean="0">
              <a:solidFill>
                <a:srgbClr val="000000"/>
              </a:solidFill>
              <a:latin typeface="JetBrains Mono"/>
            </a:endParaRPr>
          </a:p>
          <a:p>
            <a:pPr marL="0" indent="0">
              <a:buNone/>
            </a:pPr>
            <a:r>
              <a:rPr lang="en-US" sz="1200" dirty="0" smtClean="0">
                <a:solidFill>
                  <a:srgbClr val="000088"/>
                </a:solidFill>
                <a:latin typeface="JetBrains Mono"/>
              </a:rPr>
              <a:t>FROM</a:t>
            </a:r>
            <a:r>
              <a:rPr lang="en-US" sz="1200" dirty="0" smtClean="0">
                <a:solidFill>
                  <a:srgbClr val="000000"/>
                </a:solidFill>
                <a:latin typeface="JetBrains Mono"/>
              </a:rPr>
              <a:t> </a:t>
            </a:r>
            <a:r>
              <a:rPr lang="en-US" sz="1200" dirty="0">
                <a:solidFill>
                  <a:srgbClr val="000000"/>
                </a:solidFill>
                <a:latin typeface="JetBrains Mono"/>
              </a:rPr>
              <a:t>book </a:t>
            </a:r>
            <a:endParaRPr lang="ru-RU" sz="1200" dirty="0" smtClean="0">
              <a:solidFill>
                <a:srgbClr val="000000"/>
              </a:solidFill>
              <a:latin typeface="JetBrains Mono"/>
            </a:endParaRPr>
          </a:p>
          <a:p>
            <a:pPr marL="0" indent="0">
              <a:buNone/>
            </a:pPr>
            <a:r>
              <a:rPr lang="en-US" sz="1200" dirty="0" smtClean="0">
                <a:solidFill>
                  <a:srgbClr val="000088"/>
                </a:solidFill>
                <a:latin typeface="JetBrains Mono"/>
              </a:rPr>
              <a:t>WHERE</a:t>
            </a:r>
            <a:r>
              <a:rPr lang="en-US" sz="1200" dirty="0" smtClean="0">
                <a:solidFill>
                  <a:srgbClr val="000000"/>
                </a:solidFill>
                <a:latin typeface="JetBrains Mono"/>
              </a:rPr>
              <a:t> </a:t>
            </a:r>
            <a:r>
              <a:rPr lang="en-US" sz="1200" dirty="0">
                <a:solidFill>
                  <a:srgbClr val="660066"/>
                </a:solidFill>
                <a:latin typeface="JetBrains Mono"/>
              </a:rPr>
              <a:t>abs</a:t>
            </a:r>
            <a:r>
              <a:rPr lang="en-US" sz="1200" dirty="0">
                <a:solidFill>
                  <a:srgbClr val="000000"/>
                </a:solidFill>
                <a:latin typeface="JetBrains Mono"/>
              </a:rPr>
              <a:t>(amount - </a:t>
            </a:r>
            <a:r>
              <a:rPr lang="en-US" sz="1200" dirty="0" smtClean="0">
                <a:solidFill>
                  <a:srgbClr val="000000"/>
                </a:solidFill>
                <a:latin typeface="JetBrains Mono"/>
              </a:rPr>
              <a:t>(</a:t>
            </a:r>
            <a:endParaRPr lang="ru-RU" sz="1200" dirty="0" smtClean="0">
              <a:solidFill>
                <a:srgbClr val="000000"/>
              </a:solidFill>
              <a:latin typeface="JetBrains Mono"/>
            </a:endParaRPr>
          </a:p>
          <a:p>
            <a:pPr marL="0" indent="0">
              <a:buNone/>
            </a:pPr>
            <a:r>
              <a:rPr lang="ru-RU" sz="1200" dirty="0">
                <a:solidFill>
                  <a:srgbClr val="000000"/>
                </a:solidFill>
                <a:latin typeface="JetBrains Mono"/>
              </a:rPr>
              <a:t>	</a:t>
            </a:r>
            <a:r>
              <a:rPr lang="ru-RU" sz="1200" dirty="0" smtClean="0">
                <a:solidFill>
                  <a:srgbClr val="000000"/>
                </a:solidFill>
                <a:latin typeface="JetBrains Mono"/>
              </a:rPr>
              <a:t>	</a:t>
            </a:r>
            <a:r>
              <a:rPr lang="en-US" sz="1200" dirty="0" smtClean="0">
                <a:solidFill>
                  <a:srgbClr val="000088"/>
                </a:solidFill>
                <a:latin typeface="JetBrains Mono"/>
              </a:rPr>
              <a:t>SELECT</a:t>
            </a:r>
            <a:r>
              <a:rPr lang="en-US" sz="1200" dirty="0" smtClean="0">
                <a:solidFill>
                  <a:srgbClr val="000000"/>
                </a:solidFill>
                <a:latin typeface="JetBrains Mono"/>
              </a:rPr>
              <a:t> </a:t>
            </a:r>
            <a:r>
              <a:rPr lang="en-US" sz="1200" dirty="0">
                <a:solidFill>
                  <a:srgbClr val="660066"/>
                </a:solidFill>
                <a:latin typeface="JetBrains Mono"/>
              </a:rPr>
              <a:t>AVG</a:t>
            </a:r>
            <a:r>
              <a:rPr lang="en-US" sz="1200" dirty="0">
                <a:solidFill>
                  <a:srgbClr val="000000"/>
                </a:solidFill>
                <a:latin typeface="JetBrains Mono"/>
              </a:rPr>
              <a:t>(amount) </a:t>
            </a:r>
            <a:endParaRPr lang="ru-RU" sz="1200" dirty="0" smtClean="0">
              <a:solidFill>
                <a:srgbClr val="000000"/>
              </a:solidFill>
              <a:latin typeface="JetBrains Mono"/>
            </a:endParaRPr>
          </a:p>
          <a:p>
            <a:pPr marL="0" indent="0">
              <a:buNone/>
            </a:pPr>
            <a:r>
              <a:rPr lang="ru-RU" sz="1200" dirty="0">
                <a:solidFill>
                  <a:srgbClr val="000000"/>
                </a:solidFill>
                <a:latin typeface="JetBrains Mono"/>
              </a:rPr>
              <a:t>	</a:t>
            </a:r>
            <a:r>
              <a:rPr lang="ru-RU" sz="1200" dirty="0" smtClean="0">
                <a:solidFill>
                  <a:srgbClr val="000000"/>
                </a:solidFill>
                <a:latin typeface="JetBrains Mono"/>
              </a:rPr>
              <a:t>	</a:t>
            </a:r>
            <a:r>
              <a:rPr lang="en-US" sz="1200" dirty="0" smtClean="0">
                <a:solidFill>
                  <a:srgbClr val="000088"/>
                </a:solidFill>
                <a:latin typeface="JetBrains Mono"/>
              </a:rPr>
              <a:t>FROM</a:t>
            </a:r>
            <a:r>
              <a:rPr lang="en-US" sz="1200" dirty="0" smtClean="0">
                <a:solidFill>
                  <a:srgbClr val="000000"/>
                </a:solidFill>
                <a:latin typeface="JetBrains Mono"/>
              </a:rPr>
              <a:t> </a:t>
            </a:r>
            <a:r>
              <a:rPr lang="en-US" sz="1200" dirty="0">
                <a:solidFill>
                  <a:srgbClr val="000000"/>
                </a:solidFill>
                <a:latin typeface="JetBrains Mono"/>
              </a:rPr>
              <a:t>book</a:t>
            </a:r>
            <a:r>
              <a:rPr lang="en-US" sz="1200" dirty="0" smtClean="0">
                <a:solidFill>
                  <a:srgbClr val="000000"/>
                </a:solidFill>
                <a:latin typeface="JetBrains Mono"/>
              </a:rPr>
              <a:t>)</a:t>
            </a:r>
            <a:endParaRPr lang="ru-RU" sz="1200" dirty="0" smtClean="0">
              <a:solidFill>
                <a:srgbClr val="000000"/>
              </a:solidFill>
              <a:latin typeface="JetBrains Mono"/>
            </a:endParaRPr>
          </a:p>
          <a:p>
            <a:pPr marL="0" indent="0">
              <a:buNone/>
            </a:pPr>
            <a:r>
              <a:rPr lang="ru-RU" sz="1200" dirty="0">
                <a:solidFill>
                  <a:srgbClr val="000000"/>
                </a:solidFill>
                <a:latin typeface="JetBrains Mono"/>
              </a:rPr>
              <a:t>	</a:t>
            </a:r>
            <a:r>
              <a:rPr lang="ru-RU" sz="1200" dirty="0" smtClean="0">
                <a:solidFill>
                  <a:srgbClr val="000000"/>
                </a:solidFill>
                <a:latin typeface="JetBrains Mono"/>
              </a:rPr>
              <a:t>	</a:t>
            </a:r>
            <a:r>
              <a:rPr lang="en-US" sz="1200" dirty="0" smtClean="0">
                <a:solidFill>
                  <a:srgbClr val="000000"/>
                </a:solidFill>
                <a:latin typeface="JetBrains Mono"/>
              </a:rPr>
              <a:t>) </a:t>
            </a:r>
            <a:r>
              <a:rPr lang="en-US" sz="1200" dirty="0">
                <a:solidFill>
                  <a:srgbClr val="000000"/>
                </a:solidFill>
                <a:latin typeface="JetBrains Mono"/>
              </a:rPr>
              <a:t>&gt;</a:t>
            </a:r>
            <a:r>
              <a:rPr lang="en-US" sz="1200" dirty="0">
                <a:solidFill>
                  <a:srgbClr val="006666"/>
                </a:solidFill>
                <a:latin typeface="JetBrains Mono"/>
              </a:rPr>
              <a:t>3</a:t>
            </a:r>
            <a:r>
              <a:rPr lang="en-US" sz="1200" dirty="0" smtClean="0">
                <a:solidFill>
                  <a:srgbClr val="000000"/>
                </a:solidFill>
                <a:latin typeface="JetBrains Mono"/>
              </a:rPr>
              <a:t>;</a:t>
            </a:r>
            <a:endParaRPr lang="ru-RU" sz="1200" dirty="0" smtClean="0">
              <a:solidFill>
                <a:srgbClr val="000000"/>
              </a:solidFill>
              <a:latin typeface="JetBrains Mono"/>
            </a:endParaRPr>
          </a:p>
        </p:txBody>
      </p:sp>
      <p:sp>
        <p:nvSpPr>
          <p:cNvPr id="4" name="AutoShape 2" descr="https://ucarecdn.com/708aa6d7-f879-41b4-8030-103e4b43754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3768" y="4141654"/>
            <a:ext cx="4896544" cy="9959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351200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51520" y="-6230"/>
            <a:ext cx="8496944" cy="345732"/>
          </a:xfrm>
        </p:spPr>
        <p:txBody>
          <a:bodyPr>
            <a:noAutofit/>
          </a:bodyPr>
          <a:lstStyle/>
          <a:p>
            <a:r>
              <a:rPr lang="en-US" sz="2000" b="1" dirty="0" err="1"/>
              <a:t>Subquery</a:t>
            </a:r>
            <a:r>
              <a:rPr lang="en-US" sz="2000" b="1" dirty="0"/>
              <a:t> in the SELECT clause</a:t>
            </a:r>
            <a:endParaRPr lang="en-US" sz="2000" b="1" dirty="0"/>
          </a:p>
        </p:txBody>
      </p:sp>
      <p:sp>
        <p:nvSpPr>
          <p:cNvPr id="3" name="Объект 2"/>
          <p:cNvSpPr>
            <a:spLocks noGrp="1"/>
          </p:cNvSpPr>
          <p:nvPr>
            <p:ph idx="1"/>
          </p:nvPr>
        </p:nvSpPr>
        <p:spPr>
          <a:xfrm>
            <a:off x="307975" y="339502"/>
            <a:ext cx="8229600" cy="4032448"/>
          </a:xfrm>
        </p:spPr>
        <p:txBody>
          <a:bodyPr>
            <a:normAutofit/>
          </a:bodyPr>
          <a:lstStyle/>
          <a:p>
            <a:pPr marL="0" indent="0">
              <a:buNone/>
            </a:pPr>
            <a:r>
              <a:rPr lang="en-US" sz="1200" dirty="0" smtClean="0"/>
              <a:t>The </a:t>
            </a:r>
            <a:r>
              <a:rPr lang="en-US" sz="1200" dirty="0" err="1"/>
              <a:t>subquery</a:t>
            </a:r>
            <a:r>
              <a:rPr lang="en-US" sz="1200" dirty="0"/>
              <a:t> calculates the average number of book copies in the warehouse. This </a:t>
            </a:r>
            <a:r>
              <a:rPr lang="en-US" sz="1200" dirty="0" err="1"/>
              <a:t>subquery</a:t>
            </a:r>
            <a:r>
              <a:rPr lang="en-US" sz="1200" dirty="0"/>
              <a:t> is used both in the selection condition and to create the "</a:t>
            </a:r>
            <a:r>
              <a:rPr lang="en-US" sz="1200" dirty="0" err="1"/>
              <a:t>Average_Quantity</a:t>
            </a:r>
            <a:r>
              <a:rPr lang="en-US" sz="1200" dirty="0"/>
              <a:t>" column in the query's result table. The values in this column are the same across all rows since the </a:t>
            </a:r>
            <a:r>
              <a:rPr lang="en-US" sz="1200" dirty="0" err="1"/>
              <a:t>subquery</a:t>
            </a:r>
            <a:r>
              <a:rPr lang="en-US" sz="1200" dirty="0"/>
              <a:t> returns a single value.</a:t>
            </a:r>
          </a:p>
          <a:p>
            <a:pPr marL="0" indent="0">
              <a:buNone/>
            </a:pPr>
            <a:r>
              <a:rPr lang="en-US" sz="1200" dirty="0"/>
              <a:t>The average quantity displayed as a fractional number doesn't look quite right. The resulting value can be rounded "down" - to the nearest lower integer</a:t>
            </a:r>
            <a:r>
              <a:rPr lang="en-US" sz="1200" dirty="0" smtClean="0"/>
              <a:t>.</a:t>
            </a:r>
            <a:endParaRPr lang="ru-RU" sz="1200" dirty="0" smtClean="0"/>
          </a:p>
          <a:p>
            <a:pPr marL="0" indent="0">
              <a:buNone/>
            </a:pPr>
            <a:r>
              <a:rPr lang="en-US" sz="1200" dirty="0">
                <a:solidFill>
                  <a:srgbClr val="000088"/>
                </a:solidFill>
                <a:latin typeface="JetBrains Mono"/>
              </a:rPr>
              <a:t>SELECT</a:t>
            </a:r>
            <a:r>
              <a:rPr lang="en-US" sz="1200" dirty="0">
                <a:solidFill>
                  <a:srgbClr val="000000"/>
                </a:solidFill>
                <a:latin typeface="JetBrains Mono"/>
              </a:rPr>
              <a:t> title, author, amount, </a:t>
            </a:r>
            <a:endParaRPr lang="ru-RU" sz="1200" dirty="0" smtClean="0">
              <a:solidFill>
                <a:srgbClr val="000000"/>
              </a:solidFill>
              <a:latin typeface="JetBrains Mono"/>
            </a:endParaRPr>
          </a:p>
          <a:p>
            <a:pPr marL="0" indent="0">
              <a:buNone/>
            </a:pPr>
            <a:r>
              <a:rPr lang="en-US" sz="1200" dirty="0" smtClean="0">
                <a:solidFill>
                  <a:srgbClr val="660066"/>
                </a:solidFill>
                <a:latin typeface="JetBrains Mono"/>
              </a:rPr>
              <a:t>FLOOR</a:t>
            </a:r>
            <a:r>
              <a:rPr lang="en-US" sz="1200" dirty="0">
                <a:solidFill>
                  <a:srgbClr val="000000"/>
                </a:solidFill>
                <a:latin typeface="JetBrains Mono"/>
              </a:rPr>
              <a:t>((</a:t>
            </a:r>
            <a:r>
              <a:rPr lang="en-US" sz="1200" dirty="0">
                <a:solidFill>
                  <a:srgbClr val="000088"/>
                </a:solidFill>
                <a:latin typeface="JetBrains Mono"/>
              </a:rPr>
              <a:t>SELECT</a:t>
            </a:r>
            <a:r>
              <a:rPr lang="en-US" sz="1200" dirty="0">
                <a:solidFill>
                  <a:srgbClr val="000000"/>
                </a:solidFill>
                <a:latin typeface="JetBrains Mono"/>
              </a:rPr>
              <a:t> </a:t>
            </a:r>
            <a:r>
              <a:rPr lang="en-US" sz="1200" dirty="0">
                <a:solidFill>
                  <a:srgbClr val="660066"/>
                </a:solidFill>
                <a:latin typeface="JetBrains Mono"/>
              </a:rPr>
              <a:t>AVG</a:t>
            </a:r>
            <a:r>
              <a:rPr lang="en-US" sz="1200" dirty="0">
                <a:solidFill>
                  <a:srgbClr val="000000"/>
                </a:solidFill>
                <a:latin typeface="JetBrains Mono"/>
              </a:rPr>
              <a:t>(amount) </a:t>
            </a:r>
            <a:r>
              <a:rPr lang="en-US" sz="1200" dirty="0">
                <a:solidFill>
                  <a:srgbClr val="000088"/>
                </a:solidFill>
                <a:latin typeface="JetBrains Mono"/>
              </a:rPr>
              <a:t>FROM</a:t>
            </a:r>
            <a:r>
              <a:rPr lang="en-US" sz="1200" dirty="0">
                <a:solidFill>
                  <a:srgbClr val="000000"/>
                </a:solidFill>
                <a:latin typeface="JetBrains Mono"/>
              </a:rPr>
              <a:t> book)) </a:t>
            </a:r>
            <a:r>
              <a:rPr lang="en-US" sz="1200" dirty="0">
                <a:solidFill>
                  <a:srgbClr val="000088"/>
                </a:solidFill>
                <a:latin typeface="JetBrains Mono"/>
              </a:rPr>
              <a:t>AS</a:t>
            </a:r>
            <a:r>
              <a:rPr lang="en-US" sz="1200" dirty="0">
                <a:solidFill>
                  <a:srgbClr val="000000"/>
                </a:solidFill>
                <a:latin typeface="JetBrains Mono"/>
              </a:rPr>
              <a:t> </a:t>
            </a:r>
            <a:r>
              <a:rPr lang="en-US" sz="1200" dirty="0" err="1">
                <a:solidFill>
                  <a:srgbClr val="000000"/>
                </a:solidFill>
                <a:latin typeface="JetBrains Mono"/>
              </a:rPr>
              <a:t>Среднее_количество</a:t>
            </a:r>
            <a:r>
              <a:rPr lang="en-US" sz="1200" dirty="0">
                <a:solidFill>
                  <a:srgbClr val="000000"/>
                </a:solidFill>
                <a:latin typeface="JetBrains Mono"/>
              </a:rPr>
              <a:t> </a:t>
            </a:r>
            <a:endParaRPr lang="ru-RU" sz="1200" dirty="0" smtClean="0">
              <a:solidFill>
                <a:srgbClr val="000000"/>
              </a:solidFill>
              <a:latin typeface="JetBrains Mono"/>
            </a:endParaRPr>
          </a:p>
          <a:p>
            <a:pPr marL="0" indent="0">
              <a:buNone/>
            </a:pPr>
            <a:r>
              <a:rPr lang="en-US" sz="1200" dirty="0" smtClean="0">
                <a:solidFill>
                  <a:srgbClr val="000088"/>
                </a:solidFill>
                <a:latin typeface="JetBrains Mono"/>
              </a:rPr>
              <a:t>FROM</a:t>
            </a:r>
            <a:r>
              <a:rPr lang="en-US" sz="1200" dirty="0" smtClean="0">
                <a:solidFill>
                  <a:srgbClr val="000000"/>
                </a:solidFill>
                <a:latin typeface="JetBrains Mono"/>
              </a:rPr>
              <a:t> book</a:t>
            </a:r>
            <a:endParaRPr lang="ru-RU" sz="1200" dirty="0" smtClean="0">
              <a:solidFill>
                <a:srgbClr val="000000"/>
              </a:solidFill>
              <a:latin typeface="JetBrains Mono"/>
            </a:endParaRPr>
          </a:p>
          <a:p>
            <a:pPr marL="0" indent="0">
              <a:buNone/>
            </a:pPr>
            <a:r>
              <a:rPr lang="en-US" sz="1200" dirty="0">
                <a:solidFill>
                  <a:srgbClr val="000088"/>
                </a:solidFill>
                <a:latin typeface="JetBrains Mono"/>
              </a:rPr>
              <a:t>WHERE</a:t>
            </a:r>
            <a:r>
              <a:rPr lang="en-US" sz="1200" dirty="0">
                <a:solidFill>
                  <a:srgbClr val="000000"/>
                </a:solidFill>
                <a:latin typeface="JetBrains Mono"/>
              </a:rPr>
              <a:t> </a:t>
            </a:r>
            <a:r>
              <a:rPr lang="en-US" sz="1200" dirty="0">
                <a:solidFill>
                  <a:srgbClr val="660066"/>
                </a:solidFill>
                <a:latin typeface="JetBrains Mono"/>
              </a:rPr>
              <a:t>ABS</a:t>
            </a:r>
            <a:r>
              <a:rPr lang="en-US" sz="1200" dirty="0">
                <a:solidFill>
                  <a:srgbClr val="000000"/>
                </a:solidFill>
                <a:latin typeface="JetBrains Mono"/>
              </a:rPr>
              <a:t>(amount - (</a:t>
            </a:r>
            <a:r>
              <a:rPr lang="en-US" sz="1200" dirty="0">
                <a:solidFill>
                  <a:srgbClr val="000088"/>
                </a:solidFill>
                <a:latin typeface="JetBrains Mono"/>
              </a:rPr>
              <a:t>SELECT</a:t>
            </a:r>
            <a:r>
              <a:rPr lang="en-US" sz="1200" dirty="0">
                <a:solidFill>
                  <a:srgbClr val="000000"/>
                </a:solidFill>
                <a:latin typeface="JetBrains Mono"/>
              </a:rPr>
              <a:t> </a:t>
            </a:r>
            <a:r>
              <a:rPr lang="en-US" sz="1200" dirty="0">
                <a:solidFill>
                  <a:srgbClr val="660066"/>
                </a:solidFill>
                <a:latin typeface="JetBrains Mono"/>
              </a:rPr>
              <a:t>AVG</a:t>
            </a:r>
            <a:r>
              <a:rPr lang="en-US" sz="1200" dirty="0">
                <a:solidFill>
                  <a:srgbClr val="000000"/>
                </a:solidFill>
                <a:latin typeface="JetBrains Mono"/>
              </a:rPr>
              <a:t>(amount) </a:t>
            </a:r>
            <a:r>
              <a:rPr lang="en-US" sz="1200" dirty="0">
                <a:solidFill>
                  <a:srgbClr val="000088"/>
                </a:solidFill>
                <a:latin typeface="JetBrains Mono"/>
              </a:rPr>
              <a:t>FROM</a:t>
            </a:r>
            <a:r>
              <a:rPr lang="en-US" sz="1200" dirty="0">
                <a:solidFill>
                  <a:srgbClr val="000000"/>
                </a:solidFill>
                <a:latin typeface="JetBrains Mono"/>
              </a:rPr>
              <a:t> book)) &gt;</a:t>
            </a:r>
            <a:r>
              <a:rPr lang="en-US" sz="1200" dirty="0">
                <a:solidFill>
                  <a:srgbClr val="006666"/>
                </a:solidFill>
                <a:latin typeface="JetBrains Mono"/>
              </a:rPr>
              <a:t>3</a:t>
            </a:r>
            <a:r>
              <a:rPr lang="en-US" sz="1200" dirty="0">
                <a:solidFill>
                  <a:srgbClr val="000000"/>
                </a:solidFill>
                <a:latin typeface="JetBrains Mono"/>
              </a:rPr>
              <a:t>;</a:t>
            </a:r>
            <a:endParaRPr lang="en-US" sz="1200" dirty="0"/>
          </a:p>
        </p:txBody>
      </p:sp>
      <p:sp>
        <p:nvSpPr>
          <p:cNvPr id="4" name="AutoShape 2" descr="https://ucarecdn.com/708aa6d7-f879-41b4-8030-103e4b43754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3219822"/>
            <a:ext cx="6162675" cy="1228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57005556"/>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561</TotalTime>
  <Words>2312</Words>
  <Application>Microsoft Office PowerPoint</Application>
  <PresentationFormat>Экран (16:9)</PresentationFormat>
  <Paragraphs>410</Paragraphs>
  <Slides>32</Slides>
  <Notes>1</Notes>
  <HiddenSlides>0</HiddenSlides>
  <MMClips>0</MMClips>
  <ScaleCrop>false</ScaleCrop>
  <HeadingPairs>
    <vt:vector size="4" baseType="variant">
      <vt:variant>
        <vt:lpstr>Тема</vt:lpstr>
      </vt:variant>
      <vt:variant>
        <vt:i4>1</vt:i4>
      </vt:variant>
      <vt:variant>
        <vt:lpstr>Заголовки слайдов</vt:lpstr>
      </vt:variant>
      <vt:variant>
        <vt:i4>32</vt:i4>
      </vt:variant>
    </vt:vector>
  </HeadingPairs>
  <TitlesOfParts>
    <vt:vector size="33" baseType="lpstr">
      <vt:lpstr>Тема Office</vt:lpstr>
      <vt:lpstr>Презентация PowerPoint</vt:lpstr>
      <vt:lpstr>Selecting all data from a table</vt:lpstr>
      <vt:lpstr>Selecting Specific Columns</vt:lpstr>
      <vt:lpstr>Assigning New Names to Columns in a Query Result</vt:lpstr>
      <vt:lpstr>Selecting Data with a Calculated Column</vt:lpstr>
      <vt:lpstr>Selecting Data, Calculated Columns, Mathematical Functions</vt:lpstr>
      <vt:lpstr>Selecting Data, Calculated Columns, Logical Functions</vt:lpstr>
      <vt:lpstr>Selecting Data, Logical Operations</vt:lpstr>
      <vt:lpstr>Selecting Data, BETWEEN and IN Operators</vt:lpstr>
      <vt:lpstr>Selecting Data, the LIKE Operator</vt:lpstr>
      <vt:lpstr>Selecting Data, the LIKE Operator</vt:lpstr>
      <vt:lpstr>Selecting unique column elements</vt:lpstr>
      <vt:lpstr>Data Retrieval, Aggregate Functions SUM and COUNT</vt:lpstr>
      <vt:lpstr>Data Retrieval, Aggregate Functions SUM and COUNT</vt:lpstr>
      <vt:lpstr>Data Retrieval, Aggregate Functions SUM and COUNT</vt:lpstr>
      <vt:lpstr>Data Retrieval, Aggregate Functions MIN, MAX and AVG</vt:lpstr>
      <vt:lpstr>Data Retrieval with Calculation, Aggregate Functions</vt:lpstr>
      <vt:lpstr>Calculations on the Entire Table</vt:lpstr>
      <vt:lpstr>Data Retrieval with Conditions, Aggregate Functions</vt:lpstr>
      <vt:lpstr>Data Retrieval with Conditions, Aggregate Functions</vt:lpstr>
      <vt:lpstr>Data Retrieval with Conditions, Aggregate Functions, WHERE and HAVING</vt:lpstr>
      <vt:lpstr>Nested Queries</vt:lpstr>
      <vt:lpstr>Subquery Returning a Single Value</vt:lpstr>
      <vt:lpstr>Using a Subquery in an Expression</vt:lpstr>
      <vt:lpstr>Subquery with the IN Operator</vt:lpstr>
      <vt:lpstr>Subquery with the IN Operator</vt:lpstr>
      <vt:lpstr>A subquery that returns a single value</vt:lpstr>
      <vt:lpstr>Using a subquery in an expression</vt:lpstr>
      <vt:lpstr>Subquery, IN operator</vt:lpstr>
      <vt:lpstr>Subqueries, ANY and ALL operators</vt:lpstr>
      <vt:lpstr>Subquery in the SELECT clause</vt:lpstr>
      <vt:lpstr>Subquery in the SELECT clause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tvi-v</dc:creator>
  <cp:lastModifiedBy>tvi-vlad@mail.ru</cp:lastModifiedBy>
  <cp:revision>37</cp:revision>
  <dcterms:created xsi:type="dcterms:W3CDTF">2025-10-08T04:29:54Z</dcterms:created>
  <dcterms:modified xsi:type="dcterms:W3CDTF">2025-10-22T05:25:24Z</dcterms:modified>
</cp:coreProperties>
</file>